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70" r:id="rId5"/>
    <p:sldId id="272" r:id="rId6"/>
    <p:sldId id="273" r:id="rId7"/>
    <p:sldId id="275" r:id="rId8"/>
    <p:sldId id="276" r:id="rId9"/>
    <p:sldId id="278" r:id="rId10"/>
    <p:sldId id="279" r:id="rId11"/>
    <p:sldId id="280" r:id="rId12"/>
    <p:sldId id="283" r:id="rId13"/>
    <p:sldId id="277" r:id="rId14"/>
    <p:sldId id="296" r:id="rId15"/>
    <p:sldId id="297" r:id="rId16"/>
    <p:sldId id="299" r:id="rId17"/>
    <p:sldId id="300" r:id="rId18"/>
    <p:sldId id="301" r:id="rId19"/>
    <p:sldId id="302" r:id="rId20"/>
    <p:sldId id="303" r:id="rId21"/>
    <p:sldId id="284" r:id="rId22"/>
    <p:sldId id="285" r:id="rId23"/>
    <p:sldId id="282" r:id="rId24"/>
    <p:sldId id="286" r:id="rId25"/>
    <p:sldId id="287" r:id="rId26"/>
    <p:sldId id="293" r:id="rId27"/>
    <p:sldId id="294" r:id="rId28"/>
    <p:sldId id="288" r:id="rId29"/>
    <p:sldId id="290" r:id="rId30"/>
    <p:sldId id="291" r:id="rId31"/>
    <p:sldId id="305" r:id="rId32"/>
    <p:sldId id="308" r:id="rId33"/>
    <p:sldId id="307" r:id="rId34"/>
    <p:sldId id="265" r:id="rId35"/>
    <p:sldId id="304" r:id="rId36"/>
    <p:sldId id="295" r:id="rId37"/>
  </p:sldIdLst>
  <p:sldSz cx="18288000" cy="10287000"/>
  <p:notesSz cx="6858000" cy="9144000"/>
  <p:embeddedFontLst>
    <p:embeddedFont>
      <p:font typeface="Archivo Black" panose="02010600030101010101" charset="0"/>
      <p:regular r:id="rId38"/>
    </p:embeddedFont>
    <p:embeddedFont>
      <p:font typeface="DM Serif Text" pitchFamily="2" charset="0"/>
      <p:regular r:id="rId39"/>
      <p:italic r:id="rId40"/>
    </p:embeddedFont>
    <p:embeddedFont>
      <p:font typeface="Garet" panose="02010600030101010101" charset="0"/>
      <p:regular r:id="rId41"/>
    </p:embeddedFont>
    <p:embeddedFont>
      <p:font typeface="Garet Bold" panose="02010600030101010101" charset="0"/>
      <p:regular r:id="rId42"/>
    </p:embeddedFont>
    <p:embeddedFont>
      <p:font typeface="等线" panose="02010600030101010101" pitchFamily="2" charset="-122"/>
      <p:regular r:id="rId43"/>
      <p:bold r:id="rId44"/>
    </p:embeddedFont>
    <p:embeddedFont>
      <p:font typeface="微软雅黑" panose="020B0503020204020204" pitchFamily="34" charset="-122"/>
      <p:regular r:id="rId45"/>
      <p:bold r:id="rId4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57" autoAdjust="0"/>
    <p:restoredTop sz="94622" autoAdjust="0"/>
  </p:normalViewPr>
  <p:slideViewPr>
    <p:cSldViewPr>
      <p:cViewPr varScale="1">
        <p:scale>
          <a:sx n="62" d="100"/>
          <a:sy n="62" d="100"/>
        </p:scale>
        <p:origin x="941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2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5.fntdata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3.fntdata"/><Relationship Id="rId45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6.fntdata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1.fntdata"/><Relationship Id="rId46" Type="http://schemas.openxmlformats.org/officeDocument/2006/relationships/font" Target="fonts/font9.fntdata"/><Relationship Id="rId20" Type="http://schemas.openxmlformats.org/officeDocument/2006/relationships/slide" Target="slides/slide19.xml"/><Relationship Id="rId41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gif"/><Relationship Id="rId3" Type="http://schemas.openxmlformats.org/officeDocument/2006/relationships/image" Target="../media/image12.png"/><Relationship Id="rId7" Type="http://schemas.openxmlformats.org/officeDocument/2006/relationships/image" Target="../media/image3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14.jpeg"/><Relationship Id="rId10" Type="http://schemas.openxmlformats.org/officeDocument/2006/relationships/image" Target="../media/image17.svg"/><Relationship Id="rId4" Type="http://schemas.openxmlformats.org/officeDocument/2006/relationships/image" Target="../media/image13.svg"/><Relationship Id="rId9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3" Type="http://schemas.openxmlformats.org/officeDocument/2006/relationships/image" Target="../media/image12.png"/><Relationship Id="rId7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1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2.png"/><Relationship Id="rId7" Type="http://schemas.openxmlformats.org/officeDocument/2006/relationships/image" Target="../media/image9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17.svg"/><Relationship Id="rId5" Type="http://schemas.openxmlformats.org/officeDocument/2006/relationships/image" Target="../media/image19.png"/><Relationship Id="rId10" Type="http://schemas.openxmlformats.org/officeDocument/2006/relationships/image" Target="../media/image16.png"/><Relationship Id="rId4" Type="http://schemas.openxmlformats.org/officeDocument/2006/relationships/image" Target="../media/image13.svg"/><Relationship Id="rId9" Type="http://schemas.openxmlformats.org/officeDocument/2006/relationships/image" Target="../media/image3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2.png"/><Relationship Id="rId7" Type="http://schemas.openxmlformats.org/officeDocument/2006/relationships/image" Target="../media/image9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17.svg"/><Relationship Id="rId5" Type="http://schemas.openxmlformats.org/officeDocument/2006/relationships/image" Target="../media/image20.png"/><Relationship Id="rId10" Type="http://schemas.openxmlformats.org/officeDocument/2006/relationships/image" Target="../media/image16.png"/><Relationship Id="rId4" Type="http://schemas.openxmlformats.org/officeDocument/2006/relationships/image" Target="../media/image13.svg"/><Relationship Id="rId9" Type="http://schemas.openxmlformats.org/officeDocument/2006/relationships/image" Target="../media/image3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2.png"/><Relationship Id="rId7" Type="http://schemas.openxmlformats.org/officeDocument/2006/relationships/image" Target="../media/image9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17.svg"/><Relationship Id="rId5" Type="http://schemas.openxmlformats.org/officeDocument/2006/relationships/image" Target="../media/image21.png"/><Relationship Id="rId10" Type="http://schemas.openxmlformats.org/officeDocument/2006/relationships/image" Target="../media/image16.png"/><Relationship Id="rId4" Type="http://schemas.openxmlformats.org/officeDocument/2006/relationships/image" Target="../media/image13.svg"/><Relationship Id="rId9" Type="http://schemas.openxmlformats.org/officeDocument/2006/relationships/image" Target="../media/image3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2.png"/><Relationship Id="rId7" Type="http://schemas.openxmlformats.org/officeDocument/2006/relationships/image" Target="../media/image9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22.png"/><Relationship Id="rId4" Type="http://schemas.openxmlformats.org/officeDocument/2006/relationships/image" Target="../media/image13.svg"/><Relationship Id="rId9" Type="http://schemas.openxmlformats.org/officeDocument/2006/relationships/image" Target="../media/image17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2.png"/><Relationship Id="rId7" Type="http://schemas.openxmlformats.org/officeDocument/2006/relationships/image" Target="../media/image2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3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12.png"/><Relationship Id="rId7" Type="http://schemas.openxmlformats.org/officeDocument/2006/relationships/image" Target="../media/image2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13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13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13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13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3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13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sv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2.png"/><Relationship Id="rId7" Type="http://schemas.openxmlformats.org/officeDocument/2006/relationships/image" Target="../media/image3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10" Type="http://schemas.openxmlformats.org/officeDocument/2006/relationships/image" Target="../media/image38.png"/><Relationship Id="rId4" Type="http://schemas.openxmlformats.org/officeDocument/2006/relationships/image" Target="../media/image13.svg"/><Relationship Id="rId9" Type="http://schemas.openxmlformats.org/officeDocument/2006/relationships/image" Target="../media/image3.sv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3" Type="http://schemas.openxmlformats.org/officeDocument/2006/relationships/image" Target="../media/image12.png"/><Relationship Id="rId7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3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3.sv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3" Type="http://schemas.openxmlformats.org/officeDocument/2006/relationships/image" Target="../media/image12.png"/><Relationship Id="rId7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3.sv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12.png"/><Relationship Id="rId7" Type="http://schemas.openxmlformats.org/officeDocument/2006/relationships/image" Target="../media/image3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10" Type="http://schemas.openxmlformats.org/officeDocument/2006/relationships/image" Target="../media/image3.svg"/><Relationship Id="rId4" Type="http://schemas.openxmlformats.org/officeDocument/2006/relationships/image" Target="../media/image13.svg"/><Relationship Id="rId9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3" Type="http://schemas.openxmlformats.org/officeDocument/2006/relationships/image" Target="../media/image12.png"/><Relationship Id="rId7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10" Type="http://schemas.openxmlformats.org/officeDocument/2006/relationships/image" Target="../media/image42.png"/><Relationship Id="rId4" Type="http://schemas.openxmlformats.org/officeDocument/2006/relationships/image" Target="../media/image13.svg"/><Relationship Id="rId9" Type="http://schemas.openxmlformats.org/officeDocument/2006/relationships/image" Target="../media/image41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3" Type="http://schemas.openxmlformats.org/officeDocument/2006/relationships/image" Target="../media/image12.png"/><Relationship Id="rId7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10" Type="http://schemas.openxmlformats.org/officeDocument/2006/relationships/image" Target="../media/image44.png"/><Relationship Id="rId4" Type="http://schemas.openxmlformats.org/officeDocument/2006/relationships/image" Target="../media/image13.svg"/><Relationship Id="rId9" Type="http://schemas.openxmlformats.org/officeDocument/2006/relationships/image" Target="../media/image43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12.png"/><Relationship Id="rId7" Type="http://schemas.openxmlformats.org/officeDocument/2006/relationships/image" Target="../media/image4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3.sv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12.png"/><Relationship Id="rId7" Type="http://schemas.openxmlformats.org/officeDocument/2006/relationships/image" Target="../media/image4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3.sv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3.sv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3" Type="http://schemas.openxmlformats.org/officeDocument/2006/relationships/image" Target="../media/image12.png"/><Relationship Id="rId7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3.sv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13" Type="http://schemas.openxmlformats.org/officeDocument/2006/relationships/image" Target="../media/image52.png"/><Relationship Id="rId3" Type="http://schemas.openxmlformats.org/officeDocument/2006/relationships/image" Target="../media/image12.png"/><Relationship Id="rId7" Type="http://schemas.openxmlformats.org/officeDocument/2006/relationships/image" Target="../media/image2.png"/><Relationship Id="rId12" Type="http://schemas.openxmlformats.org/officeDocument/2006/relationships/image" Target="../media/image51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svg"/><Relationship Id="rId11" Type="http://schemas.openxmlformats.org/officeDocument/2006/relationships/image" Target="../media/image34.png"/><Relationship Id="rId5" Type="http://schemas.openxmlformats.org/officeDocument/2006/relationships/image" Target="../media/image16.png"/><Relationship Id="rId10" Type="http://schemas.openxmlformats.org/officeDocument/2006/relationships/image" Target="../media/image50.png"/><Relationship Id="rId4" Type="http://schemas.openxmlformats.org/officeDocument/2006/relationships/image" Target="../media/image13.svg"/><Relationship Id="rId9" Type="http://schemas.openxmlformats.org/officeDocument/2006/relationships/image" Target="../media/image49.png"/><Relationship Id="rId14" Type="http://schemas.openxmlformats.org/officeDocument/2006/relationships/image" Target="../media/image53.jpe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3" Type="http://schemas.openxmlformats.org/officeDocument/2006/relationships/image" Target="../media/image12.png"/><Relationship Id="rId7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10" Type="http://schemas.openxmlformats.org/officeDocument/2006/relationships/image" Target="../media/image55.jpeg"/><Relationship Id="rId4" Type="http://schemas.openxmlformats.org/officeDocument/2006/relationships/image" Target="../media/image13.svg"/><Relationship Id="rId9" Type="http://schemas.openxmlformats.org/officeDocument/2006/relationships/image" Target="../media/image5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mailto:ruiyang.wu22@student.xjtlu.edu.cn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hyperlink" Target="mailto:Junhao.huang22@student.xjtlu.edu.cn" TargetMode="Externa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sv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3" name="Freeform 3"/>
          <p:cNvSpPr/>
          <p:nvPr/>
        </p:nvSpPr>
        <p:spPr>
          <a:xfrm>
            <a:off x="15379298" y="8311463"/>
            <a:ext cx="1880002" cy="946837"/>
          </a:xfrm>
          <a:custGeom>
            <a:avLst/>
            <a:gdLst/>
            <a:ahLst/>
            <a:cxnLst/>
            <a:rect l="l" t="t" r="r" b="b"/>
            <a:pathLst>
              <a:path w="1880002" h="946837">
                <a:moveTo>
                  <a:pt x="0" y="0"/>
                </a:moveTo>
                <a:lnTo>
                  <a:pt x="1880002" y="0"/>
                </a:lnTo>
                <a:lnTo>
                  <a:pt x="1880002" y="946837"/>
                </a:lnTo>
                <a:lnTo>
                  <a:pt x="0" y="9468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4" name="Freeform 4"/>
          <p:cNvSpPr/>
          <p:nvPr/>
        </p:nvSpPr>
        <p:spPr>
          <a:xfrm>
            <a:off x="16860583" y="636829"/>
            <a:ext cx="797433" cy="707541"/>
          </a:xfrm>
          <a:custGeom>
            <a:avLst/>
            <a:gdLst/>
            <a:ahLst/>
            <a:cxnLst/>
            <a:rect l="l" t="t" r="r" b="b"/>
            <a:pathLst>
              <a:path w="797433" h="707541">
                <a:moveTo>
                  <a:pt x="0" y="0"/>
                </a:moveTo>
                <a:lnTo>
                  <a:pt x="797433" y="0"/>
                </a:lnTo>
                <a:lnTo>
                  <a:pt x="797433" y="707541"/>
                </a:lnTo>
                <a:lnTo>
                  <a:pt x="0" y="70754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TextBox 5"/>
          <p:cNvSpPr txBox="1"/>
          <p:nvPr/>
        </p:nvSpPr>
        <p:spPr>
          <a:xfrm>
            <a:off x="903060" y="5524500"/>
            <a:ext cx="9373830" cy="3951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2748"/>
              </a:lnSpc>
              <a:spcBef>
                <a:spcPct val="0"/>
              </a:spcBef>
            </a:pPr>
            <a:r>
              <a:rPr lang="en-US" sz="3800" spc="-150" dirty="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Coursework 3 - Group Project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03060" y="6644950"/>
            <a:ext cx="5269140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spcBef>
                <a:spcPct val="0"/>
              </a:spcBef>
            </a:pPr>
            <a:r>
              <a:rPr lang="en-US" sz="2600" b="1" dirty="0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PRESENTED BY: </a:t>
            </a:r>
            <a:r>
              <a:rPr lang="en-US" altLang="zh-CN" sz="2600" b="1" dirty="0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Group 79</a:t>
            </a:r>
            <a:endParaRPr lang="en-US" sz="2600" b="1" dirty="0">
              <a:solidFill>
                <a:srgbClr val="2B2B2B"/>
              </a:solidFill>
              <a:latin typeface="Garet Bold"/>
              <a:ea typeface="Garet Bold"/>
              <a:cs typeface="Garet Bold"/>
              <a:sym typeface="Garet Bold"/>
            </a:endParaRPr>
          </a:p>
          <a:p>
            <a:pPr marL="0" lvl="0" indent="0" algn="l">
              <a:spcBef>
                <a:spcPct val="0"/>
              </a:spcBef>
            </a:pPr>
            <a:r>
              <a:rPr lang="en-US" sz="2200" dirty="0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Junhao Huang: 		2256792</a:t>
            </a:r>
          </a:p>
          <a:p>
            <a:pPr>
              <a:spcBef>
                <a:spcPct val="0"/>
              </a:spcBef>
            </a:pPr>
            <a:r>
              <a:rPr lang="en-US" sz="2200" dirty="0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Ruiyang WU:	</a:t>
            </a:r>
            <a:r>
              <a:rPr lang="en-US" sz="2200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	2257475</a:t>
            </a:r>
            <a:endParaRPr lang="en-US" altLang="zh-CN" sz="2200" dirty="0"/>
          </a:p>
        </p:txBody>
      </p:sp>
      <p:sp>
        <p:nvSpPr>
          <p:cNvPr id="12" name="TextBox 12"/>
          <p:cNvSpPr txBox="1"/>
          <p:nvPr/>
        </p:nvSpPr>
        <p:spPr>
          <a:xfrm>
            <a:off x="12971812" y="836518"/>
            <a:ext cx="3733800" cy="3081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000" b="1" dirty="0">
                <a:solidFill>
                  <a:srgbClr val="545454"/>
                </a:solidFill>
                <a:latin typeface="+mj-lt"/>
                <a:ea typeface="Garet Light"/>
                <a:cs typeface="Garet Light"/>
                <a:sym typeface="Garet Light"/>
              </a:rPr>
              <a:t>Xi’an </a:t>
            </a:r>
            <a:r>
              <a:rPr lang="en-US" sz="2000" b="1" dirty="0" err="1">
                <a:solidFill>
                  <a:srgbClr val="545454"/>
                </a:solidFill>
                <a:latin typeface="+mj-lt"/>
                <a:ea typeface="Garet Light"/>
                <a:cs typeface="Garet Light"/>
                <a:sym typeface="Garet Light"/>
              </a:rPr>
              <a:t>Jiaotong</a:t>
            </a:r>
            <a:r>
              <a:rPr lang="en-US" sz="2000" b="1" dirty="0">
                <a:solidFill>
                  <a:srgbClr val="545454"/>
                </a:solidFill>
                <a:latin typeface="+mj-lt"/>
                <a:ea typeface="Garet Light"/>
                <a:cs typeface="Garet Light"/>
                <a:sym typeface="Garet Light"/>
              </a:rPr>
              <a:t> Liverpool University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03060" y="2893672"/>
            <a:ext cx="13270140" cy="21927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8490"/>
              </a:lnSpc>
              <a:spcBef>
                <a:spcPct val="0"/>
              </a:spcBef>
            </a:pPr>
            <a:r>
              <a:rPr lang="en-US" altLang="zh-CN" sz="8000" u="none" spc="-150" dirty="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CPT204 – Advanced OOP Programming</a:t>
            </a:r>
            <a:endParaRPr lang="en-US" sz="8000" u="none" spc="-150" dirty="0">
              <a:solidFill>
                <a:srgbClr val="000000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E3F0B29-D741-19E4-93D1-91D5C7D50D28}"/>
              </a:ext>
            </a:extLst>
          </p:cNvPr>
          <p:cNvSpPr txBox="1"/>
          <p:nvPr/>
        </p:nvSpPr>
        <p:spPr>
          <a:xfrm>
            <a:off x="13017098" y="8779282"/>
            <a:ext cx="236220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500" b="1" dirty="0"/>
              <a:t>May 18</a:t>
            </a:r>
            <a:r>
              <a:rPr lang="en-US" altLang="zh-CN" sz="2500" b="1" baseline="30000" dirty="0"/>
              <a:t>th</a:t>
            </a:r>
            <a:r>
              <a:rPr lang="en-US" altLang="zh-CN" sz="2500" b="1" dirty="0"/>
              <a:t>, 2025</a:t>
            </a:r>
            <a:endParaRPr lang="zh-CN" altLang="en-US" sz="25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Freeform 4"/>
          <p:cNvSpPr/>
          <p:nvPr/>
        </p:nvSpPr>
        <p:spPr>
          <a:xfrm>
            <a:off x="-706637" y="1559650"/>
            <a:ext cx="9125543" cy="7167700"/>
          </a:xfrm>
          <a:custGeom>
            <a:avLst/>
            <a:gdLst/>
            <a:ahLst/>
            <a:cxnLst/>
            <a:rect l="l" t="t" r="r" b="b"/>
            <a:pathLst>
              <a:path w="9125543" h="7167700">
                <a:moveTo>
                  <a:pt x="0" y="0"/>
                </a:moveTo>
                <a:lnTo>
                  <a:pt x="9125544" y="0"/>
                </a:lnTo>
                <a:lnTo>
                  <a:pt x="9125544" y="7167700"/>
                </a:lnTo>
                <a:lnTo>
                  <a:pt x="0" y="71677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5" name="Freeform 5"/>
          <p:cNvSpPr/>
          <p:nvPr/>
        </p:nvSpPr>
        <p:spPr>
          <a:xfrm>
            <a:off x="14799313" y="0"/>
            <a:ext cx="3488687" cy="1198840"/>
          </a:xfrm>
          <a:custGeom>
            <a:avLst/>
            <a:gdLst/>
            <a:ahLst/>
            <a:cxnLst/>
            <a:rect l="l" t="t" r="r" b="b"/>
            <a:pathLst>
              <a:path w="3488687" h="1198840">
                <a:moveTo>
                  <a:pt x="0" y="0"/>
                </a:moveTo>
                <a:lnTo>
                  <a:pt x="3488687" y="0"/>
                </a:lnTo>
                <a:lnTo>
                  <a:pt x="3488687" y="1198840"/>
                </a:lnTo>
                <a:lnTo>
                  <a:pt x="0" y="11988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6" name="TextBox 6"/>
          <p:cNvSpPr txBox="1"/>
          <p:nvPr/>
        </p:nvSpPr>
        <p:spPr>
          <a:xfrm>
            <a:off x="1604641" y="2439692"/>
            <a:ext cx="6531462" cy="7857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5808"/>
              </a:lnSpc>
              <a:spcBef>
                <a:spcPct val="0"/>
              </a:spcBef>
            </a:pPr>
            <a:r>
              <a:rPr lang="en-US" sz="5808" spc="-458" dirty="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Overview</a:t>
            </a:r>
          </a:p>
        </p:txBody>
      </p:sp>
      <p:cxnSp>
        <p:nvCxnSpPr>
          <p:cNvPr id="7" name="Google Shape;395;p39">
            <a:extLst>
              <a:ext uri="{FF2B5EF4-FFF2-40B4-BE49-F238E27FC236}">
                <a16:creationId xmlns:a16="http://schemas.microsoft.com/office/drawing/2014/main" id="{37944713-C0D0-88C6-2CE7-BDCE68188995}"/>
              </a:ext>
            </a:extLst>
          </p:cNvPr>
          <p:cNvCxnSpPr>
            <a:cxnSpLocks/>
          </p:cNvCxnSpPr>
          <p:nvPr/>
        </p:nvCxnSpPr>
        <p:spPr>
          <a:xfrm>
            <a:off x="9519427" y="1578111"/>
            <a:ext cx="8158973" cy="0"/>
          </a:xfrm>
          <a:prstGeom prst="straightConnector1">
            <a:avLst/>
          </a:pr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Google Shape;389;p39">
            <a:extLst>
              <a:ext uri="{FF2B5EF4-FFF2-40B4-BE49-F238E27FC236}">
                <a16:creationId xmlns:a16="http://schemas.microsoft.com/office/drawing/2014/main" id="{A7E63298-BA77-B0A6-76C5-86F86B65AAA2}"/>
              </a:ext>
            </a:extLst>
          </p:cNvPr>
          <p:cNvSpPr txBox="1">
            <a:spLocks/>
          </p:cNvSpPr>
          <p:nvPr/>
        </p:nvSpPr>
        <p:spPr>
          <a:xfrm>
            <a:off x="9519427" y="1992092"/>
            <a:ext cx="1684872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Bef>
                <a:spcPts val="0"/>
              </a:spcBef>
            </a:pPr>
            <a:r>
              <a:rPr lang="en-GB" sz="4200" dirty="0">
                <a:solidFill>
                  <a:schemeClr val="accent4">
                    <a:lumMod val="75000"/>
                  </a:schemeClr>
                </a:solidFill>
                <a:latin typeface="DM Serif Text" pitchFamily="2" charset="0"/>
              </a:rPr>
              <a:t>Part I</a:t>
            </a:r>
          </a:p>
        </p:txBody>
      </p:sp>
      <p:sp>
        <p:nvSpPr>
          <p:cNvPr id="9" name="Google Shape;392;p39">
            <a:extLst>
              <a:ext uri="{FF2B5EF4-FFF2-40B4-BE49-F238E27FC236}">
                <a16:creationId xmlns:a16="http://schemas.microsoft.com/office/drawing/2014/main" id="{8EFA6FC9-3B7A-7DEF-DE2A-DB6A19DF707E}"/>
              </a:ext>
            </a:extLst>
          </p:cNvPr>
          <p:cNvSpPr txBox="1">
            <a:spLocks/>
          </p:cNvSpPr>
          <p:nvPr/>
        </p:nvSpPr>
        <p:spPr>
          <a:xfrm>
            <a:off x="9519427" y="2439692"/>
            <a:ext cx="2672574" cy="109088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Font typeface="Arial" pitchFamily="34" charset="0"/>
              <a:buNone/>
            </a:pPr>
            <a:r>
              <a:rPr lang="en-GB" sz="3000" dirty="0">
                <a:latin typeface="DM Serif Text" pitchFamily="2" charset="0"/>
              </a:rPr>
              <a:t>Introduction</a:t>
            </a:r>
          </a:p>
          <a:p>
            <a:pPr marL="0" indent="0">
              <a:spcBef>
                <a:spcPts val="0"/>
              </a:spcBef>
              <a:buFont typeface="Arial" pitchFamily="34" charset="0"/>
              <a:buNone/>
            </a:pPr>
            <a:r>
              <a:rPr lang="en-GB" sz="3000" dirty="0">
                <a:latin typeface="DM Serif Text" pitchFamily="2" charset="0"/>
              </a:rPr>
              <a:t>&amp; Background</a:t>
            </a:r>
          </a:p>
        </p:txBody>
      </p:sp>
      <p:sp>
        <p:nvSpPr>
          <p:cNvPr id="10" name="Google Shape;389;p39">
            <a:extLst>
              <a:ext uri="{FF2B5EF4-FFF2-40B4-BE49-F238E27FC236}">
                <a16:creationId xmlns:a16="http://schemas.microsoft.com/office/drawing/2014/main" id="{DF33CB85-4AD4-71CF-FC3A-25AB0EDBB0CE}"/>
              </a:ext>
            </a:extLst>
          </p:cNvPr>
          <p:cNvSpPr txBox="1">
            <a:spLocks/>
          </p:cNvSpPr>
          <p:nvPr/>
        </p:nvSpPr>
        <p:spPr>
          <a:xfrm>
            <a:off x="14323526" y="3068741"/>
            <a:ext cx="1684872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Bef>
                <a:spcPts val="0"/>
              </a:spcBef>
            </a:pPr>
            <a:r>
              <a:rPr lang="en-GB" sz="4200" dirty="0">
                <a:solidFill>
                  <a:schemeClr val="accent4">
                    <a:lumMod val="75000"/>
                  </a:schemeClr>
                </a:solidFill>
                <a:latin typeface="DM Serif Text" pitchFamily="2" charset="0"/>
              </a:rPr>
              <a:t>Part II</a:t>
            </a:r>
          </a:p>
        </p:txBody>
      </p:sp>
      <p:sp>
        <p:nvSpPr>
          <p:cNvPr id="11" name="Freeform 8">
            <a:extLst>
              <a:ext uri="{FF2B5EF4-FFF2-40B4-BE49-F238E27FC236}">
                <a16:creationId xmlns:a16="http://schemas.microsoft.com/office/drawing/2014/main" id="{BCCE5159-0F4C-F2BF-7242-E0A48261FCB9}"/>
              </a:ext>
            </a:extLst>
          </p:cNvPr>
          <p:cNvSpPr/>
          <p:nvPr/>
        </p:nvSpPr>
        <p:spPr>
          <a:xfrm rot="16200000">
            <a:off x="9844837" y="5204662"/>
            <a:ext cx="7543799" cy="1020674"/>
          </a:xfrm>
          <a:custGeom>
            <a:avLst/>
            <a:gdLst/>
            <a:ahLst/>
            <a:cxnLst/>
            <a:rect l="l" t="t" r="r" b="b"/>
            <a:pathLst>
              <a:path w="2611028" h="1020674">
                <a:moveTo>
                  <a:pt x="0" y="0"/>
                </a:moveTo>
                <a:lnTo>
                  <a:pt x="2611028" y="0"/>
                </a:lnTo>
                <a:lnTo>
                  <a:pt x="2611028" y="1020675"/>
                </a:lnTo>
                <a:lnTo>
                  <a:pt x="0" y="102067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CN" altLang="en-US" dirty="0"/>
          </a:p>
        </p:txBody>
      </p:sp>
      <p:sp>
        <p:nvSpPr>
          <p:cNvPr id="14" name="Google Shape;392;p39">
            <a:extLst>
              <a:ext uri="{FF2B5EF4-FFF2-40B4-BE49-F238E27FC236}">
                <a16:creationId xmlns:a16="http://schemas.microsoft.com/office/drawing/2014/main" id="{BAC72BEB-A38D-6D99-5F5C-970300E3BC51}"/>
              </a:ext>
            </a:extLst>
          </p:cNvPr>
          <p:cNvSpPr txBox="1">
            <a:spLocks/>
          </p:cNvSpPr>
          <p:nvPr/>
        </p:nvSpPr>
        <p:spPr>
          <a:xfrm>
            <a:off x="14323526" y="3493217"/>
            <a:ext cx="3659674" cy="157408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Font typeface="Arial" pitchFamily="34" charset="0"/>
              <a:buNone/>
            </a:pPr>
            <a:r>
              <a:rPr lang="en-GB" sz="3000" dirty="0">
                <a:latin typeface="DM Serif Text" pitchFamily="2" charset="0"/>
              </a:rPr>
              <a:t>Task A - </a:t>
            </a:r>
            <a:r>
              <a:rPr lang="en-US" sz="3000" dirty="0">
                <a:latin typeface="DM Serif Text" pitchFamily="2" charset="0"/>
              </a:rPr>
              <a:t>Program Design of US road trip planner</a:t>
            </a:r>
            <a:endParaRPr lang="en-GB" sz="3000" dirty="0">
              <a:latin typeface="DM Serif Text" pitchFamily="2" charset="0"/>
            </a:endParaRPr>
          </a:p>
        </p:txBody>
      </p:sp>
      <p:sp>
        <p:nvSpPr>
          <p:cNvPr id="18" name="Google Shape;389;p39">
            <a:extLst>
              <a:ext uri="{FF2B5EF4-FFF2-40B4-BE49-F238E27FC236}">
                <a16:creationId xmlns:a16="http://schemas.microsoft.com/office/drawing/2014/main" id="{589AF0E6-6F75-F473-8B82-FC9FDFE18E1D}"/>
              </a:ext>
            </a:extLst>
          </p:cNvPr>
          <p:cNvSpPr txBox="1">
            <a:spLocks/>
          </p:cNvSpPr>
          <p:nvPr/>
        </p:nvSpPr>
        <p:spPr>
          <a:xfrm>
            <a:off x="9519426" y="4543500"/>
            <a:ext cx="1986773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Bef>
                <a:spcPts val="0"/>
              </a:spcBef>
            </a:pPr>
            <a:r>
              <a:rPr lang="en-GB" sz="4200" dirty="0">
                <a:solidFill>
                  <a:schemeClr val="accent4">
                    <a:lumMod val="75000"/>
                  </a:schemeClr>
                </a:solidFill>
                <a:latin typeface="DM Serif Text" pitchFamily="2" charset="0"/>
              </a:rPr>
              <a:t>Part III</a:t>
            </a:r>
          </a:p>
        </p:txBody>
      </p:sp>
      <p:sp>
        <p:nvSpPr>
          <p:cNvPr id="19" name="Google Shape;392;p39">
            <a:extLst>
              <a:ext uri="{FF2B5EF4-FFF2-40B4-BE49-F238E27FC236}">
                <a16:creationId xmlns:a16="http://schemas.microsoft.com/office/drawing/2014/main" id="{07DC1619-FA6F-8BF0-FF60-2CF1F93119B5}"/>
              </a:ext>
            </a:extLst>
          </p:cNvPr>
          <p:cNvSpPr txBox="1">
            <a:spLocks/>
          </p:cNvSpPr>
          <p:nvPr/>
        </p:nvSpPr>
        <p:spPr>
          <a:xfrm>
            <a:off x="9519426" y="5043219"/>
            <a:ext cx="3510774" cy="109088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Font typeface="Arial" pitchFamily="34" charset="0"/>
              <a:buNone/>
            </a:pPr>
            <a:r>
              <a:rPr lang="en-GB" sz="3000" dirty="0">
                <a:latin typeface="DM Serif Text" pitchFamily="2" charset="0"/>
              </a:rPr>
              <a:t>Task B – </a:t>
            </a:r>
            <a:r>
              <a:rPr lang="en-US" sz="3000" dirty="0">
                <a:latin typeface="DM Serif Text" pitchFamily="2" charset="0"/>
              </a:rPr>
              <a:t>Path Finding Algorithms</a:t>
            </a:r>
            <a:endParaRPr lang="en-GB" sz="3000" dirty="0">
              <a:latin typeface="DM Serif Text" pitchFamily="2" charset="0"/>
            </a:endParaRPr>
          </a:p>
        </p:txBody>
      </p:sp>
      <p:sp>
        <p:nvSpPr>
          <p:cNvPr id="20" name="Google Shape;389;p39">
            <a:extLst>
              <a:ext uri="{FF2B5EF4-FFF2-40B4-BE49-F238E27FC236}">
                <a16:creationId xmlns:a16="http://schemas.microsoft.com/office/drawing/2014/main" id="{FDB7AB80-5EBA-C183-B5D6-C08E9A16DDA4}"/>
              </a:ext>
            </a:extLst>
          </p:cNvPr>
          <p:cNvSpPr txBox="1">
            <a:spLocks/>
          </p:cNvSpPr>
          <p:nvPr/>
        </p:nvSpPr>
        <p:spPr>
          <a:xfrm>
            <a:off x="14321916" y="5905500"/>
            <a:ext cx="1986773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Bef>
                <a:spcPts val="0"/>
              </a:spcBef>
            </a:pPr>
            <a:r>
              <a:rPr lang="en-GB" sz="4200" dirty="0">
                <a:solidFill>
                  <a:schemeClr val="accent4">
                    <a:lumMod val="75000"/>
                  </a:schemeClr>
                </a:solidFill>
                <a:latin typeface="DM Serif Text" pitchFamily="2" charset="0"/>
              </a:rPr>
              <a:t>Part IV</a:t>
            </a:r>
          </a:p>
        </p:txBody>
      </p:sp>
      <p:sp>
        <p:nvSpPr>
          <p:cNvPr id="21" name="Google Shape;392;p39">
            <a:extLst>
              <a:ext uri="{FF2B5EF4-FFF2-40B4-BE49-F238E27FC236}">
                <a16:creationId xmlns:a16="http://schemas.microsoft.com/office/drawing/2014/main" id="{3BEFBAF9-BF3A-3E02-76A9-11578865B1E5}"/>
              </a:ext>
            </a:extLst>
          </p:cNvPr>
          <p:cNvSpPr txBox="1">
            <a:spLocks/>
          </p:cNvSpPr>
          <p:nvPr/>
        </p:nvSpPr>
        <p:spPr>
          <a:xfrm>
            <a:off x="14321916" y="6379217"/>
            <a:ext cx="3964474" cy="157408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Font typeface="Arial" pitchFamily="34" charset="0"/>
              <a:buNone/>
            </a:pPr>
            <a:r>
              <a:rPr lang="en-GB" sz="3000" dirty="0">
                <a:latin typeface="DM Serif Text" pitchFamily="2" charset="0"/>
              </a:rPr>
              <a:t>Task C – </a:t>
            </a:r>
            <a:r>
              <a:rPr lang="en-US" sz="3000" dirty="0">
                <a:latin typeface="DM Serif Text" pitchFamily="2" charset="0"/>
              </a:rPr>
              <a:t>City Name Sorting Algorithms Test</a:t>
            </a:r>
            <a:endParaRPr lang="en-GB" sz="3000" dirty="0">
              <a:latin typeface="DM Serif Text" pitchFamily="2" charset="0"/>
            </a:endParaRPr>
          </a:p>
        </p:txBody>
      </p:sp>
      <p:sp>
        <p:nvSpPr>
          <p:cNvPr id="22" name="Google Shape;389;p39">
            <a:extLst>
              <a:ext uri="{FF2B5EF4-FFF2-40B4-BE49-F238E27FC236}">
                <a16:creationId xmlns:a16="http://schemas.microsoft.com/office/drawing/2014/main" id="{14BA5DC1-52CD-2A83-2F40-C429457B7D33}"/>
              </a:ext>
            </a:extLst>
          </p:cNvPr>
          <p:cNvSpPr txBox="1">
            <a:spLocks/>
          </p:cNvSpPr>
          <p:nvPr/>
        </p:nvSpPr>
        <p:spPr>
          <a:xfrm>
            <a:off x="9514890" y="7200900"/>
            <a:ext cx="1986773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Bef>
                <a:spcPts val="0"/>
              </a:spcBef>
            </a:pPr>
            <a:r>
              <a:rPr lang="en-GB" sz="4200" dirty="0">
                <a:solidFill>
                  <a:schemeClr val="accent4">
                    <a:lumMod val="75000"/>
                  </a:schemeClr>
                </a:solidFill>
                <a:latin typeface="DM Serif Text" pitchFamily="2" charset="0"/>
              </a:rPr>
              <a:t>Part V</a:t>
            </a:r>
          </a:p>
        </p:txBody>
      </p:sp>
      <p:sp>
        <p:nvSpPr>
          <p:cNvPr id="23" name="Google Shape;392;p39">
            <a:extLst>
              <a:ext uri="{FF2B5EF4-FFF2-40B4-BE49-F238E27FC236}">
                <a16:creationId xmlns:a16="http://schemas.microsoft.com/office/drawing/2014/main" id="{15CF8198-97B1-A9A8-0D1D-FAB9E67238A2}"/>
              </a:ext>
            </a:extLst>
          </p:cNvPr>
          <p:cNvSpPr txBox="1">
            <a:spLocks/>
          </p:cNvSpPr>
          <p:nvPr/>
        </p:nvSpPr>
        <p:spPr>
          <a:xfrm>
            <a:off x="9519426" y="7700619"/>
            <a:ext cx="3282174" cy="109088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Font typeface="Arial" pitchFamily="34" charset="0"/>
              <a:buNone/>
            </a:pPr>
            <a:r>
              <a:rPr lang="en-GB" sz="3000" dirty="0">
                <a:latin typeface="DM Serif Text" pitchFamily="2" charset="0"/>
              </a:rPr>
              <a:t>Task D –  Project Reflection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10" name="TextBox 10"/>
          <p:cNvSpPr txBox="1"/>
          <p:nvPr/>
        </p:nvSpPr>
        <p:spPr>
          <a:xfrm>
            <a:off x="1981200" y="876300"/>
            <a:ext cx="9372600" cy="7437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5808"/>
              </a:lnSpc>
              <a:spcBef>
                <a:spcPct val="0"/>
              </a:spcBef>
            </a:pPr>
            <a:r>
              <a:rPr lang="en-US" sz="5000" spc="-150" dirty="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Introduction &amp; Backgrounds</a:t>
            </a:r>
          </a:p>
        </p:txBody>
      </p:sp>
      <p:sp>
        <p:nvSpPr>
          <p:cNvPr id="29" name="TextBox 8"/>
          <p:cNvSpPr txBox="1"/>
          <p:nvPr/>
        </p:nvSpPr>
        <p:spPr>
          <a:xfrm>
            <a:off x="1180699" y="3194047"/>
            <a:ext cx="7658501" cy="23083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25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Implement algorithms that utilizes the path information from the initially provided </a:t>
            </a:r>
            <a:r>
              <a:rPr lang="en-US" sz="2500" b="1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CSV file</a:t>
            </a:r>
            <a:r>
              <a:rPr lang="en-US" sz="25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, along with user-selected </a:t>
            </a:r>
            <a:r>
              <a:rPr lang="en-US" sz="2500" b="1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starting city</a:t>
            </a:r>
            <a:r>
              <a:rPr lang="en-US" sz="25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, </a:t>
            </a:r>
            <a:r>
              <a:rPr lang="en-US" sz="2500" b="1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destination city</a:t>
            </a:r>
            <a:r>
              <a:rPr lang="en-US" sz="25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, and </a:t>
            </a:r>
            <a:r>
              <a:rPr lang="en-US" sz="2500" b="1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waypoints</a:t>
            </a:r>
            <a:r>
              <a:rPr lang="en-US" sz="25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, to ultimately calculate the </a:t>
            </a:r>
            <a:r>
              <a:rPr lang="en-US" sz="2500" b="1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best trip route </a:t>
            </a:r>
            <a:r>
              <a:rPr lang="en-US" sz="25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with the </a:t>
            </a:r>
            <a:r>
              <a:rPr lang="en-US" sz="2500" b="1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shortest path</a:t>
            </a:r>
            <a:r>
              <a:rPr lang="en-US" sz="25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.</a:t>
            </a:r>
          </a:p>
        </p:txBody>
      </p:sp>
      <p:sp>
        <p:nvSpPr>
          <p:cNvPr id="30" name="TextBox 9"/>
          <p:cNvSpPr txBox="1"/>
          <p:nvPr/>
        </p:nvSpPr>
        <p:spPr>
          <a:xfrm>
            <a:off x="1180698" y="2625524"/>
            <a:ext cx="6515501" cy="4078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sz="3600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Aim of the Task A &amp; Task B</a:t>
            </a:r>
          </a:p>
        </p:txBody>
      </p:sp>
      <p:sp>
        <p:nvSpPr>
          <p:cNvPr id="36" name="Freeform 5">
            <a:extLst>
              <a:ext uri="{FF2B5EF4-FFF2-40B4-BE49-F238E27FC236}">
                <a16:creationId xmlns:a16="http://schemas.microsoft.com/office/drawing/2014/main" id="{C80AE6BE-09BA-BA1A-B2B9-2838DB2A5373}"/>
              </a:ext>
            </a:extLst>
          </p:cNvPr>
          <p:cNvSpPr/>
          <p:nvPr/>
        </p:nvSpPr>
        <p:spPr>
          <a:xfrm>
            <a:off x="228600" y="495300"/>
            <a:ext cx="1524000" cy="1457826"/>
          </a:xfrm>
          <a:custGeom>
            <a:avLst/>
            <a:gdLst/>
            <a:ahLst/>
            <a:cxnLst/>
            <a:rect l="l" t="t" r="r" b="b"/>
            <a:pathLst>
              <a:path w="3493612" h="3493612">
                <a:moveTo>
                  <a:pt x="0" y="0"/>
                </a:moveTo>
                <a:lnTo>
                  <a:pt x="3493612" y="0"/>
                </a:lnTo>
                <a:lnTo>
                  <a:pt x="3493612" y="3493612"/>
                </a:lnTo>
                <a:lnTo>
                  <a:pt x="0" y="34936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pic>
        <p:nvPicPr>
          <p:cNvPr id="1030" name="Picture 6" descr="Cartoon Grunge Earth Map Icon Stock Vector - Illustration of city,  continents: 35871732">
            <a:extLst>
              <a:ext uri="{FF2B5EF4-FFF2-40B4-BE49-F238E27FC236}">
                <a16:creationId xmlns:a16="http://schemas.microsoft.com/office/drawing/2014/main" id="{96C3A6B9-9E0A-6810-9785-00F548E1E7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0400" y="2171700"/>
            <a:ext cx="3962400" cy="31352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" name="TextBox 9">
            <a:extLst>
              <a:ext uri="{FF2B5EF4-FFF2-40B4-BE49-F238E27FC236}">
                <a16:creationId xmlns:a16="http://schemas.microsoft.com/office/drawing/2014/main" id="{BF7C7630-CB83-3549-406C-F5DA68B722AC}"/>
              </a:ext>
            </a:extLst>
          </p:cNvPr>
          <p:cNvSpPr txBox="1"/>
          <p:nvPr/>
        </p:nvSpPr>
        <p:spPr>
          <a:xfrm>
            <a:off x="1180699" y="6275700"/>
            <a:ext cx="5372100" cy="4078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sz="3600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Aim of the Task C</a:t>
            </a:r>
          </a:p>
        </p:txBody>
      </p:sp>
      <p:sp>
        <p:nvSpPr>
          <p:cNvPr id="44" name="TextBox 8">
            <a:extLst>
              <a:ext uri="{FF2B5EF4-FFF2-40B4-BE49-F238E27FC236}">
                <a16:creationId xmlns:a16="http://schemas.microsoft.com/office/drawing/2014/main" id="{73A092DC-F0B2-3562-1A1E-4A638C343410}"/>
              </a:ext>
            </a:extLst>
          </p:cNvPr>
          <p:cNvSpPr txBox="1"/>
          <p:nvPr/>
        </p:nvSpPr>
        <p:spPr>
          <a:xfrm>
            <a:off x="1180698" y="6760339"/>
            <a:ext cx="7353701" cy="15388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25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To do an independent </a:t>
            </a:r>
            <a:r>
              <a:rPr lang="en-US" sz="2500" b="1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sorting algorithm performance evaluation </a:t>
            </a:r>
            <a:r>
              <a:rPr lang="en-US" sz="25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task that requires us to implement, test, and analyze three classic sorting algorithms</a:t>
            </a:r>
          </a:p>
        </p:txBody>
      </p:sp>
      <p:sp>
        <p:nvSpPr>
          <p:cNvPr id="45" name="Freeform 3">
            <a:extLst>
              <a:ext uri="{FF2B5EF4-FFF2-40B4-BE49-F238E27FC236}">
                <a16:creationId xmlns:a16="http://schemas.microsoft.com/office/drawing/2014/main" id="{64A637BA-3B72-DAD9-C2D9-439B20DCB67E}"/>
              </a:ext>
            </a:extLst>
          </p:cNvPr>
          <p:cNvSpPr/>
          <p:nvPr/>
        </p:nvSpPr>
        <p:spPr>
          <a:xfrm>
            <a:off x="15172736" y="8299222"/>
            <a:ext cx="2570276" cy="1270788"/>
          </a:xfrm>
          <a:custGeom>
            <a:avLst/>
            <a:gdLst/>
            <a:ahLst/>
            <a:cxnLst/>
            <a:rect l="l" t="t" r="r" b="b"/>
            <a:pathLst>
              <a:path w="3493612" h="1759510">
                <a:moveTo>
                  <a:pt x="0" y="0"/>
                </a:moveTo>
                <a:lnTo>
                  <a:pt x="3493612" y="0"/>
                </a:lnTo>
                <a:lnTo>
                  <a:pt x="3493612" y="1759510"/>
                </a:lnTo>
                <a:lnTo>
                  <a:pt x="0" y="175951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CN" altLang="en-US" dirty="0"/>
          </a:p>
        </p:txBody>
      </p:sp>
      <p:pic>
        <p:nvPicPr>
          <p:cNvPr id="1032" name="Picture 8" descr="🚀 Sorting Algorithms: Merge, Heap, and Radix With Code">
            <a:extLst>
              <a:ext uri="{FF2B5EF4-FFF2-40B4-BE49-F238E27FC236}">
                <a16:creationId xmlns:a16="http://schemas.microsoft.com/office/drawing/2014/main" id="{BC08BCFD-0190-B97A-4F37-5B91825D30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5432" y="6308028"/>
            <a:ext cx="4352336" cy="19911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6" name="Freeform 8">
            <a:extLst>
              <a:ext uri="{FF2B5EF4-FFF2-40B4-BE49-F238E27FC236}">
                <a16:creationId xmlns:a16="http://schemas.microsoft.com/office/drawing/2014/main" id="{B9EBAD4F-33F1-7FA8-CFA5-70422EB5EF5D}"/>
              </a:ext>
            </a:extLst>
          </p:cNvPr>
          <p:cNvSpPr/>
          <p:nvPr/>
        </p:nvSpPr>
        <p:spPr>
          <a:xfrm rot="10800000">
            <a:off x="15172736" y="0"/>
            <a:ext cx="2177829" cy="2843880"/>
          </a:xfrm>
          <a:custGeom>
            <a:avLst/>
            <a:gdLst/>
            <a:ahLst/>
            <a:cxnLst/>
            <a:rect l="l" t="t" r="r" b="b"/>
            <a:pathLst>
              <a:path w="2611028" h="4114800">
                <a:moveTo>
                  <a:pt x="0" y="0"/>
                </a:moveTo>
                <a:lnTo>
                  <a:pt x="2611028" y="0"/>
                </a:lnTo>
                <a:lnTo>
                  <a:pt x="26110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689B6-3D74-2089-4AE5-3883A5D3A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10B1235-3266-4A43-1447-AC2F78CD1FD9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  <p:txBody>
          <a:bodyPr/>
          <a:lstStyle/>
          <a:p>
            <a:endParaRPr lang="zh-CN" altLang="en-US" dirty="0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FE8AF9C-EF62-A669-FCCC-72EA7055BAE3}"/>
              </a:ext>
            </a:extLst>
          </p:cNvPr>
          <p:cNvSpPr txBox="1"/>
          <p:nvPr/>
        </p:nvSpPr>
        <p:spPr>
          <a:xfrm>
            <a:off x="1981200" y="876300"/>
            <a:ext cx="9372600" cy="7437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5808"/>
              </a:lnSpc>
              <a:spcBef>
                <a:spcPct val="0"/>
              </a:spcBef>
            </a:pPr>
            <a:r>
              <a:rPr lang="en-US" sz="5000" spc="-150" dirty="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Introduction</a:t>
            </a:r>
            <a:r>
              <a:rPr lang="en-US" sz="5000" spc="-458" dirty="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&amp; Backgrounds</a:t>
            </a:r>
          </a:p>
        </p:txBody>
      </p:sp>
      <p:sp>
        <p:nvSpPr>
          <p:cNvPr id="30" name="TextBox 9">
            <a:extLst>
              <a:ext uri="{FF2B5EF4-FFF2-40B4-BE49-F238E27FC236}">
                <a16:creationId xmlns:a16="http://schemas.microsoft.com/office/drawing/2014/main" id="{C926C689-CF6D-F8E9-A550-866D443D1168}"/>
              </a:ext>
            </a:extLst>
          </p:cNvPr>
          <p:cNvSpPr txBox="1"/>
          <p:nvPr/>
        </p:nvSpPr>
        <p:spPr>
          <a:xfrm>
            <a:off x="643467" y="5815898"/>
            <a:ext cx="4038600" cy="4078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sz="3600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Tasks Overview</a:t>
            </a:r>
          </a:p>
        </p:txBody>
      </p:sp>
      <p:sp>
        <p:nvSpPr>
          <p:cNvPr id="36" name="Freeform 5">
            <a:extLst>
              <a:ext uri="{FF2B5EF4-FFF2-40B4-BE49-F238E27FC236}">
                <a16:creationId xmlns:a16="http://schemas.microsoft.com/office/drawing/2014/main" id="{553FA590-BEEC-F6EB-A394-CF0B86FB0113}"/>
              </a:ext>
            </a:extLst>
          </p:cNvPr>
          <p:cNvSpPr/>
          <p:nvPr/>
        </p:nvSpPr>
        <p:spPr>
          <a:xfrm>
            <a:off x="228600" y="495300"/>
            <a:ext cx="1524000" cy="1457826"/>
          </a:xfrm>
          <a:custGeom>
            <a:avLst/>
            <a:gdLst/>
            <a:ahLst/>
            <a:cxnLst/>
            <a:rect l="l" t="t" r="r" b="b"/>
            <a:pathLst>
              <a:path w="3493612" h="3493612">
                <a:moveTo>
                  <a:pt x="0" y="0"/>
                </a:moveTo>
                <a:lnTo>
                  <a:pt x="3493612" y="0"/>
                </a:lnTo>
                <a:lnTo>
                  <a:pt x="3493612" y="3493612"/>
                </a:lnTo>
                <a:lnTo>
                  <a:pt x="0" y="34936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37" name="Freeform 8">
            <a:extLst>
              <a:ext uri="{FF2B5EF4-FFF2-40B4-BE49-F238E27FC236}">
                <a16:creationId xmlns:a16="http://schemas.microsoft.com/office/drawing/2014/main" id="{C7765260-A039-2EF2-E200-7118F06CF81F}"/>
              </a:ext>
            </a:extLst>
          </p:cNvPr>
          <p:cNvSpPr/>
          <p:nvPr/>
        </p:nvSpPr>
        <p:spPr>
          <a:xfrm rot="10800000">
            <a:off x="15172736" y="0"/>
            <a:ext cx="2177829" cy="2843880"/>
          </a:xfrm>
          <a:custGeom>
            <a:avLst/>
            <a:gdLst/>
            <a:ahLst/>
            <a:cxnLst/>
            <a:rect l="l" t="t" r="r" b="b"/>
            <a:pathLst>
              <a:path w="2611028" h="4114800">
                <a:moveTo>
                  <a:pt x="0" y="0"/>
                </a:moveTo>
                <a:lnTo>
                  <a:pt x="2611028" y="0"/>
                </a:lnTo>
                <a:lnTo>
                  <a:pt x="26110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3" name="左大括号 2">
            <a:extLst>
              <a:ext uri="{FF2B5EF4-FFF2-40B4-BE49-F238E27FC236}">
                <a16:creationId xmlns:a16="http://schemas.microsoft.com/office/drawing/2014/main" id="{409DD045-461A-7073-726E-267C1799A4F4}"/>
              </a:ext>
            </a:extLst>
          </p:cNvPr>
          <p:cNvSpPr/>
          <p:nvPr/>
        </p:nvSpPr>
        <p:spPr>
          <a:xfrm>
            <a:off x="4800600" y="2328074"/>
            <a:ext cx="685800" cy="7539826"/>
          </a:xfrm>
          <a:prstGeom prst="leftBrace">
            <a:avLst/>
          </a:prstGeom>
          <a:gradFill flip="none" rotWithShape="1">
            <a:gsLst>
              <a:gs pos="0">
                <a:schemeClr val="accent4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4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4">
                  <a:lumMod val="60000"/>
                  <a:lumOff val="40000"/>
                  <a:tint val="23500"/>
                  <a:satMod val="160000"/>
                </a:schemeClr>
              </a:gs>
            </a:gsLst>
            <a:lin ang="10800000" scaled="1"/>
            <a:tileRect/>
          </a:gradFill>
          <a:ln w="1905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69C55324-FD13-2FFB-727D-EBF2CA0A19E5}"/>
              </a:ext>
            </a:extLst>
          </p:cNvPr>
          <p:cNvSpPr txBox="1"/>
          <p:nvPr/>
        </p:nvSpPr>
        <p:spPr>
          <a:xfrm>
            <a:off x="5790963" y="2328074"/>
            <a:ext cx="4648200" cy="3770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sz="2800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Task A – Program Design</a:t>
            </a:r>
          </a:p>
        </p:txBody>
      </p:sp>
      <p:sp>
        <p:nvSpPr>
          <p:cNvPr id="5" name="TextBox 9">
            <a:extLst>
              <a:ext uri="{FF2B5EF4-FFF2-40B4-BE49-F238E27FC236}">
                <a16:creationId xmlns:a16="http://schemas.microsoft.com/office/drawing/2014/main" id="{60E4FE26-7536-3828-E3F5-10609F4B16D7}"/>
              </a:ext>
            </a:extLst>
          </p:cNvPr>
          <p:cNvSpPr txBox="1"/>
          <p:nvPr/>
        </p:nvSpPr>
        <p:spPr>
          <a:xfrm>
            <a:off x="5790963" y="4744582"/>
            <a:ext cx="5782733" cy="3770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sz="2800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Task B – Pathfinding Algorithm</a:t>
            </a:r>
          </a:p>
        </p:txBody>
      </p:sp>
      <p:sp>
        <p:nvSpPr>
          <p:cNvPr id="6" name="TextBox 9">
            <a:extLst>
              <a:ext uri="{FF2B5EF4-FFF2-40B4-BE49-F238E27FC236}">
                <a16:creationId xmlns:a16="http://schemas.microsoft.com/office/drawing/2014/main" id="{0539FC43-0891-57BA-AF73-CD2DA19B299A}"/>
              </a:ext>
            </a:extLst>
          </p:cNvPr>
          <p:cNvSpPr txBox="1"/>
          <p:nvPr/>
        </p:nvSpPr>
        <p:spPr>
          <a:xfrm>
            <a:off x="5799429" y="7138765"/>
            <a:ext cx="4648200" cy="3770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sz="2800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Task C – Sorting Tests</a:t>
            </a:r>
          </a:p>
        </p:txBody>
      </p:sp>
      <p:sp>
        <p:nvSpPr>
          <p:cNvPr id="7" name="TextBox 8">
            <a:extLst>
              <a:ext uri="{FF2B5EF4-FFF2-40B4-BE49-F238E27FC236}">
                <a16:creationId xmlns:a16="http://schemas.microsoft.com/office/drawing/2014/main" id="{2C66FDBD-2425-B73A-97BE-4D3446F97500}"/>
              </a:ext>
            </a:extLst>
          </p:cNvPr>
          <p:cNvSpPr txBox="1"/>
          <p:nvPr/>
        </p:nvSpPr>
        <p:spPr>
          <a:xfrm>
            <a:off x="5790964" y="2731658"/>
            <a:ext cx="5782732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20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Plan the application framework, define the data models (City, Road, Graph), choose core data, design the GUI blueprint, and handle data input (CSV files).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97EB5C8-5EC4-F06F-1A77-5FEC844FDFC3}"/>
              </a:ext>
            </a:extLst>
          </p:cNvPr>
          <p:cNvSpPr txBox="1"/>
          <p:nvPr/>
        </p:nvSpPr>
        <p:spPr>
          <a:xfrm>
            <a:off x="5799430" y="5091975"/>
            <a:ext cx="4648200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20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Implement core pathfinding logic, handle multiple waypoints, and ensure the shortest path is found with optimal time.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1AB009-B002-CC8F-91B1-0EE7F8F0F18F}"/>
              </a:ext>
            </a:extLst>
          </p:cNvPr>
          <p:cNvSpPr txBox="1"/>
          <p:nvPr/>
        </p:nvSpPr>
        <p:spPr>
          <a:xfrm>
            <a:off x="5799430" y="7515791"/>
            <a:ext cx="5774266" cy="15388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20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Implement and evaluate the performance of three sorting algorithms (insertion, quick, and merge) on different datasets and compare them with their theoretical complexity.</a:t>
            </a:r>
          </a:p>
        </p:txBody>
      </p:sp>
      <p:sp>
        <p:nvSpPr>
          <p:cNvPr id="11" name="左大括号 10">
            <a:extLst>
              <a:ext uri="{FF2B5EF4-FFF2-40B4-BE49-F238E27FC236}">
                <a16:creationId xmlns:a16="http://schemas.microsoft.com/office/drawing/2014/main" id="{25112A7A-765B-1BD5-FCBA-4EEFF4DDC09E}"/>
              </a:ext>
            </a:extLst>
          </p:cNvPr>
          <p:cNvSpPr/>
          <p:nvPr/>
        </p:nvSpPr>
        <p:spPr>
          <a:xfrm>
            <a:off x="11571845" y="2212882"/>
            <a:ext cx="685799" cy="1676400"/>
          </a:xfrm>
          <a:prstGeom prst="leftBrace">
            <a:avLst/>
          </a:prstGeom>
          <a:gradFill flip="none" rotWithShape="1">
            <a:gsLst>
              <a:gs pos="0">
                <a:schemeClr val="accent4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4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4">
                  <a:lumMod val="60000"/>
                  <a:lumOff val="40000"/>
                  <a:tint val="23500"/>
                  <a:satMod val="160000"/>
                </a:schemeClr>
              </a:gs>
            </a:gsLst>
            <a:lin ang="10800000" scaled="1"/>
            <a:tileRect/>
          </a:gradFill>
          <a:ln w="1905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TextBox 8">
            <a:extLst>
              <a:ext uri="{FF2B5EF4-FFF2-40B4-BE49-F238E27FC236}">
                <a16:creationId xmlns:a16="http://schemas.microsoft.com/office/drawing/2014/main" id="{37EDA8B3-F113-AF55-9146-DD9BBB7F237D}"/>
              </a:ext>
            </a:extLst>
          </p:cNvPr>
          <p:cNvSpPr txBox="1"/>
          <p:nvPr/>
        </p:nvSpPr>
        <p:spPr>
          <a:xfrm>
            <a:off x="12492551" y="3650936"/>
            <a:ext cx="4648201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20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Design project with OOP concept</a:t>
            </a:r>
          </a:p>
        </p:txBody>
      </p:sp>
      <p:sp>
        <p:nvSpPr>
          <p:cNvPr id="13" name="TextBox 8">
            <a:extLst>
              <a:ext uri="{FF2B5EF4-FFF2-40B4-BE49-F238E27FC236}">
                <a16:creationId xmlns:a16="http://schemas.microsoft.com/office/drawing/2014/main" id="{55F15F06-8EA3-DE52-992B-16E3CFA819C6}"/>
              </a:ext>
            </a:extLst>
          </p:cNvPr>
          <p:cNvSpPr txBox="1"/>
          <p:nvPr/>
        </p:nvSpPr>
        <p:spPr>
          <a:xfrm>
            <a:off x="12492551" y="2906426"/>
            <a:ext cx="4858014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20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Choose appropriate data structure</a:t>
            </a: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DB13810B-2BAF-54A8-F0B6-C7A6D05B86F8}"/>
              </a:ext>
            </a:extLst>
          </p:cNvPr>
          <p:cNvSpPr txBox="1"/>
          <p:nvPr/>
        </p:nvSpPr>
        <p:spPr>
          <a:xfrm>
            <a:off x="12492551" y="2157581"/>
            <a:ext cx="4858014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20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GUI visualization</a:t>
            </a:r>
          </a:p>
        </p:txBody>
      </p:sp>
      <p:sp>
        <p:nvSpPr>
          <p:cNvPr id="15" name="左大括号 14">
            <a:extLst>
              <a:ext uri="{FF2B5EF4-FFF2-40B4-BE49-F238E27FC236}">
                <a16:creationId xmlns:a16="http://schemas.microsoft.com/office/drawing/2014/main" id="{02AAE6ED-3F05-F03C-AB35-2FAAA8BA328A}"/>
              </a:ext>
            </a:extLst>
          </p:cNvPr>
          <p:cNvSpPr/>
          <p:nvPr/>
        </p:nvSpPr>
        <p:spPr>
          <a:xfrm>
            <a:off x="11571844" y="4600672"/>
            <a:ext cx="685799" cy="1676400"/>
          </a:xfrm>
          <a:prstGeom prst="leftBrace">
            <a:avLst/>
          </a:prstGeom>
          <a:gradFill flip="none" rotWithShape="1">
            <a:gsLst>
              <a:gs pos="0">
                <a:schemeClr val="accent4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4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4">
                  <a:lumMod val="60000"/>
                  <a:lumOff val="40000"/>
                  <a:tint val="23500"/>
                  <a:satMod val="160000"/>
                </a:schemeClr>
              </a:gs>
            </a:gsLst>
            <a:lin ang="10800000" scaled="1"/>
            <a:tileRect/>
          </a:gradFill>
          <a:ln w="1905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TextBox 8">
            <a:extLst>
              <a:ext uri="{FF2B5EF4-FFF2-40B4-BE49-F238E27FC236}">
                <a16:creationId xmlns:a16="http://schemas.microsoft.com/office/drawing/2014/main" id="{E2342F2B-0BAB-F331-96E3-FA60B4DBD155}"/>
              </a:ext>
            </a:extLst>
          </p:cNvPr>
          <p:cNvSpPr txBox="1"/>
          <p:nvPr/>
        </p:nvSpPr>
        <p:spPr>
          <a:xfrm>
            <a:off x="12496562" y="4611693"/>
            <a:ext cx="2752137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20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Dijkstra Algorithm</a:t>
            </a:r>
          </a:p>
        </p:txBody>
      </p:sp>
      <p:sp>
        <p:nvSpPr>
          <p:cNvPr id="17" name="TextBox 8">
            <a:extLst>
              <a:ext uri="{FF2B5EF4-FFF2-40B4-BE49-F238E27FC236}">
                <a16:creationId xmlns:a16="http://schemas.microsoft.com/office/drawing/2014/main" id="{2B4E094C-F035-16C4-0101-5ADB9F30D4D7}"/>
              </a:ext>
            </a:extLst>
          </p:cNvPr>
          <p:cNvSpPr txBox="1"/>
          <p:nvPr/>
        </p:nvSpPr>
        <p:spPr>
          <a:xfrm>
            <a:off x="12527843" y="5940667"/>
            <a:ext cx="2752137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20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Floyd Algorithm</a:t>
            </a:r>
          </a:p>
        </p:txBody>
      </p:sp>
      <p:sp>
        <p:nvSpPr>
          <p:cNvPr id="18" name="左大括号 17">
            <a:extLst>
              <a:ext uri="{FF2B5EF4-FFF2-40B4-BE49-F238E27FC236}">
                <a16:creationId xmlns:a16="http://schemas.microsoft.com/office/drawing/2014/main" id="{B66BE7DE-3EB3-EC2C-F3E8-3E0417F0D11F}"/>
              </a:ext>
            </a:extLst>
          </p:cNvPr>
          <p:cNvSpPr/>
          <p:nvPr/>
        </p:nvSpPr>
        <p:spPr>
          <a:xfrm>
            <a:off x="11571843" y="7153372"/>
            <a:ext cx="685799" cy="1676400"/>
          </a:xfrm>
          <a:prstGeom prst="leftBrace">
            <a:avLst/>
          </a:prstGeom>
          <a:gradFill flip="none" rotWithShape="1">
            <a:gsLst>
              <a:gs pos="0">
                <a:schemeClr val="accent4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4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4">
                  <a:lumMod val="60000"/>
                  <a:lumOff val="40000"/>
                  <a:tint val="23500"/>
                  <a:satMod val="160000"/>
                </a:schemeClr>
              </a:gs>
            </a:gsLst>
            <a:lin ang="10800000" scaled="1"/>
            <a:tileRect/>
          </a:gradFill>
          <a:ln w="1905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TextBox 8">
            <a:extLst>
              <a:ext uri="{FF2B5EF4-FFF2-40B4-BE49-F238E27FC236}">
                <a16:creationId xmlns:a16="http://schemas.microsoft.com/office/drawing/2014/main" id="{41BBE624-484B-13D8-D01E-6CBCE26FA7D6}"/>
              </a:ext>
            </a:extLst>
          </p:cNvPr>
          <p:cNvSpPr txBox="1"/>
          <p:nvPr/>
        </p:nvSpPr>
        <p:spPr>
          <a:xfrm>
            <a:off x="12527844" y="7148085"/>
            <a:ext cx="2752137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20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Insertion Sort</a:t>
            </a:r>
          </a:p>
        </p:txBody>
      </p:sp>
      <p:sp>
        <p:nvSpPr>
          <p:cNvPr id="20" name="TextBox 8">
            <a:extLst>
              <a:ext uri="{FF2B5EF4-FFF2-40B4-BE49-F238E27FC236}">
                <a16:creationId xmlns:a16="http://schemas.microsoft.com/office/drawing/2014/main" id="{5878AEB5-0C7A-0871-DD7C-C3EC7718CBBE}"/>
              </a:ext>
            </a:extLst>
          </p:cNvPr>
          <p:cNvSpPr txBox="1"/>
          <p:nvPr/>
        </p:nvSpPr>
        <p:spPr>
          <a:xfrm>
            <a:off x="12496562" y="7837683"/>
            <a:ext cx="2752137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20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Quick Sort</a:t>
            </a:r>
          </a:p>
        </p:txBody>
      </p:sp>
      <p:sp>
        <p:nvSpPr>
          <p:cNvPr id="21" name="TextBox 8">
            <a:extLst>
              <a:ext uri="{FF2B5EF4-FFF2-40B4-BE49-F238E27FC236}">
                <a16:creationId xmlns:a16="http://schemas.microsoft.com/office/drawing/2014/main" id="{2BC9CD14-8945-B783-8F4D-ABBB36BBD118}"/>
              </a:ext>
            </a:extLst>
          </p:cNvPr>
          <p:cNvSpPr txBox="1"/>
          <p:nvPr/>
        </p:nvSpPr>
        <p:spPr>
          <a:xfrm>
            <a:off x="12492551" y="8644315"/>
            <a:ext cx="2752137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20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Merge Sort</a:t>
            </a:r>
          </a:p>
        </p:txBody>
      </p:sp>
      <p:sp>
        <p:nvSpPr>
          <p:cNvPr id="22" name="TextBox 9">
            <a:extLst>
              <a:ext uri="{FF2B5EF4-FFF2-40B4-BE49-F238E27FC236}">
                <a16:creationId xmlns:a16="http://schemas.microsoft.com/office/drawing/2014/main" id="{9BC7E6E7-2ABD-F84B-E9CC-99A53C5581DE}"/>
              </a:ext>
            </a:extLst>
          </p:cNvPr>
          <p:cNvSpPr txBox="1"/>
          <p:nvPr/>
        </p:nvSpPr>
        <p:spPr>
          <a:xfrm>
            <a:off x="5762888" y="9482324"/>
            <a:ext cx="5286111" cy="3770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sz="2800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Task D – Project </a:t>
            </a:r>
            <a:r>
              <a:rPr lang="en-US" altLang="zh-CN" sz="2800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reflection</a:t>
            </a:r>
            <a:endParaRPr lang="en-US" sz="2800" b="1" dirty="0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23" name="Freeform 3">
            <a:extLst>
              <a:ext uri="{FF2B5EF4-FFF2-40B4-BE49-F238E27FC236}">
                <a16:creationId xmlns:a16="http://schemas.microsoft.com/office/drawing/2014/main" id="{3A3EBA0E-C71E-D40A-9D59-07599C570EBC}"/>
              </a:ext>
            </a:extLst>
          </p:cNvPr>
          <p:cNvSpPr/>
          <p:nvPr/>
        </p:nvSpPr>
        <p:spPr>
          <a:xfrm>
            <a:off x="15172736" y="8299222"/>
            <a:ext cx="2570276" cy="1270788"/>
          </a:xfrm>
          <a:custGeom>
            <a:avLst/>
            <a:gdLst/>
            <a:ahLst/>
            <a:cxnLst/>
            <a:rect l="l" t="t" r="r" b="b"/>
            <a:pathLst>
              <a:path w="3493612" h="1759510">
                <a:moveTo>
                  <a:pt x="0" y="0"/>
                </a:moveTo>
                <a:lnTo>
                  <a:pt x="3493612" y="0"/>
                </a:lnTo>
                <a:lnTo>
                  <a:pt x="3493612" y="1759510"/>
                </a:lnTo>
                <a:lnTo>
                  <a:pt x="0" y="175951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298416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D1F2C5-D403-046A-53C7-E50BF50C8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ED212CB-B366-F88D-334F-8A4348758FF3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33A3882C-DEA6-6A9C-35B5-85CE34EEAAC2}"/>
              </a:ext>
            </a:extLst>
          </p:cNvPr>
          <p:cNvSpPr txBox="1"/>
          <p:nvPr/>
        </p:nvSpPr>
        <p:spPr>
          <a:xfrm>
            <a:off x="1981200" y="468144"/>
            <a:ext cx="11125200" cy="14875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5808"/>
              </a:lnSpc>
              <a:spcBef>
                <a:spcPct val="0"/>
              </a:spcBef>
            </a:pPr>
            <a:r>
              <a:rPr lang="en-US" sz="5000" spc="-150" dirty="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Task A – Program Design of US Road Trip Planner </a:t>
            </a:r>
          </a:p>
        </p:txBody>
      </p:sp>
      <p:sp>
        <p:nvSpPr>
          <p:cNvPr id="30" name="TextBox 9">
            <a:extLst>
              <a:ext uri="{FF2B5EF4-FFF2-40B4-BE49-F238E27FC236}">
                <a16:creationId xmlns:a16="http://schemas.microsoft.com/office/drawing/2014/main" id="{043AA469-523B-62E2-191C-49B871905D1D}"/>
              </a:ext>
            </a:extLst>
          </p:cNvPr>
          <p:cNvSpPr txBox="1"/>
          <p:nvPr/>
        </p:nvSpPr>
        <p:spPr>
          <a:xfrm>
            <a:off x="990600" y="3695700"/>
            <a:ext cx="6515501" cy="4078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sz="3600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Overall Program Design</a:t>
            </a:r>
          </a:p>
        </p:txBody>
      </p:sp>
      <p:sp>
        <p:nvSpPr>
          <p:cNvPr id="36" name="Freeform 5">
            <a:extLst>
              <a:ext uri="{FF2B5EF4-FFF2-40B4-BE49-F238E27FC236}">
                <a16:creationId xmlns:a16="http://schemas.microsoft.com/office/drawing/2014/main" id="{2B7C1C8B-91EC-D075-EF4D-D86D010C9D93}"/>
              </a:ext>
            </a:extLst>
          </p:cNvPr>
          <p:cNvSpPr/>
          <p:nvPr/>
        </p:nvSpPr>
        <p:spPr>
          <a:xfrm>
            <a:off x="228600" y="495300"/>
            <a:ext cx="1524000" cy="1457826"/>
          </a:xfrm>
          <a:custGeom>
            <a:avLst/>
            <a:gdLst/>
            <a:ahLst/>
            <a:cxnLst/>
            <a:rect l="l" t="t" r="r" b="b"/>
            <a:pathLst>
              <a:path w="3493612" h="3493612">
                <a:moveTo>
                  <a:pt x="0" y="0"/>
                </a:moveTo>
                <a:lnTo>
                  <a:pt x="3493612" y="0"/>
                </a:lnTo>
                <a:lnTo>
                  <a:pt x="3493612" y="3493612"/>
                </a:lnTo>
                <a:lnTo>
                  <a:pt x="0" y="34936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3" name="TextBox 8">
            <a:extLst>
              <a:ext uri="{FF2B5EF4-FFF2-40B4-BE49-F238E27FC236}">
                <a16:creationId xmlns:a16="http://schemas.microsoft.com/office/drawing/2014/main" id="{92A7931D-11B4-76C9-1EF9-5240630DD7D0}"/>
              </a:ext>
            </a:extLst>
          </p:cNvPr>
          <p:cNvSpPr txBox="1"/>
          <p:nvPr/>
        </p:nvSpPr>
        <p:spPr>
          <a:xfrm>
            <a:off x="990600" y="4566419"/>
            <a:ext cx="7658501" cy="25853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altLang="zh-CN" sz="2800" dirty="0"/>
              <a:t>The core of Task A is to design a robust and scalable program framework for our American road travel planner. We have adopted a modular layered architecture, which mainly includes the user interface layer, algorithm logic layer, data model layer, and data services and tools layer.</a:t>
            </a:r>
            <a:endParaRPr lang="en-US" sz="25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5827CBD6-E03B-2344-7566-2F8194897830}"/>
              </a:ext>
            </a:extLst>
          </p:cNvPr>
          <p:cNvSpPr txBox="1"/>
          <p:nvPr/>
        </p:nvSpPr>
        <p:spPr>
          <a:xfrm>
            <a:off x="7299446" y="9662514"/>
            <a:ext cx="3810000" cy="3654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sz="2500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Architecture Diagram</a:t>
            </a:r>
          </a:p>
        </p:txBody>
      </p:sp>
      <p:sp>
        <p:nvSpPr>
          <p:cNvPr id="5" name="Freeform 9">
            <a:extLst>
              <a:ext uri="{FF2B5EF4-FFF2-40B4-BE49-F238E27FC236}">
                <a16:creationId xmlns:a16="http://schemas.microsoft.com/office/drawing/2014/main" id="{E713CA86-0E5F-6ADA-FAD0-B395F1A4D323}"/>
              </a:ext>
            </a:extLst>
          </p:cNvPr>
          <p:cNvSpPr/>
          <p:nvPr/>
        </p:nvSpPr>
        <p:spPr>
          <a:xfrm>
            <a:off x="971673" y="8616568"/>
            <a:ext cx="3493612" cy="1200532"/>
          </a:xfrm>
          <a:custGeom>
            <a:avLst/>
            <a:gdLst/>
            <a:ahLst/>
            <a:cxnLst/>
            <a:rect l="l" t="t" r="r" b="b"/>
            <a:pathLst>
              <a:path w="3493612" h="1200532">
                <a:moveTo>
                  <a:pt x="0" y="0"/>
                </a:moveTo>
                <a:lnTo>
                  <a:pt x="3493612" y="0"/>
                </a:lnTo>
                <a:lnTo>
                  <a:pt x="3493612" y="1200532"/>
                </a:lnTo>
                <a:lnTo>
                  <a:pt x="0" y="120053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0CD83E4C-D51E-F7E2-A310-88A0F479A25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6290" y="2095500"/>
            <a:ext cx="9817280" cy="6449147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7FE3AF72-B582-1BC5-EAFF-B1D46FD00047}"/>
              </a:ext>
            </a:extLst>
          </p:cNvPr>
          <p:cNvSpPr txBox="1"/>
          <p:nvPr/>
        </p:nvSpPr>
        <p:spPr>
          <a:xfrm>
            <a:off x="11887200" y="8544647"/>
            <a:ext cx="297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Task A &amp; Task B Class Diagram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345836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D4B4A-1C8C-EED0-5A40-CA6700B1CD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077623A-4331-4FA2-BC58-796591189879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2E3904B-CC57-2D32-C755-1E1A75CC3698}"/>
              </a:ext>
            </a:extLst>
          </p:cNvPr>
          <p:cNvSpPr txBox="1"/>
          <p:nvPr/>
        </p:nvSpPr>
        <p:spPr>
          <a:xfrm>
            <a:off x="1981200" y="468144"/>
            <a:ext cx="11125200" cy="14875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5808"/>
              </a:lnSpc>
              <a:spcBef>
                <a:spcPct val="0"/>
              </a:spcBef>
            </a:pPr>
            <a:r>
              <a:rPr lang="en-US" sz="5000" spc="-150" dirty="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Task A – Program Design of US Road Trip Planner </a:t>
            </a:r>
          </a:p>
        </p:txBody>
      </p:sp>
      <p:sp>
        <p:nvSpPr>
          <p:cNvPr id="36" name="Freeform 5">
            <a:extLst>
              <a:ext uri="{FF2B5EF4-FFF2-40B4-BE49-F238E27FC236}">
                <a16:creationId xmlns:a16="http://schemas.microsoft.com/office/drawing/2014/main" id="{973AB257-2172-2729-10BE-20C39E0B1019}"/>
              </a:ext>
            </a:extLst>
          </p:cNvPr>
          <p:cNvSpPr/>
          <p:nvPr/>
        </p:nvSpPr>
        <p:spPr>
          <a:xfrm>
            <a:off x="228600" y="495300"/>
            <a:ext cx="1524000" cy="1457826"/>
          </a:xfrm>
          <a:custGeom>
            <a:avLst/>
            <a:gdLst/>
            <a:ahLst/>
            <a:cxnLst/>
            <a:rect l="l" t="t" r="r" b="b"/>
            <a:pathLst>
              <a:path w="3493612" h="3493612">
                <a:moveTo>
                  <a:pt x="0" y="0"/>
                </a:moveTo>
                <a:lnTo>
                  <a:pt x="3493612" y="0"/>
                </a:lnTo>
                <a:lnTo>
                  <a:pt x="3493612" y="3493612"/>
                </a:lnTo>
                <a:lnTo>
                  <a:pt x="0" y="34936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7" name="TextBox 9">
            <a:extLst>
              <a:ext uri="{FF2B5EF4-FFF2-40B4-BE49-F238E27FC236}">
                <a16:creationId xmlns:a16="http://schemas.microsoft.com/office/drawing/2014/main" id="{1FFDDC13-E0D7-5634-5474-A4E76BA8FC29}"/>
              </a:ext>
            </a:extLst>
          </p:cNvPr>
          <p:cNvSpPr txBox="1"/>
          <p:nvPr/>
        </p:nvSpPr>
        <p:spPr>
          <a:xfrm>
            <a:off x="685800" y="5753100"/>
            <a:ext cx="3200400" cy="4078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sz="3600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Architecture</a:t>
            </a:r>
          </a:p>
        </p:txBody>
      </p:sp>
      <p:sp>
        <p:nvSpPr>
          <p:cNvPr id="8" name="左大括号 7">
            <a:extLst>
              <a:ext uri="{FF2B5EF4-FFF2-40B4-BE49-F238E27FC236}">
                <a16:creationId xmlns:a16="http://schemas.microsoft.com/office/drawing/2014/main" id="{9AAF63DA-E9F6-2129-9E1F-587618C96568}"/>
              </a:ext>
            </a:extLst>
          </p:cNvPr>
          <p:cNvSpPr/>
          <p:nvPr/>
        </p:nvSpPr>
        <p:spPr>
          <a:xfrm>
            <a:off x="4038600" y="2628900"/>
            <a:ext cx="685800" cy="6553200"/>
          </a:xfrm>
          <a:prstGeom prst="leftBrace">
            <a:avLst/>
          </a:prstGeom>
          <a:gradFill flip="none" rotWithShape="1">
            <a:gsLst>
              <a:gs pos="0">
                <a:schemeClr val="accent4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4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4">
                  <a:lumMod val="60000"/>
                  <a:lumOff val="40000"/>
                  <a:tint val="23500"/>
                  <a:satMod val="160000"/>
                </a:schemeClr>
              </a:gs>
            </a:gsLst>
            <a:lin ang="10800000" scaled="1"/>
            <a:tileRect/>
          </a:gradFill>
          <a:ln w="1905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C15B4DC-E6A4-616E-2E1E-21E033261C8A}"/>
              </a:ext>
            </a:extLst>
          </p:cNvPr>
          <p:cNvSpPr txBox="1"/>
          <p:nvPr/>
        </p:nvSpPr>
        <p:spPr>
          <a:xfrm>
            <a:off x="5105400" y="2476500"/>
            <a:ext cx="6400800" cy="10797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sz="2800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./algorithm - </a:t>
            </a:r>
            <a:r>
              <a:rPr lang="en-US" altLang="zh-CN" sz="2400" dirty="0">
                <a:latin typeface="Garet" panose="02010600030101010101" charset="0"/>
              </a:rPr>
              <a:t>Implement core pathfinding logic to handle the shortest paths of single and multiple waypoints.</a:t>
            </a:r>
            <a:endParaRPr lang="en-US" altLang="zh-CN" sz="2800" dirty="0">
              <a:solidFill>
                <a:srgbClr val="000000"/>
              </a:solidFill>
              <a:latin typeface="Garet" panose="02010600030101010101" charset="0"/>
              <a:ea typeface="Garet"/>
              <a:cs typeface="Garet"/>
              <a:sym typeface="Garet"/>
            </a:endParaRPr>
          </a:p>
        </p:txBody>
      </p:sp>
      <p:sp>
        <p:nvSpPr>
          <p:cNvPr id="5" name="TextBox 9">
            <a:extLst>
              <a:ext uri="{FF2B5EF4-FFF2-40B4-BE49-F238E27FC236}">
                <a16:creationId xmlns:a16="http://schemas.microsoft.com/office/drawing/2014/main" id="{E795FD5F-924F-3D66-4ACE-7CA792B09E44}"/>
              </a:ext>
            </a:extLst>
          </p:cNvPr>
          <p:cNvSpPr txBox="1"/>
          <p:nvPr/>
        </p:nvSpPr>
        <p:spPr>
          <a:xfrm>
            <a:off x="5105400" y="4077052"/>
            <a:ext cx="6172200" cy="7360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sz="2800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./model - </a:t>
            </a:r>
            <a:r>
              <a:rPr lang="en-US" altLang="zh-CN" sz="2400" dirty="0">
                <a:latin typeface="Garet" panose="02010600030101010101" charset="0"/>
              </a:rPr>
              <a:t>Define core data objects related to road networks and paths.</a:t>
            </a:r>
            <a:endParaRPr lang="en-US" sz="2800" b="1" dirty="0">
              <a:solidFill>
                <a:srgbClr val="000000"/>
              </a:solidFill>
              <a:latin typeface="Garet" panose="02010600030101010101" charset="0"/>
              <a:ea typeface="Garet Bold"/>
              <a:cs typeface="Garet Bold"/>
              <a:sym typeface="Garet Bold"/>
            </a:endParaRPr>
          </a:p>
        </p:txBody>
      </p:sp>
      <p:sp>
        <p:nvSpPr>
          <p:cNvPr id="14" name="TextBox 9">
            <a:extLst>
              <a:ext uri="{FF2B5EF4-FFF2-40B4-BE49-F238E27FC236}">
                <a16:creationId xmlns:a16="http://schemas.microsoft.com/office/drawing/2014/main" id="{C4B17FD8-C5D4-3044-A19A-8A66034DE95B}"/>
              </a:ext>
            </a:extLst>
          </p:cNvPr>
          <p:cNvSpPr txBox="1"/>
          <p:nvPr/>
        </p:nvSpPr>
        <p:spPr>
          <a:xfrm>
            <a:off x="5074920" y="5557639"/>
            <a:ext cx="6172200" cy="7360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sz="2800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./panel - </a:t>
            </a:r>
            <a:r>
              <a:rPr lang="en-US" altLang="zh-CN" sz="2400" dirty="0">
                <a:latin typeface="Garet" panose="02010600030101010101" charset="0"/>
              </a:rPr>
              <a:t>user interaction, data input capture, multimodal display of results.</a:t>
            </a:r>
            <a:endParaRPr lang="en-US" sz="2800" b="1" dirty="0">
              <a:solidFill>
                <a:srgbClr val="000000"/>
              </a:solidFill>
              <a:latin typeface="Garet" panose="02010600030101010101" charset="0"/>
              <a:ea typeface="Garet Bold"/>
              <a:cs typeface="Garet Bold"/>
              <a:sym typeface="Garet Bold"/>
            </a:endParaRPr>
          </a:p>
        </p:txBody>
      </p:sp>
      <p:sp>
        <p:nvSpPr>
          <p:cNvPr id="15" name="TextBox 9">
            <a:extLst>
              <a:ext uri="{FF2B5EF4-FFF2-40B4-BE49-F238E27FC236}">
                <a16:creationId xmlns:a16="http://schemas.microsoft.com/office/drawing/2014/main" id="{26DE9CC3-3A71-37B2-F894-86D79F688E56}"/>
              </a:ext>
            </a:extLst>
          </p:cNvPr>
          <p:cNvSpPr txBox="1"/>
          <p:nvPr/>
        </p:nvSpPr>
        <p:spPr>
          <a:xfrm>
            <a:off x="5105400" y="7073278"/>
            <a:ext cx="6172200" cy="10797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sz="2800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./parser - </a:t>
            </a:r>
            <a:r>
              <a:rPr lang="en-US" altLang="zh-CN" sz="2400" dirty="0">
                <a:latin typeface="Garet" panose="02010600030101010101" charset="0"/>
              </a:rPr>
              <a:t>Read city and distance information from the provided CSV data file.</a:t>
            </a:r>
            <a:endParaRPr lang="en-US" sz="2800" b="1" dirty="0">
              <a:solidFill>
                <a:srgbClr val="000000"/>
              </a:solidFill>
              <a:latin typeface="Garet" panose="02010600030101010101" charset="0"/>
              <a:ea typeface="Garet Bold"/>
              <a:cs typeface="Garet Bold"/>
              <a:sym typeface="Garet Bold"/>
            </a:endParaRPr>
          </a:p>
        </p:txBody>
      </p:sp>
      <p:sp>
        <p:nvSpPr>
          <p:cNvPr id="16" name="TextBox 9">
            <a:extLst>
              <a:ext uri="{FF2B5EF4-FFF2-40B4-BE49-F238E27FC236}">
                <a16:creationId xmlns:a16="http://schemas.microsoft.com/office/drawing/2014/main" id="{974A2684-29A3-58CA-0E28-16A3A7B0895C}"/>
              </a:ext>
            </a:extLst>
          </p:cNvPr>
          <p:cNvSpPr txBox="1"/>
          <p:nvPr/>
        </p:nvSpPr>
        <p:spPr>
          <a:xfrm>
            <a:off x="5093208" y="8832471"/>
            <a:ext cx="6425184" cy="10797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sz="2800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./util - </a:t>
            </a:r>
            <a:r>
              <a:rPr lang="en-US" altLang="zh-CN" sz="2400" dirty="0">
                <a:latin typeface="Garet" panose="02010600030101010101" charset="0"/>
              </a:rPr>
              <a:t>Provide general city point coordinates and provide the information required for the algorithm to operate.</a:t>
            </a:r>
            <a:endParaRPr lang="en-US" sz="2800" b="1" dirty="0">
              <a:solidFill>
                <a:srgbClr val="000000"/>
              </a:solidFill>
              <a:latin typeface="Garet" panose="02010600030101010101" charset="0"/>
              <a:ea typeface="Garet Bold"/>
              <a:cs typeface="Garet Bold"/>
              <a:sym typeface="Garet Bold"/>
            </a:endParaRPr>
          </a:p>
        </p:txBody>
      </p:sp>
      <p:sp>
        <p:nvSpPr>
          <p:cNvPr id="17" name="左大括号 16">
            <a:extLst>
              <a:ext uri="{FF2B5EF4-FFF2-40B4-BE49-F238E27FC236}">
                <a16:creationId xmlns:a16="http://schemas.microsoft.com/office/drawing/2014/main" id="{E6F848C4-CBFD-7D3B-C388-47370D914657}"/>
              </a:ext>
            </a:extLst>
          </p:cNvPr>
          <p:cNvSpPr/>
          <p:nvPr/>
        </p:nvSpPr>
        <p:spPr>
          <a:xfrm>
            <a:off x="11454384" y="2184558"/>
            <a:ext cx="685799" cy="1416316"/>
          </a:xfrm>
          <a:prstGeom prst="leftBrace">
            <a:avLst/>
          </a:prstGeom>
          <a:gradFill flip="none" rotWithShape="1">
            <a:gsLst>
              <a:gs pos="0">
                <a:schemeClr val="accent4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4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4">
                  <a:lumMod val="60000"/>
                  <a:lumOff val="40000"/>
                  <a:tint val="23500"/>
                  <a:satMod val="160000"/>
                </a:schemeClr>
              </a:gs>
            </a:gsLst>
            <a:lin ang="10800000" scaled="1"/>
            <a:tileRect/>
          </a:gradFill>
          <a:ln w="1905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TextBox 9">
            <a:extLst>
              <a:ext uri="{FF2B5EF4-FFF2-40B4-BE49-F238E27FC236}">
                <a16:creationId xmlns:a16="http://schemas.microsoft.com/office/drawing/2014/main" id="{A70C7B7E-9814-C83E-596A-DF9CF2BF9B81}"/>
              </a:ext>
            </a:extLst>
          </p:cNvPr>
          <p:cNvSpPr txBox="1"/>
          <p:nvPr/>
        </p:nvSpPr>
        <p:spPr>
          <a:xfrm>
            <a:off x="12392023" y="2162580"/>
            <a:ext cx="5734049" cy="346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sz="2000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DijkstraAlgorithm.java</a:t>
            </a:r>
            <a:endParaRPr lang="en-US" altLang="zh-CN" sz="2000" dirty="0">
              <a:solidFill>
                <a:srgbClr val="000000"/>
              </a:solidFill>
              <a:latin typeface="Garet" panose="02010600030101010101" charset="0"/>
              <a:ea typeface="Garet"/>
              <a:cs typeface="Garet"/>
              <a:sym typeface="Garet"/>
            </a:endParaRPr>
          </a:p>
        </p:txBody>
      </p:sp>
      <p:sp>
        <p:nvSpPr>
          <p:cNvPr id="19" name="TextBox 9">
            <a:extLst>
              <a:ext uri="{FF2B5EF4-FFF2-40B4-BE49-F238E27FC236}">
                <a16:creationId xmlns:a16="http://schemas.microsoft.com/office/drawing/2014/main" id="{8EE85D10-07B8-B25D-E6CB-B11D27A517B2}"/>
              </a:ext>
            </a:extLst>
          </p:cNvPr>
          <p:cNvSpPr txBox="1"/>
          <p:nvPr/>
        </p:nvSpPr>
        <p:spPr>
          <a:xfrm>
            <a:off x="12392023" y="2670142"/>
            <a:ext cx="5734049" cy="346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sz="2000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FloydAlgorithm.java</a:t>
            </a:r>
            <a:endParaRPr lang="en-US" altLang="zh-CN" sz="2000" dirty="0">
              <a:solidFill>
                <a:srgbClr val="000000"/>
              </a:solidFill>
              <a:latin typeface="Garet" panose="02010600030101010101" charset="0"/>
              <a:ea typeface="Garet"/>
              <a:cs typeface="Garet"/>
              <a:sym typeface="Garet"/>
            </a:endParaRPr>
          </a:p>
        </p:txBody>
      </p:sp>
      <p:sp>
        <p:nvSpPr>
          <p:cNvPr id="20" name="TextBox 9">
            <a:extLst>
              <a:ext uri="{FF2B5EF4-FFF2-40B4-BE49-F238E27FC236}">
                <a16:creationId xmlns:a16="http://schemas.microsoft.com/office/drawing/2014/main" id="{643DAED7-F417-47FD-EE7F-9835BB261AD8}"/>
              </a:ext>
            </a:extLst>
          </p:cNvPr>
          <p:cNvSpPr txBox="1"/>
          <p:nvPr/>
        </p:nvSpPr>
        <p:spPr>
          <a:xfrm>
            <a:off x="12392023" y="3223240"/>
            <a:ext cx="5734049" cy="346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sz="2000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PathFinder.java</a:t>
            </a:r>
            <a:endParaRPr lang="en-US" altLang="zh-CN" sz="2000" dirty="0">
              <a:solidFill>
                <a:srgbClr val="000000"/>
              </a:solidFill>
              <a:latin typeface="Garet" panose="02010600030101010101" charset="0"/>
              <a:ea typeface="Garet"/>
              <a:cs typeface="Garet"/>
              <a:sym typeface="Garet"/>
            </a:endParaRPr>
          </a:p>
        </p:txBody>
      </p:sp>
      <p:sp>
        <p:nvSpPr>
          <p:cNvPr id="22" name="左大括号 21">
            <a:extLst>
              <a:ext uri="{FF2B5EF4-FFF2-40B4-BE49-F238E27FC236}">
                <a16:creationId xmlns:a16="http://schemas.microsoft.com/office/drawing/2014/main" id="{208B6202-5CC2-41C5-7ADD-907BBDD77817}"/>
              </a:ext>
            </a:extLst>
          </p:cNvPr>
          <p:cNvSpPr/>
          <p:nvPr/>
        </p:nvSpPr>
        <p:spPr>
          <a:xfrm>
            <a:off x="11454383" y="3768548"/>
            <a:ext cx="685799" cy="1416316"/>
          </a:xfrm>
          <a:prstGeom prst="leftBrace">
            <a:avLst/>
          </a:prstGeom>
          <a:gradFill flip="none" rotWithShape="1">
            <a:gsLst>
              <a:gs pos="0">
                <a:schemeClr val="accent4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4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4">
                  <a:lumMod val="60000"/>
                  <a:lumOff val="40000"/>
                  <a:tint val="23500"/>
                  <a:satMod val="160000"/>
                </a:schemeClr>
              </a:gs>
            </a:gsLst>
            <a:lin ang="10800000" scaled="1"/>
            <a:tileRect/>
          </a:gradFill>
          <a:ln w="1905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TextBox 9">
            <a:extLst>
              <a:ext uri="{FF2B5EF4-FFF2-40B4-BE49-F238E27FC236}">
                <a16:creationId xmlns:a16="http://schemas.microsoft.com/office/drawing/2014/main" id="{C9F6228B-60FD-1036-DD68-12C367FA656C}"/>
              </a:ext>
            </a:extLst>
          </p:cNvPr>
          <p:cNvSpPr txBox="1"/>
          <p:nvPr/>
        </p:nvSpPr>
        <p:spPr>
          <a:xfrm>
            <a:off x="12392023" y="3600874"/>
            <a:ext cx="1140334" cy="3308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sz="1600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City.java</a:t>
            </a:r>
            <a:endParaRPr lang="en-US" altLang="zh-CN" sz="1600" dirty="0">
              <a:solidFill>
                <a:srgbClr val="000000"/>
              </a:solidFill>
              <a:latin typeface="Garet" panose="02010600030101010101" charset="0"/>
              <a:ea typeface="Garet"/>
              <a:cs typeface="Garet"/>
              <a:sym typeface="Garet"/>
            </a:endParaRPr>
          </a:p>
        </p:txBody>
      </p:sp>
      <p:sp>
        <p:nvSpPr>
          <p:cNvPr id="24" name="TextBox 9">
            <a:extLst>
              <a:ext uri="{FF2B5EF4-FFF2-40B4-BE49-F238E27FC236}">
                <a16:creationId xmlns:a16="http://schemas.microsoft.com/office/drawing/2014/main" id="{F1C58C05-5FE1-D307-47B3-5A383CC579CC}"/>
              </a:ext>
            </a:extLst>
          </p:cNvPr>
          <p:cNvSpPr txBox="1"/>
          <p:nvPr/>
        </p:nvSpPr>
        <p:spPr>
          <a:xfrm>
            <a:off x="12392022" y="3948998"/>
            <a:ext cx="1323977" cy="3308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sz="1600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Graph.java</a:t>
            </a:r>
            <a:endParaRPr lang="en-US" altLang="zh-CN" sz="1600" dirty="0">
              <a:solidFill>
                <a:srgbClr val="000000"/>
              </a:solidFill>
              <a:latin typeface="Garet" panose="02010600030101010101" charset="0"/>
              <a:ea typeface="Garet"/>
              <a:cs typeface="Garet"/>
              <a:sym typeface="Garet"/>
            </a:endParaRPr>
          </a:p>
        </p:txBody>
      </p:sp>
      <p:sp>
        <p:nvSpPr>
          <p:cNvPr id="25" name="TextBox 9">
            <a:extLst>
              <a:ext uri="{FF2B5EF4-FFF2-40B4-BE49-F238E27FC236}">
                <a16:creationId xmlns:a16="http://schemas.microsoft.com/office/drawing/2014/main" id="{CB90432D-7903-18F9-FEB2-E4310A4831E8}"/>
              </a:ext>
            </a:extLst>
          </p:cNvPr>
          <p:cNvSpPr txBox="1"/>
          <p:nvPr/>
        </p:nvSpPr>
        <p:spPr>
          <a:xfrm>
            <a:off x="12392021" y="4273495"/>
            <a:ext cx="2466979" cy="3308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sz="1600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PlaceOfInterest.java</a:t>
            </a:r>
            <a:endParaRPr lang="en-US" altLang="zh-CN" sz="1600" dirty="0">
              <a:solidFill>
                <a:srgbClr val="000000"/>
              </a:solidFill>
              <a:latin typeface="Garet" panose="02010600030101010101" charset="0"/>
              <a:ea typeface="Garet"/>
              <a:cs typeface="Garet"/>
              <a:sym typeface="Garet"/>
            </a:endParaRPr>
          </a:p>
        </p:txBody>
      </p:sp>
      <p:sp>
        <p:nvSpPr>
          <p:cNvPr id="26" name="TextBox 9">
            <a:extLst>
              <a:ext uri="{FF2B5EF4-FFF2-40B4-BE49-F238E27FC236}">
                <a16:creationId xmlns:a16="http://schemas.microsoft.com/office/drawing/2014/main" id="{B4FC364E-5098-D3B5-CC33-1E792F2A2248}"/>
              </a:ext>
            </a:extLst>
          </p:cNvPr>
          <p:cNvSpPr txBox="1"/>
          <p:nvPr/>
        </p:nvSpPr>
        <p:spPr>
          <a:xfrm>
            <a:off x="12392020" y="4604355"/>
            <a:ext cx="1323977" cy="3308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sz="1600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Road.java</a:t>
            </a:r>
            <a:endParaRPr lang="en-US" altLang="zh-CN" sz="1600" dirty="0">
              <a:solidFill>
                <a:srgbClr val="000000"/>
              </a:solidFill>
              <a:latin typeface="Garet" panose="02010600030101010101" charset="0"/>
              <a:ea typeface="Garet"/>
              <a:cs typeface="Garet"/>
              <a:sym typeface="Garet"/>
            </a:endParaRPr>
          </a:p>
        </p:txBody>
      </p:sp>
      <p:sp>
        <p:nvSpPr>
          <p:cNvPr id="27" name="TextBox 9">
            <a:extLst>
              <a:ext uri="{FF2B5EF4-FFF2-40B4-BE49-F238E27FC236}">
                <a16:creationId xmlns:a16="http://schemas.microsoft.com/office/drawing/2014/main" id="{42775072-0AF1-A6E4-370A-CAF55B5ABDBB}"/>
              </a:ext>
            </a:extLst>
          </p:cNvPr>
          <p:cNvSpPr txBox="1"/>
          <p:nvPr/>
        </p:nvSpPr>
        <p:spPr>
          <a:xfrm>
            <a:off x="12392020" y="4942733"/>
            <a:ext cx="1323977" cy="3308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sz="1600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Route.java</a:t>
            </a:r>
            <a:endParaRPr lang="en-US" altLang="zh-CN" sz="1600" dirty="0">
              <a:solidFill>
                <a:srgbClr val="000000"/>
              </a:solidFill>
              <a:latin typeface="Garet" panose="02010600030101010101" charset="0"/>
              <a:ea typeface="Garet"/>
              <a:cs typeface="Garet"/>
              <a:sym typeface="Garet"/>
            </a:endParaRPr>
          </a:p>
        </p:txBody>
      </p:sp>
      <p:sp>
        <p:nvSpPr>
          <p:cNvPr id="28" name="左大括号 27">
            <a:extLst>
              <a:ext uri="{FF2B5EF4-FFF2-40B4-BE49-F238E27FC236}">
                <a16:creationId xmlns:a16="http://schemas.microsoft.com/office/drawing/2014/main" id="{6A1463BA-0CAB-029D-C6E7-0C60589BF7BC}"/>
              </a:ext>
            </a:extLst>
          </p:cNvPr>
          <p:cNvSpPr/>
          <p:nvPr/>
        </p:nvSpPr>
        <p:spPr>
          <a:xfrm>
            <a:off x="11483338" y="5516780"/>
            <a:ext cx="685799" cy="1416316"/>
          </a:xfrm>
          <a:prstGeom prst="leftBrace">
            <a:avLst/>
          </a:prstGeom>
          <a:gradFill flip="none" rotWithShape="1">
            <a:gsLst>
              <a:gs pos="0">
                <a:schemeClr val="accent4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4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4">
                  <a:lumMod val="60000"/>
                  <a:lumOff val="40000"/>
                  <a:tint val="23500"/>
                  <a:satMod val="160000"/>
                </a:schemeClr>
              </a:gs>
            </a:gsLst>
            <a:lin ang="10800000" scaled="1"/>
            <a:tileRect/>
          </a:gradFill>
          <a:ln w="1905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TextBox 9">
            <a:extLst>
              <a:ext uri="{FF2B5EF4-FFF2-40B4-BE49-F238E27FC236}">
                <a16:creationId xmlns:a16="http://schemas.microsoft.com/office/drawing/2014/main" id="{A91E6A4F-4377-D030-6B37-08AA1CB237D3}"/>
              </a:ext>
            </a:extLst>
          </p:cNvPr>
          <p:cNvSpPr txBox="1"/>
          <p:nvPr/>
        </p:nvSpPr>
        <p:spPr>
          <a:xfrm>
            <a:off x="12386692" y="5406251"/>
            <a:ext cx="2319908" cy="3308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sz="1600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ControlPanerl.java</a:t>
            </a:r>
            <a:endParaRPr lang="en-US" altLang="zh-CN" sz="1600" dirty="0">
              <a:solidFill>
                <a:srgbClr val="000000"/>
              </a:solidFill>
              <a:latin typeface="Garet" panose="02010600030101010101" charset="0"/>
              <a:ea typeface="Garet"/>
              <a:cs typeface="Garet"/>
              <a:sym typeface="Garet"/>
            </a:endParaRPr>
          </a:p>
        </p:txBody>
      </p:sp>
      <p:sp>
        <p:nvSpPr>
          <p:cNvPr id="32" name="TextBox 9">
            <a:extLst>
              <a:ext uri="{FF2B5EF4-FFF2-40B4-BE49-F238E27FC236}">
                <a16:creationId xmlns:a16="http://schemas.microsoft.com/office/drawing/2014/main" id="{E61C8D4A-629B-0B9C-6190-5B2139BB7A2F}"/>
              </a:ext>
            </a:extLst>
          </p:cNvPr>
          <p:cNvSpPr txBox="1"/>
          <p:nvPr/>
        </p:nvSpPr>
        <p:spPr>
          <a:xfrm>
            <a:off x="12386692" y="5784088"/>
            <a:ext cx="2700908" cy="3308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sz="1600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GraphResultPanel.java</a:t>
            </a:r>
            <a:endParaRPr lang="en-US" altLang="zh-CN" sz="1600" dirty="0">
              <a:solidFill>
                <a:srgbClr val="000000"/>
              </a:solidFill>
              <a:latin typeface="Garet" panose="02010600030101010101" charset="0"/>
              <a:ea typeface="Garet"/>
              <a:cs typeface="Garet"/>
              <a:sym typeface="Garet"/>
            </a:endParaRPr>
          </a:p>
        </p:txBody>
      </p:sp>
      <p:sp>
        <p:nvSpPr>
          <p:cNvPr id="33" name="TextBox 9">
            <a:extLst>
              <a:ext uri="{FF2B5EF4-FFF2-40B4-BE49-F238E27FC236}">
                <a16:creationId xmlns:a16="http://schemas.microsoft.com/office/drawing/2014/main" id="{5A55E4E5-B3A7-C15D-2FEB-B2DD825A54ED}"/>
              </a:ext>
            </a:extLst>
          </p:cNvPr>
          <p:cNvSpPr txBox="1"/>
          <p:nvPr/>
        </p:nvSpPr>
        <p:spPr>
          <a:xfrm>
            <a:off x="12386692" y="6224938"/>
            <a:ext cx="2700908" cy="3308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sz="1600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MainAppFrame.java</a:t>
            </a:r>
            <a:endParaRPr lang="en-US" altLang="zh-CN" sz="1600" dirty="0">
              <a:solidFill>
                <a:srgbClr val="000000"/>
              </a:solidFill>
              <a:latin typeface="Garet" panose="02010600030101010101" charset="0"/>
              <a:ea typeface="Garet"/>
              <a:cs typeface="Garet"/>
              <a:sym typeface="Garet"/>
            </a:endParaRPr>
          </a:p>
        </p:txBody>
      </p:sp>
      <p:sp>
        <p:nvSpPr>
          <p:cNvPr id="34" name="TextBox 9">
            <a:extLst>
              <a:ext uri="{FF2B5EF4-FFF2-40B4-BE49-F238E27FC236}">
                <a16:creationId xmlns:a16="http://schemas.microsoft.com/office/drawing/2014/main" id="{6BA5B04A-60DC-81AE-BF08-DE21332FEEC0}"/>
              </a:ext>
            </a:extLst>
          </p:cNvPr>
          <p:cNvSpPr txBox="1"/>
          <p:nvPr/>
        </p:nvSpPr>
        <p:spPr>
          <a:xfrm>
            <a:off x="12386692" y="6644404"/>
            <a:ext cx="2700908" cy="3308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sz="1600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TextResultPanel.java</a:t>
            </a:r>
            <a:endParaRPr lang="en-US" altLang="zh-CN" sz="1600" dirty="0">
              <a:solidFill>
                <a:srgbClr val="000000"/>
              </a:solidFill>
              <a:latin typeface="Garet" panose="02010600030101010101" charset="0"/>
              <a:ea typeface="Garet"/>
              <a:cs typeface="Garet"/>
              <a:sym typeface="Garet"/>
            </a:endParaRPr>
          </a:p>
        </p:txBody>
      </p:sp>
      <p:sp>
        <p:nvSpPr>
          <p:cNvPr id="35" name="左大括号 34">
            <a:extLst>
              <a:ext uri="{FF2B5EF4-FFF2-40B4-BE49-F238E27FC236}">
                <a16:creationId xmlns:a16="http://schemas.microsoft.com/office/drawing/2014/main" id="{FB649C2A-6D26-2BB9-5DA1-C46E812F574C}"/>
              </a:ext>
            </a:extLst>
          </p:cNvPr>
          <p:cNvSpPr/>
          <p:nvPr/>
        </p:nvSpPr>
        <p:spPr>
          <a:xfrm>
            <a:off x="11483337" y="7369859"/>
            <a:ext cx="685799" cy="881282"/>
          </a:xfrm>
          <a:prstGeom prst="leftBrace">
            <a:avLst/>
          </a:prstGeom>
          <a:gradFill flip="none" rotWithShape="1">
            <a:gsLst>
              <a:gs pos="0">
                <a:schemeClr val="accent4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4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4">
                  <a:lumMod val="60000"/>
                  <a:lumOff val="40000"/>
                  <a:tint val="23500"/>
                  <a:satMod val="160000"/>
                </a:schemeClr>
              </a:gs>
            </a:gsLst>
            <a:lin ang="10800000" scaled="1"/>
            <a:tileRect/>
          </a:gradFill>
          <a:ln w="1905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TextBox 9">
            <a:extLst>
              <a:ext uri="{FF2B5EF4-FFF2-40B4-BE49-F238E27FC236}">
                <a16:creationId xmlns:a16="http://schemas.microsoft.com/office/drawing/2014/main" id="{4F9325A3-BCD8-69C4-7FAF-5DD3F4D130E7}"/>
              </a:ext>
            </a:extLst>
          </p:cNvPr>
          <p:cNvSpPr txBox="1"/>
          <p:nvPr/>
        </p:nvSpPr>
        <p:spPr>
          <a:xfrm>
            <a:off x="12328016" y="7612250"/>
            <a:ext cx="5734049" cy="346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sz="2000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CsvParser.java</a:t>
            </a:r>
            <a:endParaRPr lang="en-US" altLang="zh-CN" sz="2000" dirty="0">
              <a:solidFill>
                <a:srgbClr val="000000"/>
              </a:solidFill>
              <a:latin typeface="Garet" panose="02010600030101010101" charset="0"/>
              <a:ea typeface="Garet"/>
              <a:cs typeface="Garet"/>
              <a:sym typeface="Garet"/>
            </a:endParaRPr>
          </a:p>
        </p:txBody>
      </p:sp>
      <p:sp>
        <p:nvSpPr>
          <p:cNvPr id="38" name="左大括号 37">
            <a:extLst>
              <a:ext uri="{FF2B5EF4-FFF2-40B4-BE49-F238E27FC236}">
                <a16:creationId xmlns:a16="http://schemas.microsoft.com/office/drawing/2014/main" id="{61536DC4-F15D-FE86-751B-C80D4177A5F9}"/>
              </a:ext>
            </a:extLst>
          </p:cNvPr>
          <p:cNvSpPr/>
          <p:nvPr/>
        </p:nvSpPr>
        <p:spPr>
          <a:xfrm>
            <a:off x="11518392" y="8832471"/>
            <a:ext cx="685799" cy="1104683"/>
          </a:xfrm>
          <a:prstGeom prst="leftBrace">
            <a:avLst/>
          </a:prstGeom>
          <a:gradFill flip="none" rotWithShape="1">
            <a:gsLst>
              <a:gs pos="0">
                <a:schemeClr val="accent4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4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4">
                  <a:lumMod val="60000"/>
                  <a:lumOff val="40000"/>
                  <a:tint val="23500"/>
                  <a:satMod val="160000"/>
                </a:schemeClr>
              </a:gs>
            </a:gsLst>
            <a:lin ang="10800000" scaled="1"/>
            <a:tileRect/>
          </a:gradFill>
          <a:ln w="1905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TextBox 9">
            <a:extLst>
              <a:ext uri="{FF2B5EF4-FFF2-40B4-BE49-F238E27FC236}">
                <a16:creationId xmlns:a16="http://schemas.microsoft.com/office/drawing/2014/main" id="{D58CE46F-4063-4498-88F9-7AD47D133B30}"/>
              </a:ext>
            </a:extLst>
          </p:cNvPr>
          <p:cNvSpPr txBox="1"/>
          <p:nvPr/>
        </p:nvSpPr>
        <p:spPr>
          <a:xfrm>
            <a:off x="12386692" y="8776500"/>
            <a:ext cx="5734049" cy="346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sz="2000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CityCoordinateProvider.java</a:t>
            </a:r>
            <a:endParaRPr lang="en-US" altLang="zh-CN" sz="2000" dirty="0">
              <a:solidFill>
                <a:srgbClr val="000000"/>
              </a:solidFill>
              <a:latin typeface="Garet" panose="02010600030101010101" charset="0"/>
              <a:ea typeface="Garet"/>
              <a:cs typeface="Garet"/>
              <a:sym typeface="Garet"/>
            </a:endParaRPr>
          </a:p>
        </p:txBody>
      </p:sp>
      <p:sp>
        <p:nvSpPr>
          <p:cNvPr id="40" name="TextBox 9">
            <a:extLst>
              <a:ext uri="{FF2B5EF4-FFF2-40B4-BE49-F238E27FC236}">
                <a16:creationId xmlns:a16="http://schemas.microsoft.com/office/drawing/2014/main" id="{926CE5B6-B817-AA72-DD46-2DF81DA53D53}"/>
              </a:ext>
            </a:extLst>
          </p:cNvPr>
          <p:cNvSpPr txBox="1"/>
          <p:nvPr/>
        </p:nvSpPr>
        <p:spPr>
          <a:xfrm>
            <a:off x="12386692" y="9460032"/>
            <a:ext cx="5734049" cy="346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sz="2000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Permutations.java</a:t>
            </a:r>
            <a:endParaRPr lang="en-US" altLang="zh-CN" sz="2000" dirty="0">
              <a:solidFill>
                <a:srgbClr val="000000"/>
              </a:solidFill>
              <a:latin typeface="Garet" panose="02010600030101010101" charset="0"/>
              <a:ea typeface="Garet"/>
              <a:cs typeface="Garet"/>
              <a:sym typeface="Garet"/>
            </a:endParaRPr>
          </a:p>
        </p:txBody>
      </p:sp>
      <p:sp>
        <p:nvSpPr>
          <p:cNvPr id="4" name="Freeform 8">
            <a:extLst>
              <a:ext uri="{FF2B5EF4-FFF2-40B4-BE49-F238E27FC236}">
                <a16:creationId xmlns:a16="http://schemas.microsoft.com/office/drawing/2014/main" id="{CB81F91D-5D06-E3B0-CFD5-6897C0747A8C}"/>
              </a:ext>
            </a:extLst>
          </p:cNvPr>
          <p:cNvSpPr/>
          <p:nvPr/>
        </p:nvSpPr>
        <p:spPr>
          <a:xfrm rot="10800000">
            <a:off x="15576771" y="0"/>
            <a:ext cx="2177829" cy="2843880"/>
          </a:xfrm>
          <a:custGeom>
            <a:avLst/>
            <a:gdLst/>
            <a:ahLst/>
            <a:cxnLst/>
            <a:rect l="l" t="t" r="r" b="b"/>
            <a:pathLst>
              <a:path w="2611028" h="4114800">
                <a:moveTo>
                  <a:pt x="0" y="0"/>
                </a:moveTo>
                <a:lnTo>
                  <a:pt x="2611028" y="0"/>
                </a:lnTo>
                <a:lnTo>
                  <a:pt x="26110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631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3B2CA-D18C-E88D-EA9D-173C8A3D4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198FE28-2877-BD3E-EB4B-08633BC4F0CA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A58314B6-8D2B-133D-DC3F-3FCE33DAEF73}"/>
              </a:ext>
            </a:extLst>
          </p:cNvPr>
          <p:cNvSpPr txBox="1"/>
          <p:nvPr/>
        </p:nvSpPr>
        <p:spPr>
          <a:xfrm>
            <a:off x="1981200" y="468144"/>
            <a:ext cx="11125200" cy="14875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5808"/>
              </a:lnSpc>
              <a:spcBef>
                <a:spcPct val="0"/>
              </a:spcBef>
            </a:pPr>
            <a:r>
              <a:rPr lang="en-US" sz="5000" spc="-150" dirty="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Task A – Program Design of US Road Trip Planner </a:t>
            </a:r>
          </a:p>
        </p:txBody>
      </p:sp>
      <p:sp>
        <p:nvSpPr>
          <p:cNvPr id="30" name="TextBox 9">
            <a:extLst>
              <a:ext uri="{FF2B5EF4-FFF2-40B4-BE49-F238E27FC236}">
                <a16:creationId xmlns:a16="http://schemas.microsoft.com/office/drawing/2014/main" id="{3F162C72-F4DC-E5AB-BE82-2C9E53E3599B}"/>
              </a:ext>
            </a:extLst>
          </p:cNvPr>
          <p:cNvSpPr txBox="1"/>
          <p:nvPr/>
        </p:nvSpPr>
        <p:spPr>
          <a:xfrm>
            <a:off x="990600" y="2571406"/>
            <a:ext cx="7391400" cy="4078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sz="3600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Core Data Structure Selection</a:t>
            </a:r>
          </a:p>
        </p:txBody>
      </p:sp>
      <p:sp>
        <p:nvSpPr>
          <p:cNvPr id="36" name="Freeform 5">
            <a:extLst>
              <a:ext uri="{FF2B5EF4-FFF2-40B4-BE49-F238E27FC236}">
                <a16:creationId xmlns:a16="http://schemas.microsoft.com/office/drawing/2014/main" id="{BB82AEFD-F488-507E-7640-7DB7218A193C}"/>
              </a:ext>
            </a:extLst>
          </p:cNvPr>
          <p:cNvSpPr/>
          <p:nvPr/>
        </p:nvSpPr>
        <p:spPr>
          <a:xfrm>
            <a:off x="228600" y="495300"/>
            <a:ext cx="1524000" cy="1457826"/>
          </a:xfrm>
          <a:custGeom>
            <a:avLst/>
            <a:gdLst/>
            <a:ahLst/>
            <a:cxnLst/>
            <a:rect l="l" t="t" r="r" b="b"/>
            <a:pathLst>
              <a:path w="3493612" h="3493612">
                <a:moveTo>
                  <a:pt x="0" y="0"/>
                </a:moveTo>
                <a:lnTo>
                  <a:pt x="3493612" y="0"/>
                </a:lnTo>
                <a:lnTo>
                  <a:pt x="3493612" y="3493612"/>
                </a:lnTo>
                <a:lnTo>
                  <a:pt x="0" y="34936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13" name="TextBox 9">
            <a:extLst>
              <a:ext uri="{FF2B5EF4-FFF2-40B4-BE49-F238E27FC236}">
                <a16:creationId xmlns:a16="http://schemas.microsoft.com/office/drawing/2014/main" id="{AD46A4ED-8E38-C35C-9918-17C9AF80D577}"/>
              </a:ext>
            </a:extLst>
          </p:cNvPr>
          <p:cNvSpPr txBox="1"/>
          <p:nvPr/>
        </p:nvSpPr>
        <p:spPr>
          <a:xfrm>
            <a:off x="1536700" y="6044055"/>
            <a:ext cx="2679700" cy="1107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600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Core Data Structure</a:t>
            </a:r>
          </a:p>
        </p:txBody>
      </p:sp>
      <p:sp>
        <p:nvSpPr>
          <p:cNvPr id="14" name="左大括号 13">
            <a:extLst>
              <a:ext uri="{FF2B5EF4-FFF2-40B4-BE49-F238E27FC236}">
                <a16:creationId xmlns:a16="http://schemas.microsoft.com/office/drawing/2014/main" id="{EAAEE306-8428-86E4-52E4-8A4FE16DAC73}"/>
              </a:ext>
            </a:extLst>
          </p:cNvPr>
          <p:cNvSpPr/>
          <p:nvPr/>
        </p:nvSpPr>
        <p:spPr>
          <a:xfrm>
            <a:off x="4318000" y="3924300"/>
            <a:ext cx="685800" cy="5261620"/>
          </a:xfrm>
          <a:prstGeom prst="leftBrace">
            <a:avLst/>
          </a:prstGeom>
          <a:gradFill flip="none" rotWithShape="1">
            <a:gsLst>
              <a:gs pos="0">
                <a:schemeClr val="accent4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4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4">
                  <a:lumMod val="60000"/>
                  <a:lumOff val="40000"/>
                  <a:tint val="23500"/>
                  <a:satMod val="160000"/>
                </a:schemeClr>
              </a:gs>
            </a:gsLst>
            <a:lin ang="10800000" scaled="1"/>
            <a:tileRect/>
          </a:gradFill>
          <a:ln w="1905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TextBox 9">
            <a:extLst>
              <a:ext uri="{FF2B5EF4-FFF2-40B4-BE49-F238E27FC236}">
                <a16:creationId xmlns:a16="http://schemas.microsoft.com/office/drawing/2014/main" id="{7092BD8A-9486-8F17-24C7-B8A9306B4057}"/>
              </a:ext>
            </a:extLst>
          </p:cNvPr>
          <p:cNvSpPr txBox="1"/>
          <p:nvPr/>
        </p:nvSpPr>
        <p:spPr>
          <a:xfrm>
            <a:off x="5252720" y="3823582"/>
            <a:ext cx="4191000" cy="7207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sz="2800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Graph.java – </a:t>
            </a:r>
            <a:r>
              <a:rPr lang="en-US" altLang="zh-CN" sz="2400" dirty="0">
                <a:latin typeface="Garet" panose="02010600030101010101" charset="0"/>
              </a:rPr>
              <a:t>Core of Road Network</a:t>
            </a:r>
            <a:endParaRPr lang="en-US" altLang="zh-CN" sz="2800" dirty="0">
              <a:solidFill>
                <a:srgbClr val="000000"/>
              </a:solidFill>
              <a:latin typeface="Garet" panose="02010600030101010101" charset="0"/>
              <a:ea typeface="Garet"/>
              <a:cs typeface="Garet"/>
              <a:sym typeface="Garet"/>
            </a:endParaRPr>
          </a:p>
        </p:txBody>
      </p:sp>
      <p:sp>
        <p:nvSpPr>
          <p:cNvPr id="16" name="TextBox 9">
            <a:extLst>
              <a:ext uri="{FF2B5EF4-FFF2-40B4-BE49-F238E27FC236}">
                <a16:creationId xmlns:a16="http://schemas.microsoft.com/office/drawing/2014/main" id="{7739502A-9E3F-18EC-16E1-263ACC1F180A}"/>
              </a:ext>
            </a:extLst>
          </p:cNvPr>
          <p:cNvSpPr txBox="1"/>
          <p:nvPr/>
        </p:nvSpPr>
        <p:spPr>
          <a:xfrm>
            <a:off x="5283200" y="6975135"/>
            <a:ext cx="4648200" cy="7207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sz="2800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City.java – </a:t>
            </a:r>
            <a:r>
              <a:rPr lang="en-US" altLang="zh-CN" sz="2400" dirty="0">
                <a:latin typeface="Garet" panose="02010600030101010101" charset="0"/>
              </a:rPr>
              <a:t>City information and graph’s coordination</a:t>
            </a:r>
            <a:endParaRPr lang="en-US" sz="2800" b="1" dirty="0">
              <a:solidFill>
                <a:srgbClr val="000000"/>
              </a:solidFill>
              <a:latin typeface="Garet" panose="02010600030101010101" charset="0"/>
              <a:ea typeface="Garet Bold"/>
              <a:cs typeface="Garet Bold"/>
              <a:sym typeface="Garet Bold"/>
            </a:endParaRPr>
          </a:p>
        </p:txBody>
      </p:sp>
      <p:sp>
        <p:nvSpPr>
          <p:cNvPr id="17" name="TextBox 9">
            <a:extLst>
              <a:ext uri="{FF2B5EF4-FFF2-40B4-BE49-F238E27FC236}">
                <a16:creationId xmlns:a16="http://schemas.microsoft.com/office/drawing/2014/main" id="{34A7A446-658B-7684-89F8-6602638AFEC0}"/>
              </a:ext>
            </a:extLst>
          </p:cNvPr>
          <p:cNvSpPr txBox="1"/>
          <p:nvPr/>
        </p:nvSpPr>
        <p:spPr>
          <a:xfrm>
            <a:off x="5266267" y="8844711"/>
            <a:ext cx="5654842" cy="7207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sz="2800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Route.java - </a:t>
            </a:r>
            <a:r>
              <a:rPr lang="en-US" altLang="zh-CN" sz="2400" dirty="0">
                <a:latin typeface="Garet" panose="02010600030101010101" charset="0"/>
              </a:rPr>
              <a:t>Path result encapsulation</a:t>
            </a:r>
            <a:endParaRPr lang="en-US" sz="2800" b="1" dirty="0">
              <a:solidFill>
                <a:srgbClr val="000000"/>
              </a:solidFill>
              <a:latin typeface="Garet" panose="02010600030101010101" charset="0"/>
              <a:ea typeface="Garet Bold"/>
              <a:cs typeface="Garet Bold"/>
              <a:sym typeface="Garet Bold"/>
            </a:endParaRPr>
          </a:p>
        </p:txBody>
      </p:sp>
      <p:sp>
        <p:nvSpPr>
          <p:cNvPr id="19" name="左大括号 18">
            <a:extLst>
              <a:ext uri="{FF2B5EF4-FFF2-40B4-BE49-F238E27FC236}">
                <a16:creationId xmlns:a16="http://schemas.microsoft.com/office/drawing/2014/main" id="{BD74EA5B-C586-ADD8-C7B3-9E3834EB77B3}"/>
              </a:ext>
            </a:extLst>
          </p:cNvPr>
          <p:cNvSpPr/>
          <p:nvPr/>
        </p:nvSpPr>
        <p:spPr>
          <a:xfrm>
            <a:off x="9702800" y="2498232"/>
            <a:ext cx="685799" cy="3371411"/>
          </a:xfrm>
          <a:prstGeom prst="leftBrace">
            <a:avLst/>
          </a:prstGeom>
          <a:gradFill flip="none" rotWithShape="1">
            <a:gsLst>
              <a:gs pos="0">
                <a:schemeClr val="accent4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4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4">
                  <a:lumMod val="60000"/>
                  <a:lumOff val="40000"/>
                  <a:tint val="23500"/>
                  <a:satMod val="160000"/>
                </a:schemeClr>
              </a:gs>
            </a:gsLst>
            <a:lin ang="10800000" scaled="1"/>
            <a:tileRect/>
          </a:gradFill>
          <a:ln w="1905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左大括号 19">
            <a:extLst>
              <a:ext uri="{FF2B5EF4-FFF2-40B4-BE49-F238E27FC236}">
                <a16:creationId xmlns:a16="http://schemas.microsoft.com/office/drawing/2014/main" id="{29B65708-CD32-19A9-6A85-673802A3ABED}"/>
              </a:ext>
            </a:extLst>
          </p:cNvPr>
          <p:cNvSpPr/>
          <p:nvPr/>
        </p:nvSpPr>
        <p:spPr>
          <a:xfrm>
            <a:off x="9702801" y="6325057"/>
            <a:ext cx="685799" cy="1725796"/>
          </a:xfrm>
          <a:prstGeom prst="leftBrace">
            <a:avLst/>
          </a:prstGeom>
          <a:gradFill flip="none" rotWithShape="1">
            <a:gsLst>
              <a:gs pos="0">
                <a:schemeClr val="accent4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4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4">
                  <a:lumMod val="60000"/>
                  <a:lumOff val="40000"/>
                  <a:tint val="23500"/>
                  <a:satMod val="160000"/>
                </a:schemeClr>
              </a:gs>
            </a:gsLst>
            <a:lin ang="10800000" scaled="1"/>
            <a:tileRect/>
          </a:gradFill>
          <a:ln w="1905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TextBox 9">
            <a:extLst>
              <a:ext uri="{FF2B5EF4-FFF2-40B4-BE49-F238E27FC236}">
                <a16:creationId xmlns:a16="http://schemas.microsoft.com/office/drawing/2014/main" id="{0621ECCC-F26C-CA43-0DE0-6511516270D5}"/>
              </a:ext>
            </a:extLst>
          </p:cNvPr>
          <p:cNvSpPr txBox="1"/>
          <p:nvPr/>
        </p:nvSpPr>
        <p:spPr>
          <a:xfrm>
            <a:off x="10509251" y="2533763"/>
            <a:ext cx="6400800" cy="17979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sz="2800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Map&lt;City, List&lt;Road&gt;&gt;– </a:t>
            </a:r>
            <a:r>
              <a:rPr lang="en-US" altLang="zh-CN" sz="2400" dirty="0">
                <a:latin typeface="Garet" panose="02010600030101010101" charset="0"/>
              </a:rPr>
              <a:t>Adjacency list is chosen to represent sparse highway network; </a:t>
            </a:r>
          </a:p>
          <a:p>
            <a:pPr>
              <a:lnSpc>
                <a:spcPts val="28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Garet" panose="02010600030101010101" charset="0"/>
                <a:ea typeface="Garet"/>
                <a:cs typeface="Garet"/>
                <a:sym typeface="Garet"/>
              </a:rPr>
              <a:t>Merit: Space efficient and fast neighbor traversal</a:t>
            </a:r>
            <a:endParaRPr lang="en-US" altLang="zh-CN" sz="2800" dirty="0">
              <a:solidFill>
                <a:srgbClr val="000000"/>
              </a:solidFill>
              <a:latin typeface="Garet" panose="02010600030101010101" charset="0"/>
              <a:ea typeface="Garet"/>
              <a:cs typeface="Garet"/>
              <a:sym typeface="Garet"/>
            </a:endParaRPr>
          </a:p>
        </p:txBody>
      </p:sp>
      <p:sp>
        <p:nvSpPr>
          <p:cNvPr id="22" name="TextBox 9">
            <a:extLst>
              <a:ext uri="{FF2B5EF4-FFF2-40B4-BE49-F238E27FC236}">
                <a16:creationId xmlns:a16="http://schemas.microsoft.com/office/drawing/2014/main" id="{C21CFB9D-8C71-5DD6-C564-5E5BE1CE901B}"/>
              </a:ext>
            </a:extLst>
          </p:cNvPr>
          <p:cNvSpPr txBox="1"/>
          <p:nvPr/>
        </p:nvSpPr>
        <p:spPr>
          <a:xfrm>
            <a:off x="10534651" y="4489494"/>
            <a:ext cx="6400800" cy="14388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sz="2800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Map&lt;String, City&gt; – </a:t>
            </a:r>
            <a:r>
              <a:rPr lang="en-US" altLang="zh-CN" sz="2400" dirty="0">
                <a:latin typeface="Garet" panose="02010600030101010101" charset="0"/>
              </a:rPr>
              <a:t>Quickly locate City objects by city name;</a:t>
            </a:r>
          </a:p>
          <a:p>
            <a:pPr>
              <a:lnSpc>
                <a:spcPts val="28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Garet" panose="02010600030101010101" charset="0"/>
                <a:ea typeface="Garet"/>
                <a:cs typeface="Garet"/>
                <a:sym typeface="Garet"/>
              </a:rPr>
              <a:t>Merit: O(1) Average search and ensure the uniqueness of the city</a:t>
            </a:r>
            <a:endParaRPr lang="en-US" altLang="zh-CN" sz="2800" dirty="0">
              <a:solidFill>
                <a:srgbClr val="000000"/>
              </a:solidFill>
              <a:latin typeface="Garet" panose="02010600030101010101" charset="0"/>
              <a:ea typeface="Garet"/>
              <a:cs typeface="Garet"/>
              <a:sym typeface="Garet"/>
            </a:endParaRPr>
          </a:p>
        </p:txBody>
      </p:sp>
      <p:sp>
        <p:nvSpPr>
          <p:cNvPr id="24" name="TextBox 9">
            <a:extLst>
              <a:ext uri="{FF2B5EF4-FFF2-40B4-BE49-F238E27FC236}">
                <a16:creationId xmlns:a16="http://schemas.microsoft.com/office/drawing/2014/main" id="{067582AF-7A1D-F94D-3D97-EA62B97F0ACE}"/>
              </a:ext>
            </a:extLst>
          </p:cNvPr>
          <p:cNvSpPr txBox="1"/>
          <p:nvPr/>
        </p:nvSpPr>
        <p:spPr>
          <a:xfrm>
            <a:off x="10509250" y="6256712"/>
            <a:ext cx="5111750" cy="3770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sz="2800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City Name; Coordination</a:t>
            </a:r>
            <a:endParaRPr lang="en-US" altLang="zh-CN" sz="2800" dirty="0">
              <a:solidFill>
                <a:srgbClr val="000000"/>
              </a:solidFill>
              <a:latin typeface="Garet" panose="02010600030101010101" charset="0"/>
              <a:ea typeface="Garet"/>
              <a:cs typeface="Garet"/>
              <a:sym typeface="Garet"/>
            </a:endParaRPr>
          </a:p>
        </p:txBody>
      </p:sp>
      <p:sp>
        <p:nvSpPr>
          <p:cNvPr id="26" name="TextBox 9">
            <a:extLst>
              <a:ext uri="{FF2B5EF4-FFF2-40B4-BE49-F238E27FC236}">
                <a16:creationId xmlns:a16="http://schemas.microsoft.com/office/drawing/2014/main" id="{3D2BE646-0680-0360-0B9D-F08AE46F7423}"/>
              </a:ext>
            </a:extLst>
          </p:cNvPr>
          <p:cNvSpPr txBox="1"/>
          <p:nvPr/>
        </p:nvSpPr>
        <p:spPr>
          <a:xfrm>
            <a:off x="10509251" y="6798790"/>
            <a:ext cx="6400800" cy="14388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sz="2800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Map&lt;City, Integer&gt; – </a:t>
            </a:r>
            <a:r>
              <a:rPr lang="en-US" altLang="zh-CN" sz="2400" dirty="0">
                <a:latin typeface="Garet" panose="02010600030101010101" charset="0"/>
              </a:rPr>
              <a:t>Stores the city and distance to which it is directly connected;</a:t>
            </a:r>
          </a:p>
          <a:p>
            <a:pPr>
              <a:lnSpc>
                <a:spcPts val="28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Garet" panose="02010600030101010101" charset="0"/>
                <a:ea typeface="Garet"/>
                <a:cs typeface="Garet"/>
                <a:sym typeface="Garet"/>
              </a:rPr>
              <a:t>Merit: Fast retrieve speed.</a:t>
            </a:r>
            <a:endParaRPr lang="en-US" altLang="zh-CN" sz="2800" dirty="0">
              <a:solidFill>
                <a:srgbClr val="000000"/>
              </a:solidFill>
              <a:latin typeface="Garet" panose="02010600030101010101" charset="0"/>
              <a:ea typeface="Garet"/>
              <a:cs typeface="Garet"/>
              <a:sym typeface="Garet"/>
            </a:endParaRPr>
          </a:p>
        </p:txBody>
      </p:sp>
      <p:sp>
        <p:nvSpPr>
          <p:cNvPr id="28" name="左大括号 27">
            <a:extLst>
              <a:ext uri="{FF2B5EF4-FFF2-40B4-BE49-F238E27FC236}">
                <a16:creationId xmlns:a16="http://schemas.microsoft.com/office/drawing/2014/main" id="{407DE5EC-3C1C-7C35-2D0F-5E006E21F8A1}"/>
              </a:ext>
            </a:extLst>
          </p:cNvPr>
          <p:cNvSpPr/>
          <p:nvPr/>
        </p:nvSpPr>
        <p:spPr>
          <a:xfrm>
            <a:off x="9702799" y="8519094"/>
            <a:ext cx="685799" cy="1222799"/>
          </a:xfrm>
          <a:prstGeom prst="leftBrace">
            <a:avLst/>
          </a:prstGeom>
          <a:gradFill flip="none" rotWithShape="1">
            <a:gsLst>
              <a:gs pos="0">
                <a:schemeClr val="accent4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4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4">
                  <a:lumMod val="60000"/>
                  <a:lumOff val="40000"/>
                  <a:tint val="23500"/>
                  <a:satMod val="160000"/>
                </a:schemeClr>
              </a:gs>
            </a:gsLst>
            <a:lin ang="10800000" scaled="1"/>
            <a:tileRect/>
          </a:gradFill>
          <a:ln w="1905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TextBox 9">
            <a:extLst>
              <a:ext uri="{FF2B5EF4-FFF2-40B4-BE49-F238E27FC236}">
                <a16:creationId xmlns:a16="http://schemas.microsoft.com/office/drawing/2014/main" id="{017428DC-EECB-F962-6822-56364E75569B}"/>
              </a:ext>
            </a:extLst>
          </p:cNvPr>
          <p:cNvSpPr txBox="1"/>
          <p:nvPr/>
        </p:nvSpPr>
        <p:spPr>
          <a:xfrm>
            <a:off x="10509251" y="8459014"/>
            <a:ext cx="6400800" cy="7207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sz="2800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List&lt;</a:t>
            </a:r>
            <a:r>
              <a:rPr lang="en-US" sz="2800" b="1" dirty="0" err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PlaceOfInterest</a:t>
            </a:r>
            <a:r>
              <a:rPr lang="en-US" sz="2800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&gt;– </a:t>
            </a:r>
            <a:r>
              <a:rPr lang="en-US" sz="2400" b="1" dirty="0">
                <a:solidFill>
                  <a:srgbClr val="000000"/>
                </a:solidFill>
                <a:latin typeface="Garet" panose="02010600030101010101" charset="0"/>
                <a:ea typeface="Garet Bold"/>
                <a:cs typeface="Garet Bold"/>
                <a:sym typeface="Garet Bold"/>
              </a:rPr>
              <a:t>L</a:t>
            </a:r>
            <a:r>
              <a:rPr lang="en-US" altLang="zh-CN" sz="2400" dirty="0">
                <a:latin typeface="Garet" panose="02010600030101010101" charset="0"/>
              </a:rPr>
              <a:t>ist of interests selected.</a:t>
            </a:r>
            <a:endParaRPr lang="en-US" altLang="zh-CN" sz="2800" dirty="0">
              <a:solidFill>
                <a:srgbClr val="000000"/>
              </a:solidFill>
              <a:latin typeface="Garet" panose="02010600030101010101" charset="0"/>
              <a:ea typeface="Garet"/>
              <a:cs typeface="Garet"/>
              <a:sym typeface="Garet"/>
            </a:endParaRPr>
          </a:p>
        </p:txBody>
      </p:sp>
      <p:sp>
        <p:nvSpPr>
          <p:cNvPr id="31" name="TextBox 9">
            <a:extLst>
              <a:ext uri="{FF2B5EF4-FFF2-40B4-BE49-F238E27FC236}">
                <a16:creationId xmlns:a16="http://schemas.microsoft.com/office/drawing/2014/main" id="{3660E259-9AA6-76CB-379B-6C2573A48EF2}"/>
              </a:ext>
            </a:extLst>
          </p:cNvPr>
          <p:cNvSpPr txBox="1"/>
          <p:nvPr/>
        </p:nvSpPr>
        <p:spPr>
          <a:xfrm>
            <a:off x="10534651" y="9373811"/>
            <a:ext cx="6400800" cy="3770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sz="2800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Start, end City</a:t>
            </a:r>
            <a:endParaRPr lang="en-US" altLang="zh-CN" sz="2800" dirty="0">
              <a:solidFill>
                <a:srgbClr val="000000"/>
              </a:solidFill>
              <a:latin typeface="Garet" panose="02010600030101010101" charset="0"/>
              <a:ea typeface="Garet"/>
              <a:cs typeface="Garet"/>
              <a:sym typeface="Garet"/>
            </a:endParaRPr>
          </a:p>
        </p:txBody>
      </p:sp>
    </p:spTree>
    <p:extLst>
      <p:ext uri="{BB962C8B-B14F-4D97-AF65-F5344CB8AC3E}">
        <p14:creationId xmlns:p14="http://schemas.microsoft.com/office/powerpoint/2010/main" val="29943577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A5B399-296F-79FF-D3A0-D10FDD02C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4F99484-2B4B-190B-BCA9-B1CDC36F29D1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3C0D6EEA-CC60-8166-8975-A140F454CCDE}"/>
              </a:ext>
            </a:extLst>
          </p:cNvPr>
          <p:cNvSpPr txBox="1"/>
          <p:nvPr/>
        </p:nvSpPr>
        <p:spPr>
          <a:xfrm>
            <a:off x="1981200" y="468144"/>
            <a:ext cx="11125200" cy="14875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5808"/>
              </a:lnSpc>
              <a:spcBef>
                <a:spcPct val="0"/>
              </a:spcBef>
            </a:pPr>
            <a:r>
              <a:rPr lang="en-US" sz="5000" spc="-150" dirty="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Task A – Program Design of US Road Trip Planner </a:t>
            </a:r>
          </a:p>
        </p:txBody>
      </p:sp>
      <p:sp>
        <p:nvSpPr>
          <p:cNvPr id="30" name="TextBox 9">
            <a:extLst>
              <a:ext uri="{FF2B5EF4-FFF2-40B4-BE49-F238E27FC236}">
                <a16:creationId xmlns:a16="http://schemas.microsoft.com/office/drawing/2014/main" id="{932FBA84-7732-77A1-0B37-35D0CF4B04F7}"/>
              </a:ext>
            </a:extLst>
          </p:cNvPr>
          <p:cNvSpPr txBox="1"/>
          <p:nvPr/>
        </p:nvSpPr>
        <p:spPr>
          <a:xfrm>
            <a:off x="990600" y="2287666"/>
            <a:ext cx="10134600" cy="4078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sz="3600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Program workflow and main interactions</a:t>
            </a:r>
          </a:p>
        </p:txBody>
      </p:sp>
      <p:sp>
        <p:nvSpPr>
          <p:cNvPr id="36" name="Freeform 5">
            <a:extLst>
              <a:ext uri="{FF2B5EF4-FFF2-40B4-BE49-F238E27FC236}">
                <a16:creationId xmlns:a16="http://schemas.microsoft.com/office/drawing/2014/main" id="{0D6C0658-63DD-92EA-8CCE-EFB67F2D92FF}"/>
              </a:ext>
            </a:extLst>
          </p:cNvPr>
          <p:cNvSpPr/>
          <p:nvPr/>
        </p:nvSpPr>
        <p:spPr>
          <a:xfrm>
            <a:off x="228600" y="495300"/>
            <a:ext cx="1524000" cy="1457826"/>
          </a:xfrm>
          <a:custGeom>
            <a:avLst/>
            <a:gdLst/>
            <a:ahLst/>
            <a:cxnLst/>
            <a:rect l="l" t="t" r="r" b="b"/>
            <a:pathLst>
              <a:path w="3493612" h="3493612">
                <a:moveTo>
                  <a:pt x="0" y="0"/>
                </a:moveTo>
                <a:lnTo>
                  <a:pt x="3493612" y="0"/>
                </a:lnTo>
                <a:lnTo>
                  <a:pt x="3493612" y="3493612"/>
                </a:lnTo>
                <a:lnTo>
                  <a:pt x="0" y="34936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3" name="TextBox 8">
            <a:extLst>
              <a:ext uri="{FF2B5EF4-FFF2-40B4-BE49-F238E27FC236}">
                <a16:creationId xmlns:a16="http://schemas.microsoft.com/office/drawing/2014/main" id="{56C2BED7-2260-44D3-9834-F220D3C96E48}"/>
              </a:ext>
            </a:extLst>
          </p:cNvPr>
          <p:cNvSpPr txBox="1"/>
          <p:nvPr/>
        </p:nvSpPr>
        <p:spPr>
          <a:xfrm>
            <a:off x="990600" y="4381500"/>
            <a:ext cx="7620000" cy="25853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buFont typeface="+mj-lt"/>
              <a:buAutoNum type="arabicPeriod"/>
            </a:pPr>
            <a:r>
              <a:rPr lang="en-GB" altLang="zh-CN" sz="2800" b="1" i="0" dirty="0">
                <a:solidFill>
                  <a:srgbClr val="202124"/>
                </a:solidFill>
                <a:effectLst/>
                <a:latin typeface="Garet" panose="02010600030101010101" charset="0"/>
              </a:rPr>
              <a:t>Startup &amp; Data Preparation (</a:t>
            </a:r>
            <a:r>
              <a:rPr lang="en-GB" altLang="zh-CN" sz="2800" b="1" i="0" dirty="0" err="1">
                <a:solidFill>
                  <a:srgbClr val="202124"/>
                </a:solidFill>
                <a:effectLst/>
                <a:latin typeface="Garet" panose="02010600030101010101" charset="0"/>
              </a:rPr>
              <a:t>MainAppFrame</a:t>
            </a:r>
            <a:r>
              <a:rPr lang="en-GB" altLang="zh-CN" sz="2800" b="1" i="0" dirty="0">
                <a:solidFill>
                  <a:srgbClr val="202124"/>
                </a:solidFill>
                <a:effectLst/>
                <a:latin typeface="Garet" panose="02010600030101010101" charset="0"/>
              </a:rPr>
              <a:t>)</a:t>
            </a:r>
            <a:r>
              <a:rPr lang="en-GB" altLang="zh-CN" sz="2800" b="0" i="0" dirty="0">
                <a:solidFill>
                  <a:srgbClr val="202124"/>
                </a:solidFill>
                <a:effectLst/>
                <a:latin typeface="Garet" panose="02010600030101010101" charset="0"/>
              </a:rPr>
              <a:t>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altLang="zh-CN" sz="2800" b="0" i="0" dirty="0" err="1">
                <a:solidFill>
                  <a:srgbClr val="202124"/>
                </a:solidFill>
                <a:effectLst/>
                <a:latin typeface="Garet" panose="02010600030101010101" charset="0"/>
              </a:rPr>
              <a:t>CSVParser</a:t>
            </a:r>
            <a:r>
              <a:rPr lang="en-GB" altLang="zh-CN" sz="2800" b="0" i="0" dirty="0">
                <a:solidFill>
                  <a:srgbClr val="202124"/>
                </a:solidFill>
                <a:effectLst/>
                <a:latin typeface="Garet" panose="02010600030101010101" charset="0"/>
              </a:rPr>
              <a:t> </a:t>
            </a:r>
            <a:r>
              <a:rPr lang="zh-CN" altLang="en-US" sz="2800" b="0" i="0" dirty="0">
                <a:solidFill>
                  <a:srgbClr val="202124"/>
                </a:solidFill>
                <a:effectLst/>
                <a:latin typeface="Garet" panose="02010600030101010101" charset="0"/>
              </a:rPr>
              <a:t>→ </a:t>
            </a:r>
            <a:r>
              <a:rPr lang="en-US" altLang="zh-CN" sz="2800" b="0" i="0" dirty="0">
                <a:solidFill>
                  <a:srgbClr val="202124"/>
                </a:solidFill>
                <a:effectLst/>
                <a:latin typeface="Garet" panose="02010600030101010101" charset="0"/>
              </a:rPr>
              <a:t>Load attractions.csv, roads.csv </a:t>
            </a:r>
            <a:r>
              <a:rPr lang="zh-CN" altLang="en-US" sz="2800" b="0" i="0" dirty="0">
                <a:solidFill>
                  <a:srgbClr val="202124"/>
                </a:solidFill>
                <a:effectLst/>
                <a:latin typeface="Garet" panose="02010600030101010101" charset="0"/>
              </a:rPr>
              <a:t>→</a:t>
            </a:r>
            <a:r>
              <a:rPr lang="en-US" altLang="zh-CN" sz="2800" b="0" i="0" dirty="0">
                <a:solidFill>
                  <a:srgbClr val="202124"/>
                </a:solidFill>
                <a:effectLst/>
                <a:latin typeface="Garet" panose="02010600030101010101" charset="0"/>
              </a:rPr>
              <a:t> Fill Graph.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zh-CN" sz="2800" b="0" i="0" dirty="0" err="1">
                <a:solidFill>
                  <a:srgbClr val="202124"/>
                </a:solidFill>
                <a:effectLst/>
                <a:latin typeface="Garet" panose="02010600030101010101" charset="0"/>
              </a:rPr>
              <a:t>CityCoordinateProvider</a:t>
            </a:r>
            <a:r>
              <a:rPr lang="en-US" altLang="zh-CN" sz="2800" b="0" i="0" dirty="0">
                <a:solidFill>
                  <a:srgbClr val="202124"/>
                </a:solidFill>
                <a:effectLst/>
                <a:latin typeface="Garet" panose="02010600030101010101" charset="0"/>
              </a:rPr>
              <a:t> </a:t>
            </a:r>
            <a:r>
              <a:rPr lang="zh-CN" altLang="en-US" sz="2800" b="0" i="0" dirty="0">
                <a:solidFill>
                  <a:srgbClr val="202124"/>
                </a:solidFill>
                <a:effectLst/>
                <a:latin typeface="Garet" panose="02010600030101010101" charset="0"/>
              </a:rPr>
              <a:t>→</a:t>
            </a:r>
            <a:r>
              <a:rPr lang="en-US" altLang="zh-CN" sz="2800" b="0" i="0" dirty="0">
                <a:solidFill>
                  <a:srgbClr val="202124"/>
                </a:solidFill>
                <a:effectLst/>
                <a:latin typeface="Garet" panose="02010600030101010101" charset="0"/>
              </a:rPr>
              <a:t> Set graph coordinates for City objects.</a:t>
            </a:r>
            <a:endParaRPr lang="en-GB" altLang="zh-CN" sz="2800" b="0" i="0" dirty="0">
              <a:solidFill>
                <a:srgbClr val="202124"/>
              </a:solidFill>
              <a:effectLst/>
              <a:latin typeface="Garet" panose="02010600030101010101" charset="0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70EDAE05-D841-ED7B-8522-153C6D8EADA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6340" y="3832655"/>
            <a:ext cx="8980520" cy="3837682"/>
          </a:xfrm>
          <a:prstGeom prst="rect">
            <a:avLst/>
          </a:prstGeom>
        </p:spPr>
      </p:pic>
      <p:sp>
        <p:nvSpPr>
          <p:cNvPr id="12" name="Freeform 9">
            <a:extLst>
              <a:ext uri="{FF2B5EF4-FFF2-40B4-BE49-F238E27FC236}">
                <a16:creationId xmlns:a16="http://schemas.microsoft.com/office/drawing/2014/main" id="{BA0FFA56-B598-FDBE-C541-E13712393FBC}"/>
              </a:ext>
            </a:extLst>
          </p:cNvPr>
          <p:cNvSpPr/>
          <p:nvPr/>
        </p:nvSpPr>
        <p:spPr>
          <a:xfrm>
            <a:off x="971673" y="8616568"/>
            <a:ext cx="3493612" cy="1200532"/>
          </a:xfrm>
          <a:custGeom>
            <a:avLst/>
            <a:gdLst/>
            <a:ahLst/>
            <a:cxnLst/>
            <a:rect l="l" t="t" r="r" b="b"/>
            <a:pathLst>
              <a:path w="3493612" h="1200532">
                <a:moveTo>
                  <a:pt x="0" y="0"/>
                </a:moveTo>
                <a:lnTo>
                  <a:pt x="3493612" y="0"/>
                </a:lnTo>
                <a:lnTo>
                  <a:pt x="3493612" y="1200532"/>
                </a:lnTo>
                <a:lnTo>
                  <a:pt x="0" y="120053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14" name="Freeform 3">
            <a:extLst>
              <a:ext uri="{FF2B5EF4-FFF2-40B4-BE49-F238E27FC236}">
                <a16:creationId xmlns:a16="http://schemas.microsoft.com/office/drawing/2014/main" id="{C1524526-24A0-845C-D3AF-10C830780576}"/>
              </a:ext>
            </a:extLst>
          </p:cNvPr>
          <p:cNvSpPr/>
          <p:nvPr/>
        </p:nvSpPr>
        <p:spPr>
          <a:xfrm>
            <a:off x="15172736" y="8520912"/>
            <a:ext cx="2570276" cy="1270788"/>
          </a:xfrm>
          <a:custGeom>
            <a:avLst/>
            <a:gdLst/>
            <a:ahLst/>
            <a:cxnLst/>
            <a:rect l="l" t="t" r="r" b="b"/>
            <a:pathLst>
              <a:path w="3493612" h="1759510">
                <a:moveTo>
                  <a:pt x="0" y="0"/>
                </a:moveTo>
                <a:lnTo>
                  <a:pt x="3493612" y="0"/>
                </a:lnTo>
                <a:lnTo>
                  <a:pt x="3493612" y="1759510"/>
                </a:lnTo>
                <a:lnTo>
                  <a:pt x="0" y="175951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CN" altLang="en-US" dirty="0"/>
          </a:p>
        </p:txBody>
      </p:sp>
      <p:sp>
        <p:nvSpPr>
          <p:cNvPr id="15" name="Freeform 8">
            <a:extLst>
              <a:ext uri="{FF2B5EF4-FFF2-40B4-BE49-F238E27FC236}">
                <a16:creationId xmlns:a16="http://schemas.microsoft.com/office/drawing/2014/main" id="{683BD014-8D18-F867-BBC1-D7676AF3960A}"/>
              </a:ext>
            </a:extLst>
          </p:cNvPr>
          <p:cNvSpPr/>
          <p:nvPr/>
        </p:nvSpPr>
        <p:spPr>
          <a:xfrm rot="10800000">
            <a:off x="15172736" y="0"/>
            <a:ext cx="2177829" cy="2843880"/>
          </a:xfrm>
          <a:custGeom>
            <a:avLst/>
            <a:gdLst/>
            <a:ahLst/>
            <a:cxnLst/>
            <a:rect l="l" t="t" r="r" b="b"/>
            <a:pathLst>
              <a:path w="2611028" h="4114800">
                <a:moveTo>
                  <a:pt x="0" y="0"/>
                </a:moveTo>
                <a:lnTo>
                  <a:pt x="2611028" y="0"/>
                </a:lnTo>
                <a:lnTo>
                  <a:pt x="26110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83692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13D56-1793-5A47-DE98-429E83F85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19F7EDF-1210-6545-D8D4-060E159E8D53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18AC7DE8-436A-441B-A42E-740078A40F05}"/>
              </a:ext>
            </a:extLst>
          </p:cNvPr>
          <p:cNvSpPr txBox="1"/>
          <p:nvPr/>
        </p:nvSpPr>
        <p:spPr>
          <a:xfrm>
            <a:off x="1981200" y="468144"/>
            <a:ext cx="11125200" cy="14875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5808"/>
              </a:lnSpc>
              <a:spcBef>
                <a:spcPct val="0"/>
              </a:spcBef>
            </a:pPr>
            <a:r>
              <a:rPr lang="en-US" sz="5000" spc="-150" dirty="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Task A – Program Design of US Road Trip Planner </a:t>
            </a:r>
          </a:p>
        </p:txBody>
      </p:sp>
      <p:sp>
        <p:nvSpPr>
          <p:cNvPr id="30" name="TextBox 9">
            <a:extLst>
              <a:ext uri="{FF2B5EF4-FFF2-40B4-BE49-F238E27FC236}">
                <a16:creationId xmlns:a16="http://schemas.microsoft.com/office/drawing/2014/main" id="{E04B20D0-37A6-C962-6283-9DA1B7BCE1F7}"/>
              </a:ext>
            </a:extLst>
          </p:cNvPr>
          <p:cNvSpPr txBox="1"/>
          <p:nvPr/>
        </p:nvSpPr>
        <p:spPr>
          <a:xfrm>
            <a:off x="990600" y="2287666"/>
            <a:ext cx="10134600" cy="4078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sz="3600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Program workflow and main interactions</a:t>
            </a:r>
          </a:p>
        </p:txBody>
      </p:sp>
      <p:sp>
        <p:nvSpPr>
          <p:cNvPr id="36" name="Freeform 5">
            <a:extLst>
              <a:ext uri="{FF2B5EF4-FFF2-40B4-BE49-F238E27FC236}">
                <a16:creationId xmlns:a16="http://schemas.microsoft.com/office/drawing/2014/main" id="{96133DB2-2E85-88D3-7B66-C2F9C3894831}"/>
              </a:ext>
            </a:extLst>
          </p:cNvPr>
          <p:cNvSpPr/>
          <p:nvPr/>
        </p:nvSpPr>
        <p:spPr>
          <a:xfrm>
            <a:off x="228600" y="495300"/>
            <a:ext cx="1524000" cy="1457826"/>
          </a:xfrm>
          <a:custGeom>
            <a:avLst/>
            <a:gdLst/>
            <a:ahLst/>
            <a:cxnLst/>
            <a:rect l="l" t="t" r="r" b="b"/>
            <a:pathLst>
              <a:path w="3493612" h="3493612">
                <a:moveTo>
                  <a:pt x="0" y="0"/>
                </a:moveTo>
                <a:lnTo>
                  <a:pt x="3493612" y="0"/>
                </a:lnTo>
                <a:lnTo>
                  <a:pt x="3493612" y="3493612"/>
                </a:lnTo>
                <a:lnTo>
                  <a:pt x="0" y="34936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3" name="TextBox 8">
            <a:extLst>
              <a:ext uri="{FF2B5EF4-FFF2-40B4-BE49-F238E27FC236}">
                <a16:creationId xmlns:a16="http://schemas.microsoft.com/office/drawing/2014/main" id="{E4D65DC3-8983-7ED6-CD41-33B71E8518B6}"/>
              </a:ext>
            </a:extLst>
          </p:cNvPr>
          <p:cNvSpPr txBox="1"/>
          <p:nvPr/>
        </p:nvSpPr>
        <p:spPr>
          <a:xfrm>
            <a:off x="990600" y="4983136"/>
            <a:ext cx="7391400" cy="12926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GB" altLang="zh-CN" sz="2800" b="1" i="0" dirty="0">
                <a:solidFill>
                  <a:srgbClr val="202124"/>
                </a:solidFill>
                <a:effectLst/>
                <a:latin typeface="Garet" panose="02010600030101010101" charset="0"/>
              </a:rPr>
              <a:t>2. User input (</a:t>
            </a:r>
            <a:r>
              <a:rPr lang="en-GB" altLang="zh-CN" sz="2800" b="1" i="0" dirty="0" err="1">
                <a:solidFill>
                  <a:srgbClr val="202124"/>
                </a:solidFill>
                <a:effectLst/>
                <a:latin typeface="Garet" panose="02010600030101010101" charset="0"/>
              </a:rPr>
              <a:t>ControlPanel</a:t>
            </a:r>
            <a:r>
              <a:rPr lang="en-GB" altLang="zh-CN" sz="2800" b="1" i="0" dirty="0">
                <a:solidFill>
                  <a:srgbClr val="202124"/>
                </a:solidFill>
                <a:effectLst/>
                <a:latin typeface="Garet" panose="02010600030101010101" charset="0"/>
              </a:rPr>
              <a:t>)</a:t>
            </a:r>
            <a:r>
              <a:rPr lang="en-GB" altLang="zh-CN" sz="2800" b="0" i="0" dirty="0">
                <a:solidFill>
                  <a:srgbClr val="202124"/>
                </a:solidFill>
                <a:effectLst/>
                <a:latin typeface="Garet" panose="02010600030101010101" charset="0"/>
              </a:rPr>
              <a:t>: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zh-CN" sz="2800" b="0" i="0" dirty="0">
                <a:solidFill>
                  <a:srgbClr val="202124"/>
                </a:solidFill>
                <a:effectLst/>
                <a:latin typeface="Garet" panose="02010600030101010101" charset="0"/>
              </a:rPr>
              <a:t>Select Start Point, End Point, Route Point </a:t>
            </a:r>
            <a:r>
              <a:rPr lang="zh-CN" altLang="en-US" sz="2800" b="0" i="0" dirty="0">
                <a:solidFill>
                  <a:srgbClr val="202124"/>
                </a:solidFill>
                <a:effectLst/>
                <a:latin typeface="Garet" panose="02010600030101010101" charset="0"/>
              </a:rPr>
              <a:t>→</a:t>
            </a:r>
            <a:r>
              <a:rPr lang="en-US" altLang="zh-CN" sz="2800" b="0" i="0" dirty="0">
                <a:solidFill>
                  <a:srgbClr val="202124"/>
                </a:solidFill>
                <a:effectLst/>
                <a:latin typeface="Garet" panose="02010600030101010101" charset="0"/>
              </a:rPr>
              <a:t> Notify </a:t>
            </a:r>
            <a:r>
              <a:rPr lang="en-US" altLang="zh-CN" sz="2800" b="0" i="0" dirty="0" err="1">
                <a:solidFill>
                  <a:srgbClr val="202124"/>
                </a:solidFill>
                <a:effectLst/>
                <a:latin typeface="Garet" panose="02010600030101010101" charset="0"/>
              </a:rPr>
              <a:t>MainAppFrame</a:t>
            </a:r>
            <a:endParaRPr lang="en-GB" altLang="zh-CN" sz="2800" b="0" i="0" dirty="0">
              <a:solidFill>
                <a:srgbClr val="202124"/>
              </a:solidFill>
              <a:effectLst/>
              <a:latin typeface="Garet" panose="02010600030101010101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4BDE614-6EED-85DC-D85D-251CD39D115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2700" y="3027405"/>
            <a:ext cx="8686800" cy="5379274"/>
          </a:xfrm>
          <a:prstGeom prst="rect">
            <a:avLst/>
          </a:prstGeom>
        </p:spPr>
      </p:pic>
      <p:sp>
        <p:nvSpPr>
          <p:cNvPr id="6" name="Freeform 9">
            <a:extLst>
              <a:ext uri="{FF2B5EF4-FFF2-40B4-BE49-F238E27FC236}">
                <a16:creationId xmlns:a16="http://schemas.microsoft.com/office/drawing/2014/main" id="{1206F2DD-CCCB-5CB9-E9C7-4279F920E1B4}"/>
              </a:ext>
            </a:extLst>
          </p:cNvPr>
          <p:cNvSpPr/>
          <p:nvPr/>
        </p:nvSpPr>
        <p:spPr>
          <a:xfrm>
            <a:off x="971673" y="8616568"/>
            <a:ext cx="3493612" cy="1200532"/>
          </a:xfrm>
          <a:custGeom>
            <a:avLst/>
            <a:gdLst/>
            <a:ahLst/>
            <a:cxnLst/>
            <a:rect l="l" t="t" r="r" b="b"/>
            <a:pathLst>
              <a:path w="3493612" h="1200532">
                <a:moveTo>
                  <a:pt x="0" y="0"/>
                </a:moveTo>
                <a:lnTo>
                  <a:pt x="3493612" y="0"/>
                </a:lnTo>
                <a:lnTo>
                  <a:pt x="3493612" y="1200532"/>
                </a:lnTo>
                <a:lnTo>
                  <a:pt x="0" y="120053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7" name="Freeform 3">
            <a:extLst>
              <a:ext uri="{FF2B5EF4-FFF2-40B4-BE49-F238E27FC236}">
                <a16:creationId xmlns:a16="http://schemas.microsoft.com/office/drawing/2014/main" id="{AAEA75AB-C73A-59B5-137D-3253255BDEED}"/>
              </a:ext>
            </a:extLst>
          </p:cNvPr>
          <p:cNvSpPr/>
          <p:nvPr/>
        </p:nvSpPr>
        <p:spPr>
          <a:xfrm>
            <a:off x="15172736" y="8520912"/>
            <a:ext cx="2570276" cy="1270788"/>
          </a:xfrm>
          <a:custGeom>
            <a:avLst/>
            <a:gdLst/>
            <a:ahLst/>
            <a:cxnLst/>
            <a:rect l="l" t="t" r="r" b="b"/>
            <a:pathLst>
              <a:path w="3493612" h="1759510">
                <a:moveTo>
                  <a:pt x="0" y="0"/>
                </a:moveTo>
                <a:lnTo>
                  <a:pt x="3493612" y="0"/>
                </a:lnTo>
                <a:lnTo>
                  <a:pt x="3493612" y="1759510"/>
                </a:lnTo>
                <a:lnTo>
                  <a:pt x="0" y="175951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CN" altLang="en-US" dirty="0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7F722A5B-C053-ABB2-A41C-7D285C351F1D}"/>
              </a:ext>
            </a:extLst>
          </p:cNvPr>
          <p:cNvSpPr/>
          <p:nvPr/>
        </p:nvSpPr>
        <p:spPr>
          <a:xfrm rot="10800000">
            <a:off x="15172736" y="0"/>
            <a:ext cx="2177829" cy="2843880"/>
          </a:xfrm>
          <a:custGeom>
            <a:avLst/>
            <a:gdLst/>
            <a:ahLst/>
            <a:cxnLst/>
            <a:rect l="l" t="t" r="r" b="b"/>
            <a:pathLst>
              <a:path w="2611028" h="4114800">
                <a:moveTo>
                  <a:pt x="0" y="0"/>
                </a:moveTo>
                <a:lnTo>
                  <a:pt x="2611028" y="0"/>
                </a:lnTo>
                <a:lnTo>
                  <a:pt x="26110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3764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90F2A1-AF43-AE72-8F98-1CC1B0EB6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A5A58C6-C3BC-47C8-E65E-4EC53E285790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96B563C6-4DF9-45C4-024B-C4C30536A781}"/>
              </a:ext>
            </a:extLst>
          </p:cNvPr>
          <p:cNvSpPr txBox="1"/>
          <p:nvPr/>
        </p:nvSpPr>
        <p:spPr>
          <a:xfrm>
            <a:off x="1981200" y="468144"/>
            <a:ext cx="11125200" cy="14875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5808"/>
              </a:lnSpc>
              <a:spcBef>
                <a:spcPct val="0"/>
              </a:spcBef>
            </a:pPr>
            <a:r>
              <a:rPr lang="en-US" sz="5000" spc="-150" dirty="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Task A – Program Design of US Road Trip Planner </a:t>
            </a:r>
          </a:p>
        </p:txBody>
      </p:sp>
      <p:sp>
        <p:nvSpPr>
          <p:cNvPr id="30" name="TextBox 9">
            <a:extLst>
              <a:ext uri="{FF2B5EF4-FFF2-40B4-BE49-F238E27FC236}">
                <a16:creationId xmlns:a16="http://schemas.microsoft.com/office/drawing/2014/main" id="{79108814-8426-6738-AA88-0167DED0002B}"/>
              </a:ext>
            </a:extLst>
          </p:cNvPr>
          <p:cNvSpPr txBox="1"/>
          <p:nvPr/>
        </p:nvSpPr>
        <p:spPr>
          <a:xfrm>
            <a:off x="990600" y="2287666"/>
            <a:ext cx="10134600" cy="4078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sz="3600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Program workflow and main interactions</a:t>
            </a:r>
          </a:p>
        </p:txBody>
      </p:sp>
      <p:sp>
        <p:nvSpPr>
          <p:cNvPr id="36" name="Freeform 5">
            <a:extLst>
              <a:ext uri="{FF2B5EF4-FFF2-40B4-BE49-F238E27FC236}">
                <a16:creationId xmlns:a16="http://schemas.microsoft.com/office/drawing/2014/main" id="{73E76823-94F4-D4D4-483B-3232603CF15D}"/>
              </a:ext>
            </a:extLst>
          </p:cNvPr>
          <p:cNvSpPr/>
          <p:nvPr/>
        </p:nvSpPr>
        <p:spPr>
          <a:xfrm>
            <a:off x="228600" y="495300"/>
            <a:ext cx="1524000" cy="1457826"/>
          </a:xfrm>
          <a:custGeom>
            <a:avLst/>
            <a:gdLst/>
            <a:ahLst/>
            <a:cxnLst/>
            <a:rect l="l" t="t" r="r" b="b"/>
            <a:pathLst>
              <a:path w="3493612" h="3493612">
                <a:moveTo>
                  <a:pt x="0" y="0"/>
                </a:moveTo>
                <a:lnTo>
                  <a:pt x="3493612" y="0"/>
                </a:lnTo>
                <a:lnTo>
                  <a:pt x="3493612" y="3493612"/>
                </a:lnTo>
                <a:lnTo>
                  <a:pt x="0" y="34936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3" name="TextBox 8">
            <a:extLst>
              <a:ext uri="{FF2B5EF4-FFF2-40B4-BE49-F238E27FC236}">
                <a16:creationId xmlns:a16="http://schemas.microsoft.com/office/drawing/2014/main" id="{0C74BF84-99B2-F026-1011-167C44D88089}"/>
              </a:ext>
            </a:extLst>
          </p:cNvPr>
          <p:cNvSpPr txBox="1"/>
          <p:nvPr/>
        </p:nvSpPr>
        <p:spPr>
          <a:xfrm>
            <a:off x="990600" y="4253492"/>
            <a:ext cx="7620000" cy="25853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GB" altLang="zh-CN" sz="2800" b="1" i="0" dirty="0">
                <a:solidFill>
                  <a:srgbClr val="202124"/>
                </a:solidFill>
                <a:effectLst/>
                <a:latin typeface="Garet" panose="02010600030101010101" charset="0"/>
              </a:rPr>
              <a:t>3. Path calculation (</a:t>
            </a:r>
            <a:r>
              <a:rPr lang="en-GB" altLang="zh-CN" sz="2800" b="1" i="0" dirty="0" err="1">
                <a:solidFill>
                  <a:srgbClr val="202124"/>
                </a:solidFill>
                <a:effectLst/>
                <a:latin typeface="Garet" panose="02010600030101010101" charset="0"/>
              </a:rPr>
              <a:t>MainAppFrame</a:t>
            </a:r>
            <a:r>
              <a:rPr lang="en-GB" altLang="zh-CN" sz="2800" b="1" i="0" dirty="0">
                <a:solidFill>
                  <a:srgbClr val="202124"/>
                </a:solidFill>
                <a:effectLst/>
                <a:latin typeface="Garet" panose="02010600030101010101" charset="0"/>
              </a:rPr>
              <a:t> -&gt; </a:t>
            </a:r>
            <a:r>
              <a:rPr lang="en-GB" altLang="zh-CN" sz="2800" b="1" i="0" dirty="0" err="1">
                <a:solidFill>
                  <a:srgbClr val="202124"/>
                </a:solidFill>
                <a:effectLst/>
                <a:latin typeface="Garet" panose="02010600030101010101" charset="0"/>
              </a:rPr>
              <a:t>PathFinder</a:t>
            </a:r>
            <a:r>
              <a:rPr lang="en-GB" altLang="zh-CN" sz="2800" b="1" i="0" dirty="0">
                <a:solidFill>
                  <a:srgbClr val="202124"/>
                </a:solidFill>
                <a:effectLst/>
                <a:latin typeface="Garet" panose="02010600030101010101" charset="0"/>
              </a:rPr>
              <a:t>)</a:t>
            </a:r>
            <a:r>
              <a:rPr lang="en-GB" altLang="zh-CN" sz="2800" b="0" i="0" dirty="0">
                <a:solidFill>
                  <a:srgbClr val="202124"/>
                </a:solidFill>
                <a:effectLst/>
                <a:latin typeface="Garet" panose="02010600030101010101" charset="0"/>
              </a:rPr>
              <a:t>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zh-CN" sz="2800" b="0" i="0" dirty="0" err="1">
                <a:solidFill>
                  <a:srgbClr val="202124"/>
                </a:solidFill>
                <a:effectLst/>
                <a:latin typeface="Garet" panose="02010600030101010101" charset="0"/>
              </a:rPr>
              <a:t>PathFinder</a:t>
            </a:r>
            <a:r>
              <a:rPr lang="en-US" altLang="zh-CN" sz="2800" b="0" i="0" dirty="0">
                <a:solidFill>
                  <a:srgbClr val="202124"/>
                </a:solidFill>
                <a:effectLst/>
                <a:latin typeface="Garet" panose="02010600030101010101" charset="0"/>
              </a:rPr>
              <a:t> </a:t>
            </a:r>
            <a:r>
              <a:rPr lang="zh-CN" altLang="en-US" sz="2800" b="0" i="0" dirty="0">
                <a:solidFill>
                  <a:srgbClr val="202124"/>
                </a:solidFill>
                <a:effectLst/>
                <a:latin typeface="Garet" panose="02010600030101010101" charset="0"/>
              </a:rPr>
              <a:t>→</a:t>
            </a:r>
            <a:r>
              <a:rPr lang="en-US" altLang="zh-CN" sz="2800" b="0" i="0" dirty="0">
                <a:solidFill>
                  <a:srgbClr val="202124"/>
                </a:solidFill>
                <a:effectLst/>
                <a:latin typeface="Garet" panose="02010600030101010101" charset="0"/>
              </a:rPr>
              <a:t> (if there are waypoints) Permutations &amp; (loop calls) </a:t>
            </a:r>
            <a:r>
              <a:rPr lang="en-US" altLang="zh-CN" sz="2800" b="0" i="0" dirty="0" err="1">
                <a:solidFill>
                  <a:srgbClr val="202124"/>
                </a:solidFill>
                <a:effectLst/>
                <a:latin typeface="Garet" panose="02010600030101010101" charset="0"/>
              </a:rPr>
              <a:t>DijkstraAlgorithm</a:t>
            </a:r>
            <a:r>
              <a:rPr lang="en-US" altLang="zh-CN" sz="2800" b="0" i="0" dirty="0">
                <a:solidFill>
                  <a:srgbClr val="202124"/>
                </a:solidFill>
                <a:effectLst/>
                <a:latin typeface="Garet" panose="02010600030101010101" charset="0"/>
              </a:rPr>
              <a:t> </a:t>
            </a:r>
            <a:r>
              <a:rPr lang="zh-CN" altLang="en-US" sz="2800" b="0" i="0" dirty="0">
                <a:solidFill>
                  <a:srgbClr val="202124"/>
                </a:solidFill>
                <a:effectLst/>
                <a:latin typeface="Garet" panose="02010600030101010101" charset="0"/>
              </a:rPr>
              <a:t>→</a:t>
            </a:r>
            <a:r>
              <a:rPr lang="en-US" altLang="zh-CN" sz="2800" b="0" i="0" dirty="0">
                <a:solidFill>
                  <a:srgbClr val="202124"/>
                </a:solidFill>
                <a:effectLst/>
                <a:latin typeface="Garet" panose="02010600030101010101" charset="0"/>
              </a:rPr>
              <a:t> Generate Base Route</a:t>
            </a:r>
            <a:endParaRPr lang="en-GB" altLang="zh-CN" sz="2800" b="0" i="0" dirty="0">
              <a:solidFill>
                <a:srgbClr val="202124"/>
              </a:solidFill>
              <a:effectLst/>
              <a:latin typeface="Garet" panose="02010600030101010101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93930F5-E776-3D34-0489-801C64B8AD4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000" y="2733570"/>
            <a:ext cx="8842902" cy="5610330"/>
          </a:xfrm>
          <a:prstGeom prst="rect">
            <a:avLst/>
          </a:prstGeom>
        </p:spPr>
      </p:pic>
      <p:sp>
        <p:nvSpPr>
          <p:cNvPr id="6" name="Freeform 9">
            <a:extLst>
              <a:ext uri="{FF2B5EF4-FFF2-40B4-BE49-F238E27FC236}">
                <a16:creationId xmlns:a16="http://schemas.microsoft.com/office/drawing/2014/main" id="{C39E230B-0F05-A146-8C35-048316887E41}"/>
              </a:ext>
            </a:extLst>
          </p:cNvPr>
          <p:cNvSpPr/>
          <p:nvPr/>
        </p:nvSpPr>
        <p:spPr>
          <a:xfrm>
            <a:off x="971673" y="8616568"/>
            <a:ext cx="3493612" cy="1200532"/>
          </a:xfrm>
          <a:custGeom>
            <a:avLst/>
            <a:gdLst/>
            <a:ahLst/>
            <a:cxnLst/>
            <a:rect l="l" t="t" r="r" b="b"/>
            <a:pathLst>
              <a:path w="3493612" h="1200532">
                <a:moveTo>
                  <a:pt x="0" y="0"/>
                </a:moveTo>
                <a:lnTo>
                  <a:pt x="3493612" y="0"/>
                </a:lnTo>
                <a:lnTo>
                  <a:pt x="3493612" y="1200532"/>
                </a:lnTo>
                <a:lnTo>
                  <a:pt x="0" y="120053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7" name="Freeform 3">
            <a:extLst>
              <a:ext uri="{FF2B5EF4-FFF2-40B4-BE49-F238E27FC236}">
                <a16:creationId xmlns:a16="http://schemas.microsoft.com/office/drawing/2014/main" id="{212B0A55-B954-31E0-E8E6-A94C5BE7DB09}"/>
              </a:ext>
            </a:extLst>
          </p:cNvPr>
          <p:cNvSpPr/>
          <p:nvPr/>
        </p:nvSpPr>
        <p:spPr>
          <a:xfrm>
            <a:off x="15172736" y="8520912"/>
            <a:ext cx="2570276" cy="1270788"/>
          </a:xfrm>
          <a:custGeom>
            <a:avLst/>
            <a:gdLst/>
            <a:ahLst/>
            <a:cxnLst/>
            <a:rect l="l" t="t" r="r" b="b"/>
            <a:pathLst>
              <a:path w="3493612" h="1759510">
                <a:moveTo>
                  <a:pt x="0" y="0"/>
                </a:moveTo>
                <a:lnTo>
                  <a:pt x="3493612" y="0"/>
                </a:lnTo>
                <a:lnTo>
                  <a:pt x="3493612" y="1759510"/>
                </a:lnTo>
                <a:lnTo>
                  <a:pt x="0" y="175951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CN" altLang="en-US" dirty="0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0A828990-B6AC-30D9-3F96-20CDC702AC8B}"/>
              </a:ext>
            </a:extLst>
          </p:cNvPr>
          <p:cNvSpPr/>
          <p:nvPr/>
        </p:nvSpPr>
        <p:spPr>
          <a:xfrm rot="10800000">
            <a:off x="15172736" y="0"/>
            <a:ext cx="2177829" cy="2843880"/>
          </a:xfrm>
          <a:custGeom>
            <a:avLst/>
            <a:gdLst/>
            <a:ahLst/>
            <a:cxnLst/>
            <a:rect l="l" t="t" r="r" b="b"/>
            <a:pathLst>
              <a:path w="2611028" h="4114800">
                <a:moveTo>
                  <a:pt x="0" y="0"/>
                </a:moveTo>
                <a:lnTo>
                  <a:pt x="2611028" y="0"/>
                </a:lnTo>
                <a:lnTo>
                  <a:pt x="26110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93483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005E1-0DCD-E5B3-81B9-682B13B0C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3AD5911-18D6-E486-9D9E-37809A68558C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77BC5595-D5D0-0C32-BC7F-72114E60744B}"/>
              </a:ext>
            </a:extLst>
          </p:cNvPr>
          <p:cNvSpPr txBox="1"/>
          <p:nvPr/>
        </p:nvSpPr>
        <p:spPr>
          <a:xfrm>
            <a:off x="1981200" y="468144"/>
            <a:ext cx="11125200" cy="14875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5808"/>
              </a:lnSpc>
              <a:spcBef>
                <a:spcPct val="0"/>
              </a:spcBef>
            </a:pPr>
            <a:r>
              <a:rPr lang="en-US" sz="5000" spc="-150" dirty="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Task A – Program Design of US Road Trip Planner </a:t>
            </a:r>
          </a:p>
        </p:txBody>
      </p:sp>
      <p:sp>
        <p:nvSpPr>
          <p:cNvPr id="30" name="TextBox 9">
            <a:extLst>
              <a:ext uri="{FF2B5EF4-FFF2-40B4-BE49-F238E27FC236}">
                <a16:creationId xmlns:a16="http://schemas.microsoft.com/office/drawing/2014/main" id="{F82EBD96-D333-69FE-B372-51E822F0BA62}"/>
              </a:ext>
            </a:extLst>
          </p:cNvPr>
          <p:cNvSpPr txBox="1"/>
          <p:nvPr/>
        </p:nvSpPr>
        <p:spPr>
          <a:xfrm>
            <a:off x="990600" y="2287666"/>
            <a:ext cx="10134600" cy="4078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sz="3600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Program workflow and main interactions</a:t>
            </a:r>
          </a:p>
        </p:txBody>
      </p:sp>
      <p:sp>
        <p:nvSpPr>
          <p:cNvPr id="36" name="Freeform 5">
            <a:extLst>
              <a:ext uri="{FF2B5EF4-FFF2-40B4-BE49-F238E27FC236}">
                <a16:creationId xmlns:a16="http://schemas.microsoft.com/office/drawing/2014/main" id="{D1AA12CF-448D-5D6D-56CF-AF5A7FAE1E9B}"/>
              </a:ext>
            </a:extLst>
          </p:cNvPr>
          <p:cNvSpPr/>
          <p:nvPr/>
        </p:nvSpPr>
        <p:spPr>
          <a:xfrm>
            <a:off x="228600" y="495300"/>
            <a:ext cx="1524000" cy="1457826"/>
          </a:xfrm>
          <a:custGeom>
            <a:avLst/>
            <a:gdLst/>
            <a:ahLst/>
            <a:cxnLst/>
            <a:rect l="l" t="t" r="r" b="b"/>
            <a:pathLst>
              <a:path w="3493612" h="3493612">
                <a:moveTo>
                  <a:pt x="0" y="0"/>
                </a:moveTo>
                <a:lnTo>
                  <a:pt x="3493612" y="0"/>
                </a:lnTo>
                <a:lnTo>
                  <a:pt x="3493612" y="3493612"/>
                </a:lnTo>
                <a:lnTo>
                  <a:pt x="0" y="34936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3" name="TextBox 8">
            <a:extLst>
              <a:ext uri="{FF2B5EF4-FFF2-40B4-BE49-F238E27FC236}">
                <a16:creationId xmlns:a16="http://schemas.microsoft.com/office/drawing/2014/main" id="{72B01704-3FDF-FC0B-733D-BD702F88234C}"/>
              </a:ext>
            </a:extLst>
          </p:cNvPr>
          <p:cNvSpPr txBox="1"/>
          <p:nvPr/>
        </p:nvSpPr>
        <p:spPr>
          <a:xfrm>
            <a:off x="990600" y="4152900"/>
            <a:ext cx="6781800" cy="30162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altLang="zh-CN" sz="2800" b="1" i="0" dirty="0">
                <a:solidFill>
                  <a:srgbClr val="202124"/>
                </a:solidFill>
                <a:effectLst/>
                <a:latin typeface="Garet" panose="02010600030101010101" charset="0"/>
              </a:rPr>
              <a:t>4. Results Processing and Display (</a:t>
            </a:r>
            <a:r>
              <a:rPr lang="en-US" altLang="zh-CN" sz="2800" b="1" i="0" dirty="0" err="1">
                <a:solidFill>
                  <a:srgbClr val="202124"/>
                </a:solidFill>
                <a:effectLst/>
                <a:latin typeface="Garet" panose="02010600030101010101" charset="0"/>
              </a:rPr>
              <a:t>MainAppFrame</a:t>
            </a:r>
            <a:r>
              <a:rPr lang="en-US" altLang="zh-CN" sz="2800" b="1" i="0" dirty="0">
                <a:solidFill>
                  <a:srgbClr val="202124"/>
                </a:solidFill>
                <a:effectLst/>
                <a:latin typeface="Garet" panose="02010600030101010101" charset="0"/>
              </a:rPr>
              <a:t> -&gt; UI Panels)</a:t>
            </a:r>
            <a:r>
              <a:rPr lang="en-US" altLang="zh-CN" sz="2800" b="0" i="0" dirty="0">
                <a:solidFill>
                  <a:srgbClr val="202124"/>
                </a:solidFill>
                <a:effectLst/>
                <a:latin typeface="Garet" panose="02010600030101010101" charset="0"/>
              </a:rPr>
              <a:t>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altLang="zh-CN" sz="2800" b="0" i="0" dirty="0" err="1">
                <a:solidFill>
                  <a:srgbClr val="202124"/>
                </a:solidFill>
                <a:effectLst/>
                <a:latin typeface="Garet" panose="02010600030101010101" charset="0"/>
              </a:rPr>
              <a:t>MainAppFrame</a:t>
            </a:r>
            <a:r>
              <a:rPr lang="en-GB" altLang="zh-CN" sz="2800" b="0" i="0" dirty="0">
                <a:solidFill>
                  <a:srgbClr val="202124"/>
                </a:solidFill>
                <a:effectLst/>
                <a:latin typeface="Garet" panose="02010600030101010101" charset="0"/>
              </a:rPr>
              <a:t> Rich Route Object (Supplements UI Context)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altLang="zh-CN" sz="2800" b="0" i="0" dirty="0">
                <a:solidFill>
                  <a:srgbClr val="202124"/>
                </a:solidFill>
                <a:effectLst/>
                <a:latin typeface="Garet" panose="02010600030101010101" charset="0"/>
              </a:rPr>
              <a:t>Route </a:t>
            </a:r>
            <a:r>
              <a:rPr lang="zh-CN" altLang="en-US" sz="2800" b="0" i="0" dirty="0">
                <a:solidFill>
                  <a:srgbClr val="202124"/>
                </a:solidFill>
                <a:effectLst/>
                <a:latin typeface="Garet" panose="02010600030101010101" charset="0"/>
              </a:rPr>
              <a:t>→</a:t>
            </a:r>
            <a:r>
              <a:rPr lang="en-GB" altLang="zh-CN" sz="2800" b="0" i="0" dirty="0">
                <a:solidFill>
                  <a:srgbClr val="202124"/>
                </a:solidFill>
                <a:effectLst/>
                <a:latin typeface="Garet" panose="02010600030101010101" charset="0"/>
              </a:rPr>
              <a:t> </a:t>
            </a:r>
            <a:r>
              <a:rPr lang="en-GB" altLang="zh-CN" sz="2800" b="0" i="0" dirty="0" err="1">
                <a:solidFill>
                  <a:srgbClr val="202124"/>
                </a:solidFill>
                <a:effectLst/>
                <a:latin typeface="Garet" panose="02010600030101010101" charset="0"/>
              </a:rPr>
              <a:t>TextResultPanel</a:t>
            </a:r>
            <a:r>
              <a:rPr lang="en-GB" altLang="zh-CN" sz="2800" b="0" i="0" dirty="0">
                <a:solidFill>
                  <a:srgbClr val="202124"/>
                </a:solidFill>
                <a:effectLst/>
                <a:latin typeface="Garet" panose="02010600030101010101" charset="0"/>
              </a:rPr>
              <a:t> &amp; </a:t>
            </a:r>
            <a:r>
              <a:rPr lang="en-GB" altLang="zh-CN" sz="2800" b="0" i="0" dirty="0" err="1">
                <a:solidFill>
                  <a:srgbClr val="202124"/>
                </a:solidFill>
                <a:effectLst/>
                <a:latin typeface="Garet" panose="02010600030101010101" charset="0"/>
              </a:rPr>
              <a:t>GraphResultPanel</a:t>
            </a:r>
            <a:endParaRPr lang="en-US" sz="2500" dirty="0">
              <a:solidFill>
                <a:srgbClr val="000000"/>
              </a:solidFill>
              <a:latin typeface="Garet" panose="02010600030101010101" charset="0"/>
              <a:ea typeface="Garet"/>
              <a:cs typeface="Garet"/>
              <a:sym typeface="Garet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C8E39B9-C18F-4515-C78B-0BF5CF57A80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0" y="2727040"/>
            <a:ext cx="8667750" cy="6788651"/>
          </a:xfrm>
          <a:prstGeom prst="rect">
            <a:avLst/>
          </a:prstGeom>
        </p:spPr>
      </p:pic>
      <p:sp>
        <p:nvSpPr>
          <p:cNvPr id="6" name="Freeform 9">
            <a:extLst>
              <a:ext uri="{FF2B5EF4-FFF2-40B4-BE49-F238E27FC236}">
                <a16:creationId xmlns:a16="http://schemas.microsoft.com/office/drawing/2014/main" id="{C05B8385-ACE9-1A64-7589-842BD4A9A752}"/>
              </a:ext>
            </a:extLst>
          </p:cNvPr>
          <p:cNvSpPr/>
          <p:nvPr/>
        </p:nvSpPr>
        <p:spPr>
          <a:xfrm>
            <a:off x="971673" y="8616568"/>
            <a:ext cx="3493612" cy="1200532"/>
          </a:xfrm>
          <a:custGeom>
            <a:avLst/>
            <a:gdLst/>
            <a:ahLst/>
            <a:cxnLst/>
            <a:rect l="l" t="t" r="r" b="b"/>
            <a:pathLst>
              <a:path w="3493612" h="1200532">
                <a:moveTo>
                  <a:pt x="0" y="0"/>
                </a:moveTo>
                <a:lnTo>
                  <a:pt x="3493612" y="0"/>
                </a:lnTo>
                <a:lnTo>
                  <a:pt x="3493612" y="1200532"/>
                </a:lnTo>
                <a:lnTo>
                  <a:pt x="0" y="120053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3AA7A457-93B3-0D6C-FF3B-EC1A25D8C849}"/>
              </a:ext>
            </a:extLst>
          </p:cNvPr>
          <p:cNvSpPr/>
          <p:nvPr/>
        </p:nvSpPr>
        <p:spPr>
          <a:xfrm rot="10800000">
            <a:off x="15172736" y="0"/>
            <a:ext cx="2177829" cy="2843880"/>
          </a:xfrm>
          <a:custGeom>
            <a:avLst/>
            <a:gdLst/>
            <a:ahLst/>
            <a:cxnLst/>
            <a:rect l="l" t="t" r="r" b="b"/>
            <a:pathLst>
              <a:path w="2611028" h="4114800">
                <a:moveTo>
                  <a:pt x="0" y="0"/>
                </a:moveTo>
                <a:lnTo>
                  <a:pt x="2611028" y="0"/>
                </a:lnTo>
                <a:lnTo>
                  <a:pt x="26110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31089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9912DE-3D1C-FE36-79F3-7459565A7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DA80129-671F-4AB5-3131-0F66C65C25C9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073E9A6D-2524-5AC3-0BD0-74F525C6EC5D}"/>
              </a:ext>
            </a:extLst>
          </p:cNvPr>
          <p:cNvSpPr txBox="1"/>
          <p:nvPr/>
        </p:nvSpPr>
        <p:spPr>
          <a:xfrm>
            <a:off x="1981200" y="468144"/>
            <a:ext cx="11125200" cy="14875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5808"/>
              </a:lnSpc>
              <a:spcBef>
                <a:spcPct val="0"/>
              </a:spcBef>
            </a:pPr>
            <a:r>
              <a:rPr lang="en-US" sz="5000" spc="-150" dirty="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Task A – Program Design of US Road Trip Planner </a:t>
            </a:r>
          </a:p>
        </p:txBody>
      </p:sp>
      <p:sp>
        <p:nvSpPr>
          <p:cNvPr id="30" name="TextBox 9">
            <a:extLst>
              <a:ext uri="{FF2B5EF4-FFF2-40B4-BE49-F238E27FC236}">
                <a16:creationId xmlns:a16="http://schemas.microsoft.com/office/drawing/2014/main" id="{882CABC7-AFB8-F5BB-620C-713C1A37B480}"/>
              </a:ext>
            </a:extLst>
          </p:cNvPr>
          <p:cNvSpPr txBox="1"/>
          <p:nvPr/>
        </p:nvSpPr>
        <p:spPr>
          <a:xfrm>
            <a:off x="990600" y="2287666"/>
            <a:ext cx="10134600" cy="4078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sz="3600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GUI Panel</a:t>
            </a:r>
          </a:p>
        </p:txBody>
      </p:sp>
      <p:sp>
        <p:nvSpPr>
          <p:cNvPr id="36" name="Freeform 5">
            <a:extLst>
              <a:ext uri="{FF2B5EF4-FFF2-40B4-BE49-F238E27FC236}">
                <a16:creationId xmlns:a16="http://schemas.microsoft.com/office/drawing/2014/main" id="{20C53581-7265-398C-064C-5C0D772E0598}"/>
              </a:ext>
            </a:extLst>
          </p:cNvPr>
          <p:cNvSpPr/>
          <p:nvPr/>
        </p:nvSpPr>
        <p:spPr>
          <a:xfrm>
            <a:off x="228600" y="495300"/>
            <a:ext cx="1524000" cy="1457826"/>
          </a:xfrm>
          <a:custGeom>
            <a:avLst/>
            <a:gdLst/>
            <a:ahLst/>
            <a:cxnLst/>
            <a:rect l="l" t="t" r="r" b="b"/>
            <a:pathLst>
              <a:path w="3493612" h="3493612">
                <a:moveTo>
                  <a:pt x="0" y="0"/>
                </a:moveTo>
                <a:lnTo>
                  <a:pt x="3493612" y="0"/>
                </a:lnTo>
                <a:lnTo>
                  <a:pt x="3493612" y="3493612"/>
                </a:lnTo>
                <a:lnTo>
                  <a:pt x="0" y="34936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3" name="TextBox 8">
            <a:extLst>
              <a:ext uri="{FF2B5EF4-FFF2-40B4-BE49-F238E27FC236}">
                <a16:creationId xmlns:a16="http://schemas.microsoft.com/office/drawing/2014/main" id="{17DCD5C7-29E3-F8C6-6467-D1C4FD1A58BC}"/>
              </a:ext>
            </a:extLst>
          </p:cNvPr>
          <p:cNvSpPr txBox="1"/>
          <p:nvPr/>
        </p:nvSpPr>
        <p:spPr>
          <a:xfrm>
            <a:off x="990600" y="2843881"/>
            <a:ext cx="11582400" cy="430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2800" b="1" dirty="0">
                <a:solidFill>
                  <a:srgbClr val="202124"/>
                </a:solidFill>
                <a:latin typeface="Garet" panose="02010600030101010101" charset="0"/>
                <a:ea typeface="Garet"/>
                <a:cs typeface="Garet"/>
                <a:sym typeface="Garet"/>
              </a:rPr>
              <a:t>Here is the example of the eventual visualization panel.</a:t>
            </a:r>
            <a:endParaRPr lang="en-US" sz="2500" dirty="0">
              <a:solidFill>
                <a:srgbClr val="000000"/>
              </a:solidFill>
              <a:latin typeface="Garet" panose="02010600030101010101" charset="0"/>
              <a:ea typeface="Garet"/>
              <a:cs typeface="Garet"/>
              <a:sym typeface="Garet"/>
            </a:endParaRP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3B60AB51-559E-64F9-2AAD-D2FBDA243420}"/>
              </a:ext>
            </a:extLst>
          </p:cNvPr>
          <p:cNvSpPr/>
          <p:nvPr/>
        </p:nvSpPr>
        <p:spPr>
          <a:xfrm rot="10800000">
            <a:off x="15172736" y="0"/>
            <a:ext cx="2177829" cy="2843880"/>
          </a:xfrm>
          <a:custGeom>
            <a:avLst/>
            <a:gdLst/>
            <a:ahLst/>
            <a:cxnLst/>
            <a:rect l="l" t="t" r="r" b="b"/>
            <a:pathLst>
              <a:path w="2611028" h="4114800">
                <a:moveTo>
                  <a:pt x="0" y="0"/>
                </a:moveTo>
                <a:lnTo>
                  <a:pt x="2611028" y="0"/>
                </a:lnTo>
                <a:lnTo>
                  <a:pt x="26110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BF65D326-E602-A1E8-256C-2243F40D6D8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85" y="4072082"/>
            <a:ext cx="8991599" cy="505777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A44D8809-9A15-F35D-D774-19A1FF684A2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4171" y="4072082"/>
            <a:ext cx="8943657" cy="5057775"/>
          </a:xfrm>
          <a:prstGeom prst="rect">
            <a:avLst/>
          </a:prstGeom>
        </p:spPr>
      </p:pic>
      <p:sp>
        <p:nvSpPr>
          <p:cNvPr id="12" name="TextBox 8">
            <a:extLst>
              <a:ext uri="{FF2B5EF4-FFF2-40B4-BE49-F238E27FC236}">
                <a16:creationId xmlns:a16="http://schemas.microsoft.com/office/drawing/2014/main" id="{E69F8D05-8E34-9DA4-DDD2-13840238EC88}"/>
              </a:ext>
            </a:extLst>
          </p:cNvPr>
          <p:cNvSpPr txBox="1"/>
          <p:nvPr/>
        </p:nvSpPr>
        <p:spPr>
          <a:xfrm>
            <a:off x="2943434" y="9361901"/>
            <a:ext cx="3314700" cy="430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2800" b="1" dirty="0">
                <a:solidFill>
                  <a:srgbClr val="202124"/>
                </a:solidFill>
                <a:latin typeface="Garet" panose="02010600030101010101" charset="0"/>
                <a:ea typeface="Garet"/>
                <a:cs typeface="Garet"/>
                <a:sym typeface="Garet"/>
              </a:rPr>
              <a:t>Before Selection</a:t>
            </a:r>
            <a:endParaRPr lang="en-US" sz="2500" dirty="0">
              <a:solidFill>
                <a:srgbClr val="000000"/>
              </a:solidFill>
              <a:latin typeface="Garet" panose="02010600030101010101" charset="0"/>
              <a:ea typeface="Garet"/>
              <a:cs typeface="Garet"/>
              <a:sym typeface="Garet"/>
            </a:endParaRPr>
          </a:p>
        </p:txBody>
      </p:sp>
      <p:sp>
        <p:nvSpPr>
          <p:cNvPr id="13" name="TextBox 8">
            <a:extLst>
              <a:ext uri="{FF2B5EF4-FFF2-40B4-BE49-F238E27FC236}">
                <a16:creationId xmlns:a16="http://schemas.microsoft.com/office/drawing/2014/main" id="{F7657932-2F35-4161-663E-9318E119F8C9}"/>
              </a:ext>
            </a:extLst>
          </p:cNvPr>
          <p:cNvSpPr txBox="1"/>
          <p:nvPr/>
        </p:nvSpPr>
        <p:spPr>
          <a:xfrm>
            <a:off x="12058649" y="9360296"/>
            <a:ext cx="3314700" cy="430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2800" b="1" dirty="0">
                <a:solidFill>
                  <a:srgbClr val="202124"/>
                </a:solidFill>
                <a:latin typeface="Garet" panose="02010600030101010101" charset="0"/>
                <a:ea typeface="Garet"/>
                <a:cs typeface="Garet"/>
                <a:sym typeface="Garet"/>
              </a:rPr>
              <a:t>After Selection</a:t>
            </a:r>
            <a:endParaRPr lang="en-US" sz="2500" dirty="0">
              <a:solidFill>
                <a:srgbClr val="000000"/>
              </a:solidFill>
              <a:latin typeface="Garet" panose="02010600030101010101" charset="0"/>
              <a:ea typeface="Garet"/>
              <a:cs typeface="Garet"/>
              <a:sym typeface="Garet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FD54B1E-2DB0-A9E2-CD04-7D486B66CB8E}"/>
              </a:ext>
            </a:extLst>
          </p:cNvPr>
          <p:cNvSpPr txBox="1"/>
          <p:nvPr/>
        </p:nvSpPr>
        <p:spPr>
          <a:xfrm>
            <a:off x="9268265" y="6790045"/>
            <a:ext cx="383813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sz="2000" b="1" dirty="0">
                <a:solidFill>
                  <a:srgbClr val="EE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Red </a:t>
            </a:r>
            <a:r>
              <a:rPr lang="en-US" altLang="zh-CN" sz="2000" b="1" dirty="0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point: Start city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sz="20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Blue </a:t>
            </a:r>
            <a:r>
              <a:rPr lang="en-US" altLang="zh-CN" sz="2000" b="1" dirty="0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point: Waypoint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sz="2000" b="1" dirty="0">
                <a:solidFill>
                  <a:srgbClr val="E97132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Orange </a:t>
            </a:r>
            <a:r>
              <a:rPr lang="en-US" altLang="zh-CN" sz="2000" b="1" dirty="0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point: </a:t>
            </a:r>
            <a:r>
              <a:rPr lang="en-US" altLang="zh-CN" sz="2000" b="1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sz="2000" b="1" dirty="0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ass by city</a:t>
            </a:r>
            <a:endParaRPr lang="en-US" altLang="zh-CN" sz="2000" b="1" dirty="0"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sz="20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Green </a:t>
            </a:r>
            <a:r>
              <a:rPr lang="en-US" altLang="zh-CN" sz="2000" b="1" dirty="0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point: End city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38312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73797-85F8-FAA1-345D-2433273FA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D0A2B79-93C4-FE49-74F7-29C8FA52EB97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9D0C2E8B-D1B7-AE72-AFBC-92581EA0EBFB}"/>
              </a:ext>
            </a:extLst>
          </p:cNvPr>
          <p:cNvSpPr txBox="1"/>
          <p:nvPr/>
        </p:nvSpPr>
        <p:spPr>
          <a:xfrm>
            <a:off x="1981200" y="468144"/>
            <a:ext cx="11125200" cy="14875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5808"/>
              </a:lnSpc>
              <a:spcBef>
                <a:spcPct val="0"/>
              </a:spcBef>
            </a:pPr>
            <a:r>
              <a:rPr lang="en-US" sz="5000" spc="-150" dirty="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Task A – Program Design of US Road Trip Planner </a:t>
            </a:r>
          </a:p>
        </p:txBody>
      </p:sp>
      <p:sp>
        <p:nvSpPr>
          <p:cNvPr id="30" name="TextBox 9">
            <a:extLst>
              <a:ext uri="{FF2B5EF4-FFF2-40B4-BE49-F238E27FC236}">
                <a16:creationId xmlns:a16="http://schemas.microsoft.com/office/drawing/2014/main" id="{EE389D92-9F98-1364-7DA7-D881830AE735}"/>
              </a:ext>
            </a:extLst>
          </p:cNvPr>
          <p:cNvSpPr txBox="1"/>
          <p:nvPr/>
        </p:nvSpPr>
        <p:spPr>
          <a:xfrm>
            <a:off x="990600" y="2411175"/>
            <a:ext cx="10134600" cy="4078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sz="3600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Overall OOP Design Concept</a:t>
            </a:r>
          </a:p>
        </p:txBody>
      </p:sp>
      <p:sp>
        <p:nvSpPr>
          <p:cNvPr id="36" name="Freeform 5">
            <a:extLst>
              <a:ext uri="{FF2B5EF4-FFF2-40B4-BE49-F238E27FC236}">
                <a16:creationId xmlns:a16="http://schemas.microsoft.com/office/drawing/2014/main" id="{51272A5C-5F5E-BB26-AA53-EEBA2BA912C6}"/>
              </a:ext>
            </a:extLst>
          </p:cNvPr>
          <p:cNvSpPr/>
          <p:nvPr/>
        </p:nvSpPr>
        <p:spPr>
          <a:xfrm>
            <a:off x="228600" y="495300"/>
            <a:ext cx="1524000" cy="1457826"/>
          </a:xfrm>
          <a:custGeom>
            <a:avLst/>
            <a:gdLst/>
            <a:ahLst/>
            <a:cxnLst/>
            <a:rect l="l" t="t" r="r" b="b"/>
            <a:pathLst>
              <a:path w="3493612" h="3493612">
                <a:moveTo>
                  <a:pt x="0" y="0"/>
                </a:moveTo>
                <a:lnTo>
                  <a:pt x="3493612" y="0"/>
                </a:lnTo>
                <a:lnTo>
                  <a:pt x="3493612" y="3493612"/>
                </a:lnTo>
                <a:lnTo>
                  <a:pt x="0" y="34936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D088CF82-C7E4-D671-D78F-E7CE18AD4422}"/>
              </a:ext>
            </a:extLst>
          </p:cNvPr>
          <p:cNvSpPr txBox="1"/>
          <p:nvPr/>
        </p:nvSpPr>
        <p:spPr>
          <a:xfrm>
            <a:off x="990600" y="2893882"/>
            <a:ext cx="8153400" cy="69249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14350" indent="-514350" algn="l">
              <a:buAutoNum type="arabicPeriod"/>
            </a:pPr>
            <a:r>
              <a:rPr lang="en-US" altLang="zh-CN" sz="2500" b="1" i="0" dirty="0">
                <a:solidFill>
                  <a:srgbClr val="202124"/>
                </a:solidFill>
                <a:effectLst/>
                <a:latin typeface="Garet" panose="02010600030101010101" charset="0"/>
              </a:rPr>
              <a:t>Encapsulation</a:t>
            </a:r>
            <a:r>
              <a:rPr lang="en-US" altLang="zh-CN" sz="2500" b="0" i="0" dirty="0">
                <a:solidFill>
                  <a:srgbClr val="202124"/>
                </a:solidFill>
                <a:effectLst/>
                <a:latin typeface="Garet" panose="02010600030101010101" charset="0"/>
              </a:rPr>
              <a:t>: Data hiding versus interface clarity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zh-CN" sz="2500" b="0" i="0" dirty="0">
                <a:solidFill>
                  <a:srgbClr val="202124"/>
                </a:solidFill>
                <a:effectLst/>
                <a:latin typeface="Garet" panose="02010600030101010101" charset="0"/>
              </a:rPr>
              <a:t>Bundle data and methods for manipulating data, hide internal implementations, and interact through public interfaces.</a:t>
            </a:r>
          </a:p>
          <a:p>
            <a:pPr marL="457200" indent="-457200" algn="l">
              <a:buAutoNum type="arabicPeriod"/>
            </a:pPr>
            <a:r>
              <a:rPr lang="fr-FR" altLang="zh-CN" sz="2500" b="1" i="0" dirty="0">
                <a:solidFill>
                  <a:srgbClr val="202124"/>
                </a:solidFill>
                <a:effectLst/>
                <a:latin typeface="Garet" panose="02010600030101010101" charset="0"/>
              </a:rPr>
              <a:t>Abstraction</a:t>
            </a:r>
            <a:r>
              <a:rPr lang="fr-FR" altLang="zh-CN" sz="2500" b="0" i="0" dirty="0">
                <a:solidFill>
                  <a:srgbClr val="202124"/>
                </a:solidFill>
                <a:effectLst/>
                <a:latin typeface="Garet" panose="02010600030101010101" charset="0"/>
              </a:rPr>
              <a:t>: Focus on essence, simplify complexity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zh-CN" sz="2500" b="0" i="0" dirty="0">
                <a:solidFill>
                  <a:srgbClr val="202124"/>
                </a:solidFill>
                <a:effectLst/>
                <a:latin typeface="Garet" panose="02010600030101010101" charset="0"/>
              </a:rPr>
              <a:t>Extract key features, provide simplified interfaces, and mask underlying complexity</a:t>
            </a:r>
            <a:r>
              <a:rPr lang="fr-FR" altLang="zh-CN" sz="2500" b="0" i="0" dirty="0">
                <a:solidFill>
                  <a:srgbClr val="202124"/>
                </a:solidFill>
                <a:effectLst/>
                <a:latin typeface="Garet" panose="02010600030101010101" charset="0"/>
              </a:rPr>
              <a:t>.</a:t>
            </a:r>
            <a:endParaRPr lang="en-US" altLang="zh-CN" sz="2500" dirty="0">
              <a:solidFill>
                <a:srgbClr val="202124"/>
              </a:solidFill>
              <a:latin typeface="Garet" panose="02010600030101010101" charset="0"/>
            </a:endParaRPr>
          </a:p>
          <a:p>
            <a:pPr marL="457200" indent="-457200" algn="l">
              <a:buAutoNum type="arabicPeriod"/>
            </a:pPr>
            <a:r>
              <a:rPr lang="en-US" altLang="zh-CN" sz="2500" b="1" i="0" dirty="0">
                <a:solidFill>
                  <a:srgbClr val="202124"/>
                </a:solidFill>
                <a:effectLst/>
                <a:latin typeface="Garet" panose="02010600030101010101" charset="0"/>
              </a:rPr>
              <a:t>Single Responsibility Principle (SRP)</a:t>
            </a:r>
            <a:r>
              <a:rPr lang="en-US" altLang="zh-CN" sz="2500" b="0" i="0" dirty="0">
                <a:solidFill>
                  <a:srgbClr val="202124"/>
                </a:solidFill>
                <a:effectLst/>
                <a:latin typeface="Garet" panose="02010600030101010101" charset="0"/>
              </a:rPr>
              <a:t>: Functional specificity and ease of maintenance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zh-CN" sz="2500" b="0" i="0" dirty="0">
                <a:solidFill>
                  <a:srgbClr val="202124"/>
                </a:solidFill>
                <a:effectLst/>
                <a:latin typeface="Garet" panose="02010600030101010101" charset="0"/>
              </a:rPr>
              <a:t>Each class should be responsible for only one specific function.</a:t>
            </a:r>
          </a:p>
          <a:p>
            <a:pPr marL="457200" indent="-457200" algn="l">
              <a:buAutoNum type="arabicPeriod"/>
            </a:pPr>
            <a:r>
              <a:rPr lang="en-US" altLang="zh-CN" sz="2500" b="1" i="0" dirty="0">
                <a:solidFill>
                  <a:srgbClr val="202124"/>
                </a:solidFill>
                <a:effectLst/>
                <a:latin typeface="Garet" panose="02010600030101010101" charset="0"/>
              </a:rPr>
              <a:t>Modularity &amp; Separation of Concerns</a:t>
            </a:r>
            <a:r>
              <a:rPr lang="en-US" altLang="zh-CN" sz="2500" b="0" i="0" dirty="0">
                <a:solidFill>
                  <a:srgbClr val="202124"/>
                </a:solidFill>
                <a:effectLst/>
                <a:latin typeface="Garet" panose="02010600030101010101" charset="0"/>
              </a:rPr>
              <a:t>: High Cohesion and Low Coupling</a:t>
            </a:r>
            <a:endParaRPr lang="en-US" altLang="zh-CN" sz="2500" b="0" i="0" dirty="0">
              <a:solidFill>
                <a:srgbClr val="000000"/>
              </a:solidFill>
              <a:effectLst/>
              <a:latin typeface="Garet" panose="02010600030101010101" charset="0"/>
              <a:sym typeface="Garet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zh-CN" sz="2500" b="0" i="0" dirty="0">
                <a:solidFill>
                  <a:srgbClr val="202124"/>
                </a:solidFill>
                <a:effectLst/>
                <a:latin typeface="Garet" panose="02010600030101010101" charset="0"/>
              </a:rPr>
              <a:t>Divide the system into separate modules (packages), separating UI, logic, and data.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BB5B78A-EF09-6FB1-C2C3-8BCE369DF07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3625" y="1224213"/>
            <a:ext cx="7524750" cy="208597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4E7F71C-AB39-F8A4-671B-AF255AD39C7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0925" y="3640025"/>
            <a:ext cx="7524750" cy="1857375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2009DC25-6805-A0F7-DDA7-A1CBBEB0BB8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3625" y="5789137"/>
            <a:ext cx="7561581" cy="1857375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7F66FF4F-05B2-1CCE-C879-861816FAA93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1250" y="7875825"/>
            <a:ext cx="7477125" cy="2300654"/>
          </a:xfrm>
          <a:prstGeom prst="rect">
            <a:avLst/>
          </a:prstGeom>
        </p:spPr>
      </p:pic>
      <p:sp>
        <p:nvSpPr>
          <p:cNvPr id="15" name="TextBox 22">
            <a:extLst>
              <a:ext uri="{FF2B5EF4-FFF2-40B4-BE49-F238E27FC236}">
                <a16:creationId xmlns:a16="http://schemas.microsoft.com/office/drawing/2014/main" id="{77967A7C-ABD3-81AF-9414-1A61772C1E90}"/>
              </a:ext>
            </a:extLst>
          </p:cNvPr>
          <p:cNvSpPr txBox="1"/>
          <p:nvPr/>
        </p:nvSpPr>
        <p:spPr>
          <a:xfrm>
            <a:off x="8848725" y="1444543"/>
            <a:ext cx="876300" cy="3657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sz="2099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1</a:t>
            </a:r>
          </a:p>
        </p:txBody>
      </p:sp>
      <p:sp>
        <p:nvSpPr>
          <p:cNvPr id="16" name="TextBox 22">
            <a:extLst>
              <a:ext uri="{FF2B5EF4-FFF2-40B4-BE49-F238E27FC236}">
                <a16:creationId xmlns:a16="http://schemas.microsoft.com/office/drawing/2014/main" id="{48E61986-BDE1-6CEE-4F54-6073320FA32F}"/>
              </a:ext>
            </a:extLst>
          </p:cNvPr>
          <p:cNvSpPr txBox="1"/>
          <p:nvPr/>
        </p:nvSpPr>
        <p:spPr>
          <a:xfrm>
            <a:off x="8848725" y="4394129"/>
            <a:ext cx="876300" cy="3657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sz="2099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2</a:t>
            </a:r>
          </a:p>
        </p:txBody>
      </p:sp>
      <p:sp>
        <p:nvSpPr>
          <p:cNvPr id="17" name="TextBox 22">
            <a:extLst>
              <a:ext uri="{FF2B5EF4-FFF2-40B4-BE49-F238E27FC236}">
                <a16:creationId xmlns:a16="http://schemas.microsoft.com/office/drawing/2014/main" id="{825149A8-D3CB-B651-AC80-976A816DFDE9}"/>
              </a:ext>
            </a:extLst>
          </p:cNvPr>
          <p:cNvSpPr txBox="1"/>
          <p:nvPr/>
        </p:nvSpPr>
        <p:spPr>
          <a:xfrm>
            <a:off x="8848725" y="6534944"/>
            <a:ext cx="876300" cy="3657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sz="2099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3</a:t>
            </a:r>
          </a:p>
        </p:txBody>
      </p:sp>
      <p:sp>
        <p:nvSpPr>
          <p:cNvPr id="18" name="TextBox 22">
            <a:extLst>
              <a:ext uri="{FF2B5EF4-FFF2-40B4-BE49-F238E27FC236}">
                <a16:creationId xmlns:a16="http://schemas.microsoft.com/office/drawing/2014/main" id="{7BD2A1ED-F14A-7995-799A-A70FC2C51D56}"/>
              </a:ext>
            </a:extLst>
          </p:cNvPr>
          <p:cNvSpPr txBox="1"/>
          <p:nvPr/>
        </p:nvSpPr>
        <p:spPr>
          <a:xfrm>
            <a:off x="8848725" y="8953500"/>
            <a:ext cx="876300" cy="3657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sz="2099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9236092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353196-8981-BAD2-CE44-A57613EC9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87B743D-7D14-5FC9-C76C-0FE63BEC2BC0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  <p:txBody>
          <a:bodyPr/>
          <a:lstStyle/>
          <a:p>
            <a:endParaRPr lang="zh-CN" altLang="en-US" dirty="0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2EB3125A-755C-CACE-EDB2-C2CCCBAAF6A6}"/>
              </a:ext>
            </a:extLst>
          </p:cNvPr>
          <p:cNvSpPr txBox="1"/>
          <p:nvPr/>
        </p:nvSpPr>
        <p:spPr>
          <a:xfrm>
            <a:off x="1981200" y="468144"/>
            <a:ext cx="15316200" cy="14875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5808"/>
              </a:lnSpc>
              <a:spcBef>
                <a:spcPct val="0"/>
              </a:spcBef>
            </a:pPr>
            <a:r>
              <a:rPr lang="en-US" sz="5000" spc="-150" dirty="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Task B - Design and Implementation of the Pathfinding Algorithm</a:t>
            </a:r>
          </a:p>
        </p:txBody>
      </p:sp>
      <p:sp>
        <p:nvSpPr>
          <p:cNvPr id="36" name="Freeform 5">
            <a:extLst>
              <a:ext uri="{FF2B5EF4-FFF2-40B4-BE49-F238E27FC236}">
                <a16:creationId xmlns:a16="http://schemas.microsoft.com/office/drawing/2014/main" id="{BC49CB80-5A25-A744-AA1F-DF3CDAD6B63A}"/>
              </a:ext>
            </a:extLst>
          </p:cNvPr>
          <p:cNvSpPr/>
          <p:nvPr/>
        </p:nvSpPr>
        <p:spPr>
          <a:xfrm>
            <a:off x="228600" y="495300"/>
            <a:ext cx="1524000" cy="1457826"/>
          </a:xfrm>
          <a:custGeom>
            <a:avLst/>
            <a:gdLst/>
            <a:ahLst/>
            <a:cxnLst/>
            <a:rect l="l" t="t" r="r" b="b"/>
            <a:pathLst>
              <a:path w="3493612" h="3493612">
                <a:moveTo>
                  <a:pt x="0" y="0"/>
                </a:moveTo>
                <a:lnTo>
                  <a:pt x="3493612" y="0"/>
                </a:lnTo>
                <a:lnTo>
                  <a:pt x="3493612" y="3493612"/>
                </a:lnTo>
                <a:lnTo>
                  <a:pt x="0" y="34936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C3AA6D4-B517-447C-3043-DB054C769640}"/>
              </a:ext>
            </a:extLst>
          </p:cNvPr>
          <p:cNvSpPr txBox="1"/>
          <p:nvPr/>
        </p:nvSpPr>
        <p:spPr>
          <a:xfrm>
            <a:off x="457200" y="2423875"/>
            <a:ext cx="7162800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kern="100" dirty="0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Problem Analysis and Algorithm Selection</a:t>
            </a:r>
            <a:endParaRPr lang="zh-CN" altLang="zh-CN" sz="36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800" b="1" dirty="0"/>
              <a:t>Core</a:t>
            </a:r>
            <a:r>
              <a:rPr lang="en-US" altLang="zh-CN" sz="2800" dirty="0"/>
              <a:t>: plan a shortest path from a specified starting point to the end point in a US road network, which must pass through all user-specified points of interest (POIs), and can repeatedly pass through the same path or visit the same vertex.</a:t>
            </a:r>
          </a:p>
          <a:p>
            <a:r>
              <a:rPr lang="zh-CN" altLang="en-US" sz="2800" b="1" dirty="0"/>
              <a:t>→</a:t>
            </a:r>
            <a:r>
              <a:rPr lang="en-US" altLang="zh-CN" sz="2800" b="1" dirty="0"/>
              <a:t>From a graph-theoretic perspective</a:t>
            </a:r>
            <a:r>
              <a:rPr lang="en-US" altLang="zh-CN" sz="2800" dirty="0"/>
              <a:t>: a constrained shortest path optimization problem, which is essentially a </a:t>
            </a:r>
            <a:r>
              <a:rPr lang="en-US" altLang="zh-CN" sz="2800" b="1" dirty="0"/>
              <a:t>variant</a:t>
            </a:r>
            <a:r>
              <a:rPr lang="en-US" altLang="zh-CN" sz="2800" dirty="0"/>
              <a:t> of the </a:t>
            </a:r>
            <a:r>
              <a:rPr lang="en-US" altLang="zh-CN" sz="2800" b="1" dirty="0"/>
              <a:t>Traveler's Problem (TSP) </a:t>
            </a:r>
            <a:r>
              <a:rPr lang="en-US" altLang="zh-CN" sz="2800" dirty="0"/>
              <a:t>or </a:t>
            </a:r>
            <a:r>
              <a:rPr lang="en-US" altLang="zh-CN" sz="2800" b="1" dirty="0"/>
              <a:t>the search for Hamiltonian paths</a:t>
            </a:r>
            <a:r>
              <a:rPr lang="en-US" altLang="zh-CN" sz="2800" dirty="0"/>
              <a:t>, and thus has the following key features:</a:t>
            </a:r>
            <a:endParaRPr lang="zh-CN" altLang="en-US" sz="28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64F4034-1CED-FDF3-1DE2-9EEC77AF4846}"/>
              </a:ext>
            </a:extLst>
          </p:cNvPr>
          <p:cNvSpPr txBox="1"/>
          <p:nvPr/>
        </p:nvSpPr>
        <p:spPr>
          <a:xfrm>
            <a:off x="8458200" y="1953126"/>
            <a:ext cx="8991600" cy="70480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/>
              <a:t>3 Key Features of the Problem: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CN" sz="2800" b="1" dirty="0"/>
              <a:t>NP-Hard Properties</a:t>
            </a:r>
            <a:r>
              <a:rPr lang="en-US" altLang="zh-CN" sz="2800" dirty="0"/>
              <a:t>: equivalent to finding a Hamiltonian path from the start to the end in a graph, which has been shown to be NP-complete. </a:t>
            </a:r>
            <a:r>
              <a:rPr lang="en-US" altLang="zh-CN" sz="2800" i="1" u="sng" dirty="0"/>
              <a:t>Computational complexity grows in a factorial order with v and cannot be solved in polynomial time.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CN" sz="2800" b="1" dirty="0"/>
              <a:t>Subproblem decomposability</a:t>
            </a:r>
            <a:r>
              <a:rPr lang="en-US" altLang="zh-CN" sz="2800" dirty="0"/>
              <a:t>: its subproblem can be solved efficiently by Dijkstra or Floyd-Warshall algorithms, </a:t>
            </a:r>
            <a:r>
              <a:rPr lang="en-US" altLang="zh-CN" sz="2800" i="1" u="sng" dirty="0"/>
              <a:t>providing breakthrough</a:t>
            </a:r>
            <a:r>
              <a:rPr lang="en-US" altLang="zh-CN" sz="2800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CN" sz="2800" b="1" dirty="0"/>
              <a:t>Map properties</a:t>
            </a:r>
            <a:r>
              <a:rPr lang="en-US" altLang="zh-CN" sz="2800" dirty="0"/>
              <a:t>: the actual road network is </a:t>
            </a:r>
            <a:r>
              <a:rPr lang="en-US" altLang="zh-CN" sz="2800" b="1" u="sng" dirty="0"/>
              <a:t>usually a sparse graph</a:t>
            </a:r>
            <a:r>
              <a:rPr lang="en-US" altLang="zh-CN" sz="2800" dirty="0"/>
              <a:t>, and the distance between cities </a:t>
            </a:r>
            <a:r>
              <a:rPr lang="en-US" altLang="zh-CN" sz="2800" b="1" u="sng" dirty="0"/>
              <a:t>satisfies the triangular inequality, </a:t>
            </a:r>
            <a:r>
              <a:rPr lang="en-US" altLang="zh-CN" sz="2800" dirty="0"/>
              <a:t>and the </a:t>
            </a:r>
            <a:r>
              <a:rPr lang="en-US" altLang="zh-CN" sz="2800" b="1" u="sng" dirty="0"/>
              <a:t>distribution</a:t>
            </a:r>
            <a:r>
              <a:rPr lang="en-US" altLang="zh-CN" sz="2800" dirty="0"/>
              <a:t> of edge weights is often characterized by geographical clustering, which provides the </a:t>
            </a:r>
            <a:r>
              <a:rPr lang="en-US" altLang="zh-CN" sz="2800" i="1" u="sng" dirty="0"/>
              <a:t>possibility of heuristic pruning and preprocessing.</a:t>
            </a:r>
          </a:p>
          <a:p>
            <a:endParaRPr lang="zh-CN" altLang="en-US" sz="24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B3076BF-6814-3E7C-EF50-EC73772DD8AD}"/>
              </a:ext>
            </a:extLst>
          </p:cNvPr>
          <p:cNvSpPr txBox="1"/>
          <p:nvPr/>
        </p:nvSpPr>
        <p:spPr>
          <a:xfrm>
            <a:off x="4838700" y="8803198"/>
            <a:ext cx="126111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*Due to the requirement of obtaining an optimal solution to the problem, greedy algorithms or heuristic methods are not applicable. In this case, a branch-and-bound method based on dynamic programming can be considered as a solution to the TSP problem.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6313066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72FBF-BB12-1D58-B7EF-9D6D54FAB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1C9D53B-5C7C-7870-7100-C2A2C50CB287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  <p:txBody>
          <a:bodyPr/>
          <a:lstStyle/>
          <a:p>
            <a:endParaRPr lang="zh-CN" altLang="en-US" dirty="0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8155589B-3E0B-1B52-A6B5-4F6E1AF8C185}"/>
              </a:ext>
            </a:extLst>
          </p:cNvPr>
          <p:cNvSpPr txBox="1"/>
          <p:nvPr/>
        </p:nvSpPr>
        <p:spPr>
          <a:xfrm>
            <a:off x="1981200" y="468144"/>
            <a:ext cx="15316200" cy="14875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5808"/>
              </a:lnSpc>
              <a:spcBef>
                <a:spcPct val="0"/>
              </a:spcBef>
            </a:pPr>
            <a:r>
              <a:rPr lang="en-US" sz="5000" spc="-150" dirty="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Task B - Design </a:t>
            </a:r>
            <a:r>
              <a:rPr lang="en-US" sz="5000" spc="-15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and Implementation </a:t>
            </a:r>
            <a:r>
              <a:rPr lang="en-US" sz="5000" spc="-150" dirty="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of </a:t>
            </a:r>
            <a:r>
              <a:rPr lang="en-US" sz="5000" spc="-15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the Pathfinding </a:t>
            </a:r>
            <a:r>
              <a:rPr lang="en-US" sz="5000" spc="-150" dirty="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A</a:t>
            </a:r>
            <a:r>
              <a:rPr lang="en-US" sz="5000" spc="-15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lgorithm</a:t>
            </a:r>
            <a:endParaRPr lang="en-US" sz="5000" spc="-150" dirty="0">
              <a:solidFill>
                <a:srgbClr val="000000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36" name="Freeform 5">
            <a:extLst>
              <a:ext uri="{FF2B5EF4-FFF2-40B4-BE49-F238E27FC236}">
                <a16:creationId xmlns:a16="http://schemas.microsoft.com/office/drawing/2014/main" id="{1F9315E2-88BD-A1B4-8A1D-888B69C30904}"/>
              </a:ext>
            </a:extLst>
          </p:cNvPr>
          <p:cNvSpPr/>
          <p:nvPr/>
        </p:nvSpPr>
        <p:spPr>
          <a:xfrm>
            <a:off x="228600" y="495300"/>
            <a:ext cx="1524000" cy="1457826"/>
          </a:xfrm>
          <a:custGeom>
            <a:avLst/>
            <a:gdLst/>
            <a:ahLst/>
            <a:cxnLst/>
            <a:rect l="l" t="t" r="r" b="b"/>
            <a:pathLst>
              <a:path w="3493612" h="3493612">
                <a:moveTo>
                  <a:pt x="0" y="0"/>
                </a:moveTo>
                <a:lnTo>
                  <a:pt x="3493612" y="0"/>
                </a:lnTo>
                <a:lnTo>
                  <a:pt x="3493612" y="3493612"/>
                </a:lnTo>
                <a:lnTo>
                  <a:pt x="0" y="34936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D6321E6-3807-4FF7-1D9B-18372F906820}"/>
              </a:ext>
            </a:extLst>
          </p:cNvPr>
          <p:cNvSpPr txBox="1"/>
          <p:nvPr/>
        </p:nvSpPr>
        <p:spPr>
          <a:xfrm>
            <a:off x="228600" y="2095500"/>
            <a:ext cx="8001000" cy="7879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zh-CN" sz="2200" b="1" u="sng" dirty="0"/>
              <a:t>Algorithm A: Brute‑Force Dijkstra Approach</a:t>
            </a:r>
            <a:endParaRPr lang="en-US" altLang="zh-CN" sz="2200" u="sng" dirty="0"/>
          </a:p>
          <a:p>
            <a:pPr>
              <a:buFont typeface="+mj-lt"/>
              <a:buAutoNum type="arabicPeriod"/>
            </a:pPr>
            <a:r>
              <a:rPr lang="en-US" altLang="zh-CN" sz="2200" b="1" dirty="0"/>
              <a:t>Generate Permutations</a:t>
            </a:r>
            <a:endParaRPr lang="en-US" altLang="zh-CN" sz="2200" dirty="0"/>
          </a:p>
          <a:p>
            <a:pPr marL="742950" lvl="1" indent="-285750">
              <a:buFont typeface="+mj-lt"/>
              <a:buAutoNum type="arabicPeriod"/>
            </a:pPr>
            <a:r>
              <a:rPr lang="en-US" altLang="zh-CN" sz="2200" dirty="0"/>
              <a:t>Enumerate all v! permutations of the v user‑specified waypoints.</a:t>
            </a:r>
          </a:p>
          <a:p>
            <a:pPr>
              <a:buFont typeface="+mj-lt"/>
              <a:buAutoNum type="arabicPeriod"/>
            </a:pPr>
            <a:r>
              <a:rPr lang="en-US" altLang="zh-CN" sz="2200" b="1" dirty="0"/>
              <a:t>Decompose into Segments</a:t>
            </a:r>
            <a:endParaRPr lang="en-US" altLang="zh-CN" sz="2200" dirty="0"/>
          </a:p>
          <a:p>
            <a:pPr marL="742950" lvl="1" indent="-285750">
              <a:buFont typeface="+mj-lt"/>
              <a:buAutoNum type="arabicPeriod"/>
            </a:pPr>
            <a:r>
              <a:rPr lang="en-US" altLang="zh-CN" sz="2200" dirty="0"/>
              <a:t>For each permutation, break the route into v+1 segments: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US" altLang="zh-CN" sz="2200" dirty="0"/>
              <a:t>Start → first waypoint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US" altLang="zh-CN" sz="2200" dirty="0"/>
              <a:t>Between each consecutive pair of waypoints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US" altLang="zh-CN" sz="2200" dirty="0"/>
              <a:t>Last waypoint → end</a:t>
            </a:r>
          </a:p>
          <a:p>
            <a:pPr>
              <a:buFont typeface="+mj-lt"/>
              <a:buAutoNum type="arabicPeriod"/>
            </a:pPr>
            <a:r>
              <a:rPr lang="en-US" altLang="zh-CN" sz="2200" b="1" dirty="0"/>
              <a:t>Compute Shortest Paths</a:t>
            </a:r>
            <a:endParaRPr lang="en-US" altLang="zh-CN" sz="2200" dirty="0"/>
          </a:p>
          <a:p>
            <a:pPr marL="742950" lvl="1" indent="-285750">
              <a:buFont typeface="+mj-lt"/>
              <a:buAutoNum type="arabicPeriod"/>
            </a:pPr>
            <a:r>
              <a:rPr lang="en-US" altLang="zh-CN" sz="2200" dirty="0"/>
              <a:t>For each segment, run Dijkstra’s algorithm on the full graph: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US" altLang="zh-CN" sz="2200" dirty="0"/>
              <a:t>Naïve array/matrix version: </a:t>
            </a:r>
            <a:r>
              <a:rPr lang="el-GR" altLang="zh-CN" sz="2200" dirty="0"/>
              <a:t>Θ </a:t>
            </a:r>
            <a:r>
              <a:rPr lang="en-US" altLang="zh-CN" sz="2200" dirty="0"/>
              <a:t>(n^2)</a:t>
            </a:r>
            <a:r>
              <a:rPr lang="el-GR" altLang="zh-CN" sz="2200" dirty="0"/>
              <a:t> </a:t>
            </a:r>
            <a:r>
              <a:rPr lang="en-US" altLang="zh-CN" sz="2200" dirty="0"/>
              <a:t>per run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US" altLang="zh-CN" sz="2200" dirty="0"/>
              <a:t>With a min‑heap (priority queue): </a:t>
            </a:r>
            <a:r>
              <a:rPr lang="el-GR" altLang="zh-CN" sz="2200" dirty="0"/>
              <a:t>Θ(</a:t>
            </a:r>
            <a:r>
              <a:rPr lang="en-US" altLang="zh-CN" sz="2200" dirty="0"/>
              <a:t>n log⁡ n) per run</a:t>
            </a:r>
          </a:p>
          <a:p>
            <a:pPr>
              <a:buFont typeface="+mj-lt"/>
              <a:buAutoNum type="arabicPeriod"/>
            </a:pPr>
            <a:r>
              <a:rPr lang="en-US" altLang="zh-CN" sz="2200" b="1" dirty="0"/>
              <a:t>Accumulate Distances</a:t>
            </a:r>
            <a:endParaRPr lang="en-US" altLang="zh-CN" sz="2200" dirty="0"/>
          </a:p>
          <a:p>
            <a:pPr marL="742950" lvl="1" indent="-285750">
              <a:buFont typeface="+mj-lt"/>
              <a:buAutoNum type="arabicPeriod"/>
            </a:pPr>
            <a:r>
              <a:rPr lang="en-US" altLang="zh-CN" sz="2200" dirty="0"/>
              <a:t>Sum the distances of the v+1 segments to get the total route length.</a:t>
            </a:r>
          </a:p>
          <a:p>
            <a:pPr>
              <a:buFont typeface="+mj-lt"/>
              <a:buAutoNum type="arabicPeriod"/>
            </a:pPr>
            <a:r>
              <a:rPr lang="en-US" altLang="zh-CN" sz="2200" b="1" dirty="0"/>
              <a:t>Select Best Permutation</a:t>
            </a:r>
            <a:endParaRPr lang="en-US" altLang="zh-CN" sz="2200" dirty="0"/>
          </a:p>
          <a:p>
            <a:pPr marL="742950" lvl="1" indent="-285750">
              <a:buFont typeface="+mj-lt"/>
              <a:buAutoNum type="arabicPeriod"/>
            </a:pPr>
            <a:r>
              <a:rPr lang="en-US" altLang="zh-CN" sz="2200" dirty="0"/>
              <a:t>Compare all v! total lengths and choose the smallest as the optimal path.</a:t>
            </a:r>
          </a:p>
          <a:p>
            <a:pPr>
              <a:buFont typeface="+mj-lt"/>
              <a:buAutoNum type="arabicPeriod"/>
            </a:pPr>
            <a:r>
              <a:rPr lang="en-US" altLang="zh-CN" sz="2200" b="1" dirty="0"/>
              <a:t>Complexity &amp; Space</a:t>
            </a:r>
            <a:endParaRPr lang="en-US" altLang="zh-CN" sz="2200" dirty="0"/>
          </a:p>
          <a:p>
            <a:pPr marL="742950" lvl="1" indent="-285750">
              <a:buFont typeface="+mj-lt"/>
              <a:buAutoNum type="arabicPeriod"/>
            </a:pPr>
            <a:r>
              <a:rPr lang="en-US" altLang="zh-CN" sz="2200" b="1" u="sng" dirty="0"/>
              <a:t>Time: O(v!×(v+1)×n^2)</a:t>
            </a:r>
            <a:r>
              <a:rPr lang="en-US" altLang="zh-CN" sz="2200" dirty="0"/>
              <a:t> (or O(v!×(v+1)×n log ⁡n))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altLang="zh-CN" sz="2200" dirty="0"/>
              <a:t>Space: O(n^2) for the adjacency matrix + O(n) recursion/stack overhead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C876ABB-3F58-9EC7-F28A-C8F9C6518697}"/>
              </a:ext>
            </a:extLst>
          </p:cNvPr>
          <p:cNvSpPr txBox="1"/>
          <p:nvPr/>
        </p:nvSpPr>
        <p:spPr>
          <a:xfrm>
            <a:off x="8343900" y="1843272"/>
            <a:ext cx="9829800" cy="85561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zh-CN" sz="2200" b="1" u="sng" dirty="0"/>
              <a:t>Algorithm B: Floyd–</a:t>
            </a:r>
            <a:r>
              <a:rPr lang="en-US" altLang="zh-CN" sz="2200" b="1" u="sng" dirty="0" err="1"/>
              <a:t>Warshall</a:t>
            </a:r>
            <a:r>
              <a:rPr lang="en-US" altLang="zh-CN" sz="2200" b="1" u="sng" dirty="0"/>
              <a:t> + Branch‑and‑Bound</a:t>
            </a:r>
            <a:endParaRPr lang="en-US" altLang="zh-CN" sz="2200" u="sng" dirty="0"/>
          </a:p>
          <a:p>
            <a:pPr>
              <a:buFont typeface="+mj-lt"/>
              <a:buAutoNum type="arabicPeriod"/>
            </a:pPr>
            <a:r>
              <a:rPr lang="en-US" altLang="zh-CN" sz="2200" b="1" dirty="0"/>
              <a:t>Precompute All‑Pairs Shortest Paths</a:t>
            </a:r>
            <a:endParaRPr lang="en-US" altLang="zh-CN" sz="2200" dirty="0"/>
          </a:p>
          <a:p>
            <a:pPr marL="742950" lvl="1" indent="-285750">
              <a:buFont typeface="+mj-lt"/>
              <a:buAutoNum type="arabicPeriod"/>
            </a:pPr>
            <a:r>
              <a:rPr lang="en-US" altLang="zh-CN" sz="2200" dirty="0"/>
              <a:t>Run Floyd–</a:t>
            </a:r>
            <a:r>
              <a:rPr lang="en-US" altLang="zh-CN" sz="2200" dirty="0" err="1"/>
              <a:t>Warshall</a:t>
            </a:r>
            <a:r>
              <a:rPr lang="en-US" altLang="zh-CN" sz="2200" dirty="0"/>
              <a:t> on the n‑node graph to get distances and path info for every city pair. Time: O(n^3) Space: Θ (n^2) for the distance matrix</a:t>
            </a:r>
          </a:p>
          <a:p>
            <a:pPr>
              <a:buFont typeface="+mj-lt"/>
              <a:buAutoNum type="arabicPeriod"/>
            </a:pPr>
            <a:r>
              <a:rPr lang="en-US" altLang="zh-CN" sz="2200" b="1" dirty="0"/>
              <a:t>Build Adjacency of Shortest Legs</a:t>
            </a:r>
            <a:endParaRPr lang="en-US" altLang="zh-CN" sz="2200" dirty="0"/>
          </a:p>
          <a:p>
            <a:pPr marL="742950" lvl="1" indent="-285750">
              <a:buFont typeface="+mj-lt"/>
              <a:buAutoNum type="arabicPeriod"/>
            </a:pPr>
            <a:r>
              <a:rPr lang="en-US" altLang="zh-CN" sz="2200" dirty="0"/>
              <a:t>Transform the Floyd output into a map from each city to its list of shortest‑path “legs” to all others.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altLang="zh-CN" sz="2200" dirty="0"/>
              <a:t>Now any two‑city shortest path query is O(1).</a:t>
            </a:r>
          </a:p>
          <a:p>
            <a:pPr>
              <a:buFont typeface="+mj-lt"/>
              <a:buAutoNum type="arabicPeriod"/>
            </a:pPr>
            <a:r>
              <a:rPr lang="en-US" altLang="zh-CN" sz="2200" b="1" dirty="0"/>
              <a:t>Initialize Branch‑and‑Bound</a:t>
            </a:r>
            <a:endParaRPr lang="en-US" altLang="zh-CN" sz="2200" dirty="0"/>
          </a:p>
          <a:p>
            <a:pPr lvl="1"/>
            <a:r>
              <a:rPr lang="en-US" altLang="zh-CN" sz="2200" dirty="0"/>
              <a:t>Define state as (current city, set of visited waypoints). Maintain a global best‑cost upper bound.</a:t>
            </a:r>
          </a:p>
          <a:p>
            <a:pPr>
              <a:buFont typeface="+mj-lt"/>
              <a:buAutoNum type="arabicPeriod"/>
            </a:pPr>
            <a:r>
              <a:rPr lang="en-US" altLang="zh-CN" sz="2200" b="1" dirty="0"/>
              <a:t>Depth‑First Search with Pruning</a:t>
            </a:r>
            <a:endParaRPr lang="en-US" altLang="zh-CN" sz="2200" dirty="0"/>
          </a:p>
          <a:p>
            <a:pPr marL="742950" lvl="1" indent="-285750">
              <a:buFont typeface="+mj-lt"/>
              <a:buAutoNum type="arabicPeriod"/>
            </a:pPr>
            <a:r>
              <a:rPr lang="en-US" altLang="zh-CN" sz="2200" dirty="0"/>
              <a:t>Recursively explore unvisited waypoints: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US" altLang="zh-CN" sz="2200" dirty="0"/>
              <a:t>For each next waypoint not yet visited, fetch its precomputed leg and add its cost.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US" altLang="zh-CN" sz="2200" dirty="0"/>
              <a:t>If the running cost ≥ current best bound, prune that branch.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US" altLang="zh-CN" sz="2200" dirty="0"/>
              <a:t>Otherwise, mark waypoint visited and recurse.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altLang="zh-CN" sz="2200" dirty="0"/>
              <a:t>Upon visiting all waypoints, add the leg to the end city and update the best bound if improved.</a:t>
            </a:r>
          </a:p>
          <a:p>
            <a:pPr>
              <a:buFont typeface="+mj-lt"/>
              <a:buAutoNum type="arabicPeriod"/>
            </a:pPr>
            <a:r>
              <a:rPr lang="en-US" altLang="zh-CN" sz="2200" b="1" dirty="0"/>
              <a:t>Reconstruct Optimal Path</a:t>
            </a:r>
            <a:endParaRPr lang="en-US" altLang="zh-CN" sz="2200" dirty="0"/>
          </a:p>
          <a:p>
            <a:pPr lvl="1"/>
            <a:r>
              <a:rPr lang="en-US" altLang="zh-CN" sz="2200" dirty="0"/>
              <a:t>Collect the sequence of legs that yielded the best bound and concatenate their city lists.</a:t>
            </a:r>
          </a:p>
          <a:p>
            <a:pPr>
              <a:buFont typeface="+mj-lt"/>
              <a:buAutoNum type="arabicPeriod"/>
            </a:pPr>
            <a:r>
              <a:rPr lang="en-US" altLang="zh-CN" sz="2200" b="1" dirty="0"/>
              <a:t>Complexity &amp; Space</a:t>
            </a:r>
            <a:endParaRPr lang="en-US" altLang="zh-CN" sz="2200" dirty="0"/>
          </a:p>
          <a:p>
            <a:pPr marL="742950" lvl="1" indent="-285750">
              <a:buFont typeface="+mj-lt"/>
              <a:buAutoNum type="arabicPeriod"/>
            </a:pPr>
            <a:r>
              <a:rPr lang="en-US" altLang="zh-CN" sz="2200" dirty="0"/>
              <a:t>Worst‑case Time: still factorial (</a:t>
            </a:r>
            <a:r>
              <a:rPr lang="en-US" altLang="zh-CN" sz="2200" b="1" u="sng" dirty="0"/>
              <a:t>O(v!)</a:t>
            </a:r>
            <a:r>
              <a:rPr lang="en-US" altLang="zh-CN" sz="2200" dirty="0"/>
              <a:t>), but </a:t>
            </a:r>
            <a:r>
              <a:rPr lang="en-US" altLang="zh-CN" sz="2200" b="1" u="sng" dirty="0"/>
              <a:t>heavy pruning often reduces work dramatically</a:t>
            </a:r>
            <a:r>
              <a:rPr lang="en-US" altLang="zh-CN" sz="2200" dirty="0"/>
              <a:t>. Space: O(n^2) for Floyd data + O(v) recursion depth.</a:t>
            </a:r>
          </a:p>
        </p:txBody>
      </p:sp>
    </p:spTree>
    <p:extLst>
      <p:ext uri="{BB962C8B-B14F-4D97-AF65-F5344CB8AC3E}">
        <p14:creationId xmlns:p14="http://schemas.microsoft.com/office/powerpoint/2010/main" val="3392348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B3779-FAAF-70FB-8F67-4480B3900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2E61A83-F0D7-E29A-7D40-FA067311F7CF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  <p:txBody>
          <a:bodyPr/>
          <a:lstStyle/>
          <a:p>
            <a:endParaRPr lang="zh-CN" altLang="en-US" dirty="0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A0132420-1C24-D10F-B2F4-8F018821B6E5}"/>
              </a:ext>
            </a:extLst>
          </p:cNvPr>
          <p:cNvSpPr txBox="1"/>
          <p:nvPr/>
        </p:nvSpPr>
        <p:spPr>
          <a:xfrm>
            <a:off x="1981200" y="468144"/>
            <a:ext cx="15316200" cy="14875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5808"/>
              </a:lnSpc>
              <a:spcBef>
                <a:spcPct val="0"/>
              </a:spcBef>
            </a:pPr>
            <a:r>
              <a:rPr lang="en-US" sz="5000" spc="-150" dirty="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Task B - Design </a:t>
            </a:r>
            <a:r>
              <a:rPr lang="en-US" sz="5000" spc="-15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and Implementation </a:t>
            </a:r>
            <a:r>
              <a:rPr lang="en-US" sz="5000" spc="-150" dirty="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of </a:t>
            </a:r>
            <a:r>
              <a:rPr lang="en-US" sz="5000" spc="-15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the Pathfinding </a:t>
            </a:r>
            <a:r>
              <a:rPr lang="en-US" sz="5000" spc="-150" dirty="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A</a:t>
            </a:r>
            <a:r>
              <a:rPr lang="en-US" sz="5000" spc="-15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lgorithm</a:t>
            </a:r>
            <a:endParaRPr lang="en-US" sz="5000" spc="-150" dirty="0">
              <a:solidFill>
                <a:srgbClr val="000000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36" name="Freeform 5">
            <a:extLst>
              <a:ext uri="{FF2B5EF4-FFF2-40B4-BE49-F238E27FC236}">
                <a16:creationId xmlns:a16="http://schemas.microsoft.com/office/drawing/2014/main" id="{B1F2340C-CA38-31AE-67A8-E28AE7A6A709}"/>
              </a:ext>
            </a:extLst>
          </p:cNvPr>
          <p:cNvSpPr/>
          <p:nvPr/>
        </p:nvSpPr>
        <p:spPr>
          <a:xfrm>
            <a:off x="228600" y="495300"/>
            <a:ext cx="1524000" cy="1457826"/>
          </a:xfrm>
          <a:custGeom>
            <a:avLst/>
            <a:gdLst/>
            <a:ahLst/>
            <a:cxnLst/>
            <a:rect l="l" t="t" r="r" b="b"/>
            <a:pathLst>
              <a:path w="3493612" h="3493612">
                <a:moveTo>
                  <a:pt x="0" y="0"/>
                </a:moveTo>
                <a:lnTo>
                  <a:pt x="3493612" y="0"/>
                </a:lnTo>
                <a:lnTo>
                  <a:pt x="3493612" y="3493612"/>
                </a:lnTo>
                <a:lnTo>
                  <a:pt x="0" y="34936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FF3B066-88BF-7961-448B-B151281B769A}"/>
              </a:ext>
            </a:extLst>
          </p:cNvPr>
          <p:cNvSpPr txBox="1"/>
          <p:nvPr/>
        </p:nvSpPr>
        <p:spPr>
          <a:xfrm>
            <a:off x="462455" y="2066396"/>
            <a:ext cx="7162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kern="100" dirty="0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Algorithm implementation</a:t>
            </a:r>
            <a:endParaRPr lang="zh-CN" altLang="zh-CN" sz="36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AD0EDEF-6652-4EFD-20B2-82A868D63AC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8080" r="28080"/>
          <a:stretch/>
        </p:blipFill>
        <p:spPr>
          <a:xfrm>
            <a:off x="9372600" y="1224212"/>
            <a:ext cx="6477000" cy="8832273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CE003485-FB51-BADE-E807-D31DD798F074}"/>
              </a:ext>
            </a:extLst>
          </p:cNvPr>
          <p:cNvSpPr txBox="1"/>
          <p:nvPr/>
        </p:nvSpPr>
        <p:spPr>
          <a:xfrm>
            <a:off x="462455" y="2969449"/>
            <a:ext cx="79248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l">
              <a:buFont typeface="+mj-lt"/>
              <a:buAutoNum type="arabicPeriod"/>
            </a:pPr>
            <a:r>
              <a:rPr lang="en-US" altLang="zh-CN" sz="2400" kern="100" dirty="0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Input parsing: the programme reads the map data, the start point, end point and the list of waypoints.</a:t>
            </a:r>
            <a:endParaRPr lang="zh-CN" altLang="zh-CN" sz="2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l">
              <a:buFont typeface="+mj-lt"/>
              <a:buAutoNum type="arabicPeriod"/>
            </a:pPr>
            <a:r>
              <a:rPr lang="en-US" altLang="zh-CN" sz="2400" kern="100" dirty="0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Complexity Estimation: Calculate the theoretical complexity of the two algorithms based on n (the total number of cities) and v (the number of passing points).</a:t>
            </a:r>
            <a:endParaRPr lang="zh-CN" altLang="zh-CN" sz="2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l">
              <a:buFont typeface="+mj-lt"/>
              <a:buAutoNum type="arabicPeriod"/>
            </a:pPr>
            <a:r>
              <a:rPr lang="en-US" altLang="zh-CN" sz="2400" kern="100" dirty="0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Algorithm Selection: Automatically compare the order of magnitude of O(v!-(v+1)-n²) and O(n³ + pruning cost), and select the lower one.</a:t>
            </a:r>
            <a:endParaRPr lang="zh-CN" altLang="zh-CN" sz="2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l">
              <a:buFont typeface="+mj-lt"/>
              <a:buAutoNum type="arabicPeriod"/>
            </a:pPr>
            <a:r>
              <a:rPr lang="en-US" altLang="zh-CN" sz="2400" kern="100" dirty="0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Path computation: Algorithm A enumerates sequence by sequence and calls Dijkstra, Algorithm B starts with Floyd-Warshall and then use Branch and Bound.</a:t>
            </a:r>
            <a:endParaRPr lang="zh-CN" altLang="zh-CN" sz="2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l">
              <a:buFont typeface="+mj-lt"/>
              <a:buAutoNum type="arabicPeriod"/>
            </a:pPr>
            <a:r>
              <a:rPr lang="en-US" altLang="zh-CN" sz="2400" kern="100" dirty="0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Output: return the shortest path sequence and total distance, and display the list of cities along the route in the interface.</a:t>
            </a:r>
            <a:endParaRPr lang="zh-CN" altLang="zh-CN" sz="2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73113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9FDF36-4D40-DF64-5701-DDDED8158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367E558-E85A-8768-17BA-A9968ED121F7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  <p:txBody>
          <a:bodyPr/>
          <a:lstStyle/>
          <a:p>
            <a:endParaRPr lang="zh-CN" altLang="en-US" dirty="0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8413A6E0-59E9-ACB6-D5BB-7228753E19B9}"/>
              </a:ext>
            </a:extLst>
          </p:cNvPr>
          <p:cNvSpPr txBox="1"/>
          <p:nvPr/>
        </p:nvSpPr>
        <p:spPr>
          <a:xfrm>
            <a:off x="1981200" y="468144"/>
            <a:ext cx="15316200" cy="14875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5808"/>
              </a:lnSpc>
              <a:spcBef>
                <a:spcPct val="0"/>
              </a:spcBef>
            </a:pPr>
            <a:r>
              <a:rPr lang="en-US" sz="5000" spc="-150" dirty="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Task B - Design </a:t>
            </a:r>
            <a:r>
              <a:rPr lang="en-US" sz="5000" spc="-15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and Implementation </a:t>
            </a:r>
            <a:r>
              <a:rPr lang="en-US" sz="5000" spc="-150" dirty="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of </a:t>
            </a:r>
            <a:r>
              <a:rPr lang="en-US" sz="5000" spc="-15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the Pathfinding </a:t>
            </a:r>
            <a:r>
              <a:rPr lang="en-US" sz="5000" spc="-150" dirty="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A</a:t>
            </a:r>
            <a:r>
              <a:rPr lang="en-US" sz="5000" spc="-15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lgorithm</a:t>
            </a:r>
            <a:endParaRPr lang="en-US" sz="5000" spc="-150" dirty="0">
              <a:solidFill>
                <a:srgbClr val="000000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36" name="Freeform 5">
            <a:extLst>
              <a:ext uri="{FF2B5EF4-FFF2-40B4-BE49-F238E27FC236}">
                <a16:creationId xmlns:a16="http://schemas.microsoft.com/office/drawing/2014/main" id="{828EF5A6-BB9B-69AE-979F-BF2B1D406E1F}"/>
              </a:ext>
            </a:extLst>
          </p:cNvPr>
          <p:cNvSpPr/>
          <p:nvPr/>
        </p:nvSpPr>
        <p:spPr>
          <a:xfrm>
            <a:off x="228600" y="495300"/>
            <a:ext cx="1524000" cy="1457826"/>
          </a:xfrm>
          <a:custGeom>
            <a:avLst/>
            <a:gdLst/>
            <a:ahLst/>
            <a:cxnLst/>
            <a:rect l="l" t="t" r="r" b="b"/>
            <a:pathLst>
              <a:path w="3493612" h="3493612">
                <a:moveTo>
                  <a:pt x="0" y="0"/>
                </a:moveTo>
                <a:lnTo>
                  <a:pt x="3493612" y="0"/>
                </a:lnTo>
                <a:lnTo>
                  <a:pt x="3493612" y="3493612"/>
                </a:lnTo>
                <a:lnTo>
                  <a:pt x="0" y="34936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4E0CC7B-E44F-044F-C022-83046C2BD110}"/>
              </a:ext>
            </a:extLst>
          </p:cNvPr>
          <p:cNvSpPr txBox="1"/>
          <p:nvPr/>
        </p:nvSpPr>
        <p:spPr>
          <a:xfrm>
            <a:off x="462454" y="2066396"/>
            <a:ext cx="149299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kern="100" dirty="0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Evaluation of two algorithms in terms of time and space complexity</a:t>
            </a:r>
            <a:endParaRPr lang="zh-CN" altLang="zh-CN" sz="36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606B4CD-CD7A-FBF6-0383-CE96FEA2BF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3436519"/>
            <a:ext cx="8587339" cy="536708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8CC5F063-6118-52A1-36BE-7E888B99060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3999" y="3436519"/>
            <a:ext cx="8587339" cy="5367087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18BD3749-B099-8CF0-D011-2E6A25EC3377}"/>
              </a:ext>
            </a:extLst>
          </p:cNvPr>
          <p:cNvSpPr txBox="1"/>
          <p:nvPr/>
        </p:nvSpPr>
        <p:spPr>
          <a:xfrm>
            <a:off x="2743200" y="8856291"/>
            <a:ext cx="4343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Time Complexity</a:t>
            </a:r>
            <a:endParaRPr lang="zh-CN" altLang="en-US" sz="24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73AA208-754C-5358-130D-725C4879ADA0}"/>
              </a:ext>
            </a:extLst>
          </p:cNvPr>
          <p:cNvSpPr txBox="1"/>
          <p:nvPr/>
        </p:nvSpPr>
        <p:spPr>
          <a:xfrm>
            <a:off x="12192000" y="8862476"/>
            <a:ext cx="4343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Space Complexity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0948971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F2E85F-40A8-ABB2-8E85-F3B03B866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8FD2672-455F-6A31-D53D-4F3C343C13FB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  <p:txBody>
          <a:bodyPr/>
          <a:lstStyle/>
          <a:p>
            <a:endParaRPr lang="zh-CN" altLang="en-US" dirty="0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D07B43C2-6901-45EE-C0F5-166A728DD77C}"/>
              </a:ext>
            </a:extLst>
          </p:cNvPr>
          <p:cNvSpPr txBox="1"/>
          <p:nvPr/>
        </p:nvSpPr>
        <p:spPr>
          <a:xfrm>
            <a:off x="1981200" y="468144"/>
            <a:ext cx="15316200" cy="14875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5808"/>
              </a:lnSpc>
              <a:spcBef>
                <a:spcPct val="0"/>
              </a:spcBef>
            </a:pPr>
            <a:r>
              <a:rPr lang="en-US" sz="5000" spc="-150" dirty="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Task B - Design </a:t>
            </a:r>
            <a:r>
              <a:rPr lang="en-US" sz="5000" spc="-15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and Implementation </a:t>
            </a:r>
            <a:r>
              <a:rPr lang="en-US" sz="5000" spc="-150" dirty="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of </a:t>
            </a:r>
            <a:r>
              <a:rPr lang="en-US" sz="5000" spc="-15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the Pathfinding </a:t>
            </a:r>
            <a:r>
              <a:rPr lang="en-US" sz="5000" spc="-150" dirty="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A</a:t>
            </a:r>
            <a:r>
              <a:rPr lang="en-US" sz="5000" spc="-15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lgorithm</a:t>
            </a:r>
            <a:endParaRPr lang="en-US" sz="5000" spc="-150" dirty="0">
              <a:solidFill>
                <a:srgbClr val="000000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36" name="Freeform 5">
            <a:extLst>
              <a:ext uri="{FF2B5EF4-FFF2-40B4-BE49-F238E27FC236}">
                <a16:creationId xmlns:a16="http://schemas.microsoft.com/office/drawing/2014/main" id="{A5AECE33-062E-116E-7915-175B14D9F2A4}"/>
              </a:ext>
            </a:extLst>
          </p:cNvPr>
          <p:cNvSpPr/>
          <p:nvPr/>
        </p:nvSpPr>
        <p:spPr>
          <a:xfrm>
            <a:off x="228600" y="495300"/>
            <a:ext cx="1524000" cy="1457826"/>
          </a:xfrm>
          <a:custGeom>
            <a:avLst/>
            <a:gdLst/>
            <a:ahLst/>
            <a:cxnLst/>
            <a:rect l="l" t="t" r="r" b="b"/>
            <a:pathLst>
              <a:path w="3493612" h="3493612">
                <a:moveTo>
                  <a:pt x="0" y="0"/>
                </a:moveTo>
                <a:lnTo>
                  <a:pt x="3493612" y="0"/>
                </a:lnTo>
                <a:lnTo>
                  <a:pt x="3493612" y="3493612"/>
                </a:lnTo>
                <a:lnTo>
                  <a:pt x="0" y="34936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340F88F-6B00-143E-7526-F9BC65A908FF}"/>
              </a:ext>
            </a:extLst>
          </p:cNvPr>
          <p:cNvSpPr txBox="1"/>
          <p:nvPr/>
        </p:nvSpPr>
        <p:spPr>
          <a:xfrm>
            <a:off x="462454" y="2066396"/>
            <a:ext cx="149299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kern="100" dirty="0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Evaluation of two algorithms in terms of time and space complexity</a:t>
            </a:r>
            <a:endParaRPr lang="zh-CN" altLang="zh-CN" sz="36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A8D272F-6C8D-53BF-1DE9-98B3688F8F18}"/>
              </a:ext>
            </a:extLst>
          </p:cNvPr>
          <p:cNvSpPr txBox="1"/>
          <p:nvPr/>
        </p:nvSpPr>
        <p:spPr>
          <a:xfrm>
            <a:off x="3200400" y="9273172"/>
            <a:ext cx="4343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Time Complexity</a:t>
            </a:r>
            <a:endParaRPr lang="zh-CN" altLang="en-US" sz="24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A039AB8-0664-687E-5451-25314E5795A5}"/>
              </a:ext>
            </a:extLst>
          </p:cNvPr>
          <p:cNvSpPr txBox="1"/>
          <p:nvPr/>
        </p:nvSpPr>
        <p:spPr>
          <a:xfrm>
            <a:off x="12725400" y="9273171"/>
            <a:ext cx="4343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effectLst/>
                <a:latin typeface="Calibri" panose="020F0502020204030204" pitchFamily="34" charset="0"/>
                <a:ea typeface="等线" panose="02010600030101010101" pitchFamily="2" charset="-122"/>
              </a:rPr>
              <a:t>Space Complexity</a:t>
            </a:r>
            <a:endParaRPr lang="zh-CN" altLang="en-US" sz="24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BFEF0A1-111B-B1E0-7924-806B9E786F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835216"/>
            <a:ext cx="9067800" cy="634746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15E92454-C9D3-E2F9-3508-68DBBDF2BE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20202" y="2836504"/>
            <a:ext cx="9065960" cy="6346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8729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EE2461-DC2E-B9DC-D5E9-6DD905AA6F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C4770B3-E7A8-CB62-2B66-4337ABF1508C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  <p:txBody>
          <a:bodyPr/>
          <a:lstStyle/>
          <a:p>
            <a:endParaRPr lang="zh-CN" altLang="en-US" dirty="0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C1AB4E88-F62F-0C42-3CBD-2D72FBFED03D}"/>
              </a:ext>
            </a:extLst>
          </p:cNvPr>
          <p:cNvSpPr txBox="1"/>
          <p:nvPr/>
        </p:nvSpPr>
        <p:spPr>
          <a:xfrm>
            <a:off x="1981200" y="468144"/>
            <a:ext cx="15316200" cy="14875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5808"/>
              </a:lnSpc>
              <a:spcBef>
                <a:spcPct val="0"/>
              </a:spcBef>
            </a:pPr>
            <a:r>
              <a:rPr lang="en-US" sz="5000" spc="-150" dirty="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Task B - Design </a:t>
            </a:r>
            <a:r>
              <a:rPr lang="en-US" sz="5000" spc="-15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and Implementation </a:t>
            </a:r>
            <a:r>
              <a:rPr lang="en-US" sz="5000" spc="-150" dirty="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of </a:t>
            </a:r>
            <a:r>
              <a:rPr lang="en-US" sz="5000" spc="-15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the Pathfinding </a:t>
            </a:r>
            <a:r>
              <a:rPr lang="en-US" sz="5000" spc="-150" dirty="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A</a:t>
            </a:r>
            <a:r>
              <a:rPr lang="en-US" sz="5000" spc="-15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lgorithm</a:t>
            </a:r>
            <a:endParaRPr lang="en-US" sz="5000" spc="-150" dirty="0">
              <a:solidFill>
                <a:srgbClr val="000000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36" name="Freeform 5">
            <a:extLst>
              <a:ext uri="{FF2B5EF4-FFF2-40B4-BE49-F238E27FC236}">
                <a16:creationId xmlns:a16="http://schemas.microsoft.com/office/drawing/2014/main" id="{1DF75D16-97EB-E35C-DC24-973AD8F85C4E}"/>
              </a:ext>
            </a:extLst>
          </p:cNvPr>
          <p:cNvSpPr/>
          <p:nvPr/>
        </p:nvSpPr>
        <p:spPr>
          <a:xfrm>
            <a:off x="228600" y="495300"/>
            <a:ext cx="1524000" cy="1457826"/>
          </a:xfrm>
          <a:custGeom>
            <a:avLst/>
            <a:gdLst/>
            <a:ahLst/>
            <a:cxnLst/>
            <a:rect l="l" t="t" r="r" b="b"/>
            <a:pathLst>
              <a:path w="3493612" h="3493612">
                <a:moveTo>
                  <a:pt x="0" y="0"/>
                </a:moveTo>
                <a:lnTo>
                  <a:pt x="3493612" y="0"/>
                </a:lnTo>
                <a:lnTo>
                  <a:pt x="3493612" y="3493612"/>
                </a:lnTo>
                <a:lnTo>
                  <a:pt x="0" y="34936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EF0923D-37FB-1194-33CD-F444E441B94F}"/>
              </a:ext>
            </a:extLst>
          </p:cNvPr>
          <p:cNvSpPr txBox="1"/>
          <p:nvPr/>
        </p:nvSpPr>
        <p:spPr>
          <a:xfrm>
            <a:off x="462454" y="2066396"/>
            <a:ext cx="149299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kern="100" dirty="0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Sample Demo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FC1E211-AF8C-B9AB-21FA-5DCA4DF840D6}"/>
              </a:ext>
            </a:extLst>
          </p:cNvPr>
          <p:cNvSpPr txBox="1"/>
          <p:nvPr/>
        </p:nvSpPr>
        <p:spPr>
          <a:xfrm>
            <a:off x="990600" y="7430034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zh-CN" dirty="0"/>
              <a:t> Houston TX to Philadelphia PA via no place of interest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CF960D2-1238-26F1-D4A9-74996C64FC57}"/>
              </a:ext>
            </a:extLst>
          </p:cNvPr>
          <p:cNvSpPr txBox="1"/>
          <p:nvPr/>
        </p:nvSpPr>
        <p:spPr>
          <a:xfrm>
            <a:off x="10363200" y="5643192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zh-CN" dirty="0"/>
              <a:t>Philadelphia PA to San Antonio TX via Hollywood Sign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67C756D-59C2-EC33-9E31-72BE7CBFB043}"/>
              </a:ext>
            </a:extLst>
          </p:cNvPr>
          <p:cNvSpPr txBox="1"/>
          <p:nvPr/>
        </p:nvSpPr>
        <p:spPr>
          <a:xfrm>
            <a:off x="3886200" y="9903255"/>
            <a:ext cx="101740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zh-CN" dirty="0"/>
              <a:t>San Jose CA to Phoenix AZ via Liberty Bell and Millennium Park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744A712B-3DA5-6BF9-A80C-4F95A47CE1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2677794"/>
            <a:ext cx="8154184" cy="4591050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3BAE1D1B-002A-9500-3A2A-709B74182A9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65648" y="1217578"/>
            <a:ext cx="7860352" cy="4425614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F0ECF790-649D-BCAC-D7F2-AE45E54B788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23982" y="6012525"/>
            <a:ext cx="7540717" cy="424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4472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0E3307-7D35-0693-A785-0B0AB16E6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B67D0C2-938B-5CEA-C724-72D62F87E35F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  <p:txBody>
          <a:bodyPr/>
          <a:lstStyle/>
          <a:p>
            <a:endParaRPr lang="zh-CN" altLang="en-US" dirty="0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001B3B23-EA2B-5669-2854-7C0FD5BBDA11}"/>
              </a:ext>
            </a:extLst>
          </p:cNvPr>
          <p:cNvSpPr txBox="1"/>
          <p:nvPr/>
        </p:nvSpPr>
        <p:spPr>
          <a:xfrm>
            <a:off x="1981200" y="468144"/>
            <a:ext cx="15316200" cy="14875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5808"/>
              </a:lnSpc>
              <a:spcBef>
                <a:spcPct val="0"/>
              </a:spcBef>
            </a:pPr>
            <a:r>
              <a:rPr lang="en-US" sz="5000" spc="-150" dirty="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Task B - Design </a:t>
            </a:r>
            <a:r>
              <a:rPr lang="en-US" sz="5000" spc="-15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and Implementation </a:t>
            </a:r>
            <a:r>
              <a:rPr lang="en-US" sz="5000" spc="-150" dirty="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of </a:t>
            </a:r>
            <a:r>
              <a:rPr lang="en-US" sz="5000" spc="-15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the Pathfinding </a:t>
            </a:r>
            <a:r>
              <a:rPr lang="en-US" sz="5000" spc="-150" dirty="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A</a:t>
            </a:r>
            <a:r>
              <a:rPr lang="en-US" sz="5000" spc="-15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lgorithm</a:t>
            </a:r>
            <a:endParaRPr lang="en-US" sz="5000" spc="-150" dirty="0">
              <a:solidFill>
                <a:srgbClr val="000000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36" name="Freeform 5">
            <a:extLst>
              <a:ext uri="{FF2B5EF4-FFF2-40B4-BE49-F238E27FC236}">
                <a16:creationId xmlns:a16="http://schemas.microsoft.com/office/drawing/2014/main" id="{7E74D46A-7CCD-0125-BF6C-4F5A47978FBF}"/>
              </a:ext>
            </a:extLst>
          </p:cNvPr>
          <p:cNvSpPr/>
          <p:nvPr/>
        </p:nvSpPr>
        <p:spPr>
          <a:xfrm>
            <a:off x="228600" y="495300"/>
            <a:ext cx="1524000" cy="1457826"/>
          </a:xfrm>
          <a:custGeom>
            <a:avLst/>
            <a:gdLst/>
            <a:ahLst/>
            <a:cxnLst/>
            <a:rect l="l" t="t" r="r" b="b"/>
            <a:pathLst>
              <a:path w="3493612" h="3493612">
                <a:moveTo>
                  <a:pt x="0" y="0"/>
                </a:moveTo>
                <a:lnTo>
                  <a:pt x="3493612" y="0"/>
                </a:lnTo>
                <a:lnTo>
                  <a:pt x="3493612" y="3493612"/>
                </a:lnTo>
                <a:lnTo>
                  <a:pt x="0" y="34936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1C95C7F-7BDC-2BF9-F47E-5F9AAFEAF9CE}"/>
              </a:ext>
            </a:extLst>
          </p:cNvPr>
          <p:cNvSpPr txBox="1"/>
          <p:nvPr/>
        </p:nvSpPr>
        <p:spPr>
          <a:xfrm>
            <a:off x="462454" y="2066396"/>
            <a:ext cx="15539546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b="1" kern="100" dirty="0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Better alternative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altLang="zh-CN" sz="28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Coordinate-Based Heuristics</a:t>
            </a:r>
            <a:r>
              <a:rPr lang="en-US" altLang="zh-CN" sz="2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: When each city comes with additional planar coordinate information, we can use Euclidean distance as an admissible A* heuristic reduces node expansions while ensuring optimality. Local search (e.g., 2-opt, 3-opt) can further improve A* results efficiently.</a:t>
            </a:r>
          </a:p>
          <a:p>
            <a:endParaRPr lang="en-US" altLang="zh-CN" sz="28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altLang="zh-CN" sz="28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Machine Learning</a:t>
            </a:r>
            <a:r>
              <a:rPr lang="en-US" altLang="zh-CN" sz="2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: GNNs learn to predict edge selection probabilities, achieving near-optimal solutions on 50- and 100-node instances (0.01% and 1.39% gaps, respectively) [1]. Unsupervised and RL-based models like H-TSP scale well to large graphs [2].</a:t>
            </a:r>
          </a:p>
          <a:p>
            <a:endParaRPr lang="en-US" altLang="zh-CN" sz="28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altLang="zh-CN" sz="28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Hierarchical Clustering</a:t>
            </a:r>
            <a:r>
              <a:rPr lang="en-US" altLang="zh-CN" sz="2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: Partitioning large graphs into clusters allows solving intra-cluster TSPs first, then optimizing inter-cluster routes. This divide-and-conquer approach yields ~2–3% deviation from optimal with near-linear runtime [3].</a:t>
            </a:r>
          </a:p>
        </p:txBody>
      </p:sp>
    </p:spTree>
    <p:extLst>
      <p:ext uri="{BB962C8B-B14F-4D97-AF65-F5344CB8AC3E}">
        <p14:creationId xmlns:p14="http://schemas.microsoft.com/office/powerpoint/2010/main" val="8849395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36D43E-A7DC-0F2C-F62D-F866D643C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C0A6451-8F8F-DDD7-7679-F9A745C27567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9D9433F6-CC43-12D3-6C06-D4BA44441D03}"/>
              </a:ext>
            </a:extLst>
          </p:cNvPr>
          <p:cNvSpPr txBox="1"/>
          <p:nvPr/>
        </p:nvSpPr>
        <p:spPr>
          <a:xfrm>
            <a:off x="1981200" y="468144"/>
            <a:ext cx="11125200" cy="14875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5808"/>
              </a:lnSpc>
              <a:spcBef>
                <a:spcPct val="0"/>
              </a:spcBef>
            </a:pPr>
            <a:r>
              <a:rPr lang="en-US" sz="5000" spc="-150" dirty="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Task C – City Name Sorting Algorithm Test</a:t>
            </a:r>
          </a:p>
        </p:txBody>
      </p:sp>
      <p:sp>
        <p:nvSpPr>
          <p:cNvPr id="36" name="Freeform 5">
            <a:extLst>
              <a:ext uri="{FF2B5EF4-FFF2-40B4-BE49-F238E27FC236}">
                <a16:creationId xmlns:a16="http://schemas.microsoft.com/office/drawing/2014/main" id="{60DC4ABD-EE84-1FED-B4B0-032BCE70AE9D}"/>
              </a:ext>
            </a:extLst>
          </p:cNvPr>
          <p:cNvSpPr/>
          <p:nvPr/>
        </p:nvSpPr>
        <p:spPr>
          <a:xfrm>
            <a:off x="228600" y="495300"/>
            <a:ext cx="1524000" cy="1457826"/>
          </a:xfrm>
          <a:custGeom>
            <a:avLst/>
            <a:gdLst/>
            <a:ahLst/>
            <a:cxnLst/>
            <a:rect l="l" t="t" r="r" b="b"/>
            <a:pathLst>
              <a:path w="3493612" h="3493612">
                <a:moveTo>
                  <a:pt x="0" y="0"/>
                </a:moveTo>
                <a:lnTo>
                  <a:pt x="3493612" y="0"/>
                </a:lnTo>
                <a:lnTo>
                  <a:pt x="3493612" y="3493612"/>
                </a:lnTo>
                <a:lnTo>
                  <a:pt x="0" y="34936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3" name="Freeform 8">
            <a:extLst>
              <a:ext uri="{FF2B5EF4-FFF2-40B4-BE49-F238E27FC236}">
                <a16:creationId xmlns:a16="http://schemas.microsoft.com/office/drawing/2014/main" id="{9F08B808-F7D0-E9AB-0D67-EE2354A97F6A}"/>
              </a:ext>
            </a:extLst>
          </p:cNvPr>
          <p:cNvSpPr/>
          <p:nvPr/>
        </p:nvSpPr>
        <p:spPr>
          <a:xfrm rot="10800000">
            <a:off x="15172736" y="0"/>
            <a:ext cx="2177829" cy="2843880"/>
          </a:xfrm>
          <a:custGeom>
            <a:avLst/>
            <a:gdLst/>
            <a:ahLst/>
            <a:cxnLst/>
            <a:rect l="l" t="t" r="r" b="b"/>
            <a:pathLst>
              <a:path w="2611028" h="4114800">
                <a:moveTo>
                  <a:pt x="0" y="0"/>
                </a:moveTo>
                <a:lnTo>
                  <a:pt x="2611028" y="0"/>
                </a:lnTo>
                <a:lnTo>
                  <a:pt x="26110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46047F52-31EA-B1B4-6904-B5C5ECA8CA44}"/>
              </a:ext>
            </a:extLst>
          </p:cNvPr>
          <p:cNvSpPr txBox="1"/>
          <p:nvPr/>
        </p:nvSpPr>
        <p:spPr>
          <a:xfrm>
            <a:off x="1180698" y="2625524"/>
            <a:ext cx="6515501" cy="4078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sz="3600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Aim of the Task </a:t>
            </a:r>
            <a:r>
              <a:rPr lang="en-US" altLang="zh-CN" sz="3600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</a:t>
            </a:r>
            <a:endParaRPr lang="en-US" sz="3600" b="1" dirty="0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5" name="TextBox 8">
            <a:extLst>
              <a:ext uri="{FF2B5EF4-FFF2-40B4-BE49-F238E27FC236}">
                <a16:creationId xmlns:a16="http://schemas.microsoft.com/office/drawing/2014/main" id="{0274F5A7-60DB-A705-16E8-45B53BCE6C9A}"/>
              </a:ext>
            </a:extLst>
          </p:cNvPr>
          <p:cNvSpPr txBox="1"/>
          <p:nvPr/>
        </p:nvSpPr>
        <p:spPr>
          <a:xfrm>
            <a:off x="1180699" y="3194047"/>
            <a:ext cx="7658501" cy="61555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25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For the four datasets with different characteristics provided, three sorting tests will be performed on each file in Task C.</a:t>
            </a:r>
          </a:p>
          <a:p>
            <a:pPr algn="l"/>
            <a:endParaRPr lang="en-US" altLang="zh-CN" sz="25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/>
            <a:r>
              <a:rPr lang="en-US" altLang="zh-CN" sz="2500" b="1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The basic sorting test includes</a:t>
            </a:r>
            <a:r>
              <a:rPr lang="en-US" altLang="zh-CN" sz="25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500" b="1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Insertion Sort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500" b="1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Quick Sort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500" b="1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Merge Sort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altLang="zh-CN" sz="25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/>
            <a:r>
              <a:rPr lang="en-US" altLang="zh-CN" sz="25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More</a:t>
            </a:r>
            <a:r>
              <a:rPr lang="en-US" altLang="zh-CN" sz="2500" b="1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in-depth </a:t>
            </a:r>
            <a:r>
              <a:rPr lang="en-US" altLang="zh-CN" sz="25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performance analysis and testing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5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Different Containers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altLang="zh-CN" sz="2500" b="1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String[]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altLang="zh-CN" sz="2500" b="1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ArrayList</a:t>
            </a:r>
            <a:endParaRPr lang="en-US" altLang="zh-CN" sz="2500" b="1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altLang="zh-CN" sz="2500" b="1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LinkedList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5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Quick Sort </a:t>
            </a:r>
            <a:r>
              <a:rPr lang="en-US" altLang="zh-CN" sz="2500" b="1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Pivot</a:t>
            </a:r>
            <a:r>
              <a:rPr lang="en-US" altLang="zh-CN" sz="25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tuning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8874B6B-57C7-61F7-7913-205DEE27B32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2624" y="1572473"/>
            <a:ext cx="5824520" cy="1703938"/>
          </a:xfrm>
          <a:prstGeom prst="rect">
            <a:avLst/>
          </a:prstGeom>
        </p:spPr>
      </p:pic>
      <p:sp>
        <p:nvSpPr>
          <p:cNvPr id="8" name="Freeform 3">
            <a:extLst>
              <a:ext uri="{FF2B5EF4-FFF2-40B4-BE49-F238E27FC236}">
                <a16:creationId xmlns:a16="http://schemas.microsoft.com/office/drawing/2014/main" id="{18555597-0F1E-1C6B-5AEE-5D37182118DC}"/>
              </a:ext>
            </a:extLst>
          </p:cNvPr>
          <p:cNvSpPr/>
          <p:nvPr/>
        </p:nvSpPr>
        <p:spPr>
          <a:xfrm>
            <a:off x="15172736" y="8520912"/>
            <a:ext cx="2570276" cy="1270788"/>
          </a:xfrm>
          <a:custGeom>
            <a:avLst/>
            <a:gdLst/>
            <a:ahLst/>
            <a:cxnLst/>
            <a:rect l="l" t="t" r="r" b="b"/>
            <a:pathLst>
              <a:path w="3493612" h="1759510">
                <a:moveTo>
                  <a:pt x="0" y="0"/>
                </a:moveTo>
                <a:lnTo>
                  <a:pt x="3493612" y="0"/>
                </a:lnTo>
                <a:lnTo>
                  <a:pt x="3493612" y="1759510"/>
                </a:lnTo>
                <a:lnTo>
                  <a:pt x="0" y="175951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CN" alt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41178E08-B7B3-5C83-70A3-A4A186101A1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200" y="3624205"/>
            <a:ext cx="9778872" cy="506136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2B7984D9-BE23-74A9-9A7A-3D9255C19C4D}"/>
              </a:ext>
            </a:extLst>
          </p:cNvPr>
          <p:cNvSpPr txBox="1"/>
          <p:nvPr/>
        </p:nvSpPr>
        <p:spPr>
          <a:xfrm>
            <a:off x="11861736" y="8786974"/>
            <a:ext cx="297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Task C Class Diagram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405383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040B04-C859-7073-D32D-84181CF62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5628188-7314-6BB8-0E6C-46105E16D701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0AB51A6B-80A1-90A7-9FAD-497FD219F79A}"/>
              </a:ext>
            </a:extLst>
          </p:cNvPr>
          <p:cNvSpPr txBox="1"/>
          <p:nvPr/>
        </p:nvSpPr>
        <p:spPr>
          <a:xfrm>
            <a:off x="1981200" y="468144"/>
            <a:ext cx="11125200" cy="14875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5808"/>
              </a:lnSpc>
              <a:spcBef>
                <a:spcPct val="0"/>
              </a:spcBef>
            </a:pPr>
            <a:r>
              <a:rPr lang="en-US" sz="5000" spc="-150" dirty="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Task C – City Name Sorting Algorithm Test</a:t>
            </a:r>
          </a:p>
        </p:txBody>
      </p:sp>
      <p:sp>
        <p:nvSpPr>
          <p:cNvPr id="36" name="Freeform 5">
            <a:extLst>
              <a:ext uri="{FF2B5EF4-FFF2-40B4-BE49-F238E27FC236}">
                <a16:creationId xmlns:a16="http://schemas.microsoft.com/office/drawing/2014/main" id="{F1120F7E-069B-6980-CA4C-55E2E283F53F}"/>
              </a:ext>
            </a:extLst>
          </p:cNvPr>
          <p:cNvSpPr/>
          <p:nvPr/>
        </p:nvSpPr>
        <p:spPr>
          <a:xfrm>
            <a:off x="228600" y="495300"/>
            <a:ext cx="1524000" cy="1457826"/>
          </a:xfrm>
          <a:custGeom>
            <a:avLst/>
            <a:gdLst/>
            <a:ahLst/>
            <a:cxnLst/>
            <a:rect l="l" t="t" r="r" b="b"/>
            <a:pathLst>
              <a:path w="3493612" h="3493612">
                <a:moveTo>
                  <a:pt x="0" y="0"/>
                </a:moveTo>
                <a:lnTo>
                  <a:pt x="3493612" y="0"/>
                </a:lnTo>
                <a:lnTo>
                  <a:pt x="3493612" y="3493612"/>
                </a:lnTo>
                <a:lnTo>
                  <a:pt x="0" y="34936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3" name="Freeform 8">
            <a:extLst>
              <a:ext uri="{FF2B5EF4-FFF2-40B4-BE49-F238E27FC236}">
                <a16:creationId xmlns:a16="http://schemas.microsoft.com/office/drawing/2014/main" id="{7E808DD2-C10D-6CE9-20E2-BB0C430C272B}"/>
              </a:ext>
            </a:extLst>
          </p:cNvPr>
          <p:cNvSpPr/>
          <p:nvPr/>
        </p:nvSpPr>
        <p:spPr>
          <a:xfrm rot="10800000">
            <a:off x="15172736" y="0"/>
            <a:ext cx="2177829" cy="2843880"/>
          </a:xfrm>
          <a:custGeom>
            <a:avLst/>
            <a:gdLst/>
            <a:ahLst/>
            <a:cxnLst/>
            <a:rect l="l" t="t" r="r" b="b"/>
            <a:pathLst>
              <a:path w="2611028" h="4114800">
                <a:moveTo>
                  <a:pt x="0" y="0"/>
                </a:moveTo>
                <a:lnTo>
                  <a:pt x="2611028" y="0"/>
                </a:lnTo>
                <a:lnTo>
                  <a:pt x="26110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109BBBAD-B678-3EBA-FD79-5B7224B843B7}"/>
              </a:ext>
            </a:extLst>
          </p:cNvPr>
          <p:cNvSpPr txBox="1"/>
          <p:nvPr/>
        </p:nvSpPr>
        <p:spPr>
          <a:xfrm>
            <a:off x="1180698" y="2625524"/>
            <a:ext cx="12687702" cy="4078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sz="3600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Implementation Methods and Test Design</a:t>
            </a:r>
          </a:p>
        </p:txBody>
      </p:sp>
      <p:sp>
        <p:nvSpPr>
          <p:cNvPr id="5" name="TextBox 8">
            <a:extLst>
              <a:ext uri="{FF2B5EF4-FFF2-40B4-BE49-F238E27FC236}">
                <a16:creationId xmlns:a16="http://schemas.microsoft.com/office/drawing/2014/main" id="{60B1E95A-D93E-05B0-16B4-FF446564A645}"/>
              </a:ext>
            </a:extLst>
          </p:cNvPr>
          <p:cNvSpPr txBox="1"/>
          <p:nvPr/>
        </p:nvSpPr>
        <p:spPr>
          <a:xfrm>
            <a:off x="1180698" y="3197677"/>
            <a:ext cx="6363102" cy="61555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altLang="zh-CN" sz="2500" dirty="0">
                <a:solidFill>
                  <a:srgbClr val="000000"/>
                </a:solidFill>
                <a:latin typeface="Garet" panose="02010600030101010101" charset="0"/>
                <a:ea typeface="Garet"/>
                <a:cs typeface="Garet"/>
                <a:sym typeface="Garet"/>
              </a:rPr>
              <a:t>Strategies interfaces design for different data containers: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500" dirty="0" err="1">
                <a:solidFill>
                  <a:srgbClr val="000000"/>
                </a:solidFill>
                <a:latin typeface="Garet" panose="02010600030101010101" charset="0"/>
                <a:ea typeface="Garet"/>
                <a:cs typeface="Garet"/>
                <a:sym typeface="Garet"/>
              </a:rPr>
              <a:t>SortStrategyArray</a:t>
            </a:r>
            <a:endParaRPr lang="en-US" altLang="zh-CN" sz="2500" dirty="0">
              <a:solidFill>
                <a:srgbClr val="000000"/>
              </a:solidFill>
              <a:latin typeface="Garet" panose="02010600030101010101" charset="0"/>
              <a:ea typeface="Garet"/>
              <a:cs typeface="Garet"/>
              <a:sym typeface="Garet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500" dirty="0" err="1">
                <a:solidFill>
                  <a:srgbClr val="000000"/>
                </a:solidFill>
                <a:latin typeface="Garet" panose="02010600030101010101" charset="0"/>
                <a:ea typeface="Garet"/>
                <a:cs typeface="Garet"/>
                <a:sym typeface="Garet"/>
              </a:rPr>
              <a:t>SortStrategyList</a:t>
            </a:r>
            <a:endParaRPr lang="en-US" altLang="zh-CN" sz="2500" dirty="0">
              <a:solidFill>
                <a:srgbClr val="000000"/>
              </a:solidFill>
              <a:latin typeface="Garet" panose="02010600030101010101" charset="0"/>
              <a:ea typeface="Garet"/>
              <a:cs typeface="Garet"/>
              <a:sym typeface="Garet"/>
            </a:endParaRPr>
          </a:p>
          <a:p>
            <a:pPr algn="l"/>
            <a:endParaRPr lang="en-US" altLang="zh-CN" sz="2500" dirty="0">
              <a:solidFill>
                <a:srgbClr val="000000"/>
              </a:solidFill>
              <a:latin typeface="Garet" panose="02010600030101010101" charset="0"/>
              <a:ea typeface="Garet"/>
              <a:cs typeface="Garet"/>
              <a:sym typeface="Garet"/>
            </a:endParaRPr>
          </a:p>
          <a:p>
            <a:pPr algn="l"/>
            <a:r>
              <a:rPr lang="en-US" altLang="zh-CN" sz="25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The sorting test implemented based on String[] will implement the </a:t>
            </a:r>
            <a:r>
              <a:rPr lang="en-US" altLang="zh-CN" sz="2500" b="1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SortStrategyArray</a:t>
            </a:r>
            <a:r>
              <a:rPr lang="en-US" altLang="zh-CN" sz="25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interface.</a:t>
            </a:r>
          </a:p>
          <a:p>
            <a:pPr algn="l"/>
            <a:endParaRPr lang="en-US" altLang="zh-CN" sz="25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/>
            <a:r>
              <a:rPr lang="en-US" altLang="zh-CN" sz="25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The sort test based on a List&lt;String&gt; will implement the </a:t>
            </a:r>
            <a:r>
              <a:rPr lang="en-US" altLang="zh-CN" sz="2500" b="1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SortStrategyList</a:t>
            </a:r>
            <a:r>
              <a:rPr lang="en-US" altLang="zh-CN" sz="25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interface.</a:t>
            </a:r>
          </a:p>
          <a:p>
            <a:pPr algn="l"/>
            <a:endParaRPr lang="en-US" altLang="zh-CN" sz="2500" dirty="0">
              <a:solidFill>
                <a:srgbClr val="000000"/>
              </a:solidFill>
              <a:latin typeface="Garet" panose="02010600030101010101" charset="0"/>
              <a:ea typeface="Garet"/>
              <a:cs typeface="Garet"/>
              <a:sym typeface="Garet"/>
            </a:endParaRPr>
          </a:p>
          <a:p>
            <a:pPr algn="l"/>
            <a:r>
              <a:rPr lang="en-US" altLang="zh-CN" sz="2500" dirty="0" err="1">
                <a:solidFill>
                  <a:srgbClr val="000000"/>
                </a:solidFill>
                <a:latin typeface="Garet" panose="02010600030101010101" charset="0"/>
                <a:ea typeface="Garet"/>
                <a:cs typeface="Garet"/>
                <a:sym typeface="Garet"/>
              </a:rPr>
              <a:t>PivotStrategy</a:t>
            </a:r>
            <a:r>
              <a:rPr lang="en-US" altLang="zh-CN" sz="2500" dirty="0">
                <a:solidFill>
                  <a:srgbClr val="000000"/>
                </a:solidFill>
                <a:latin typeface="Garet" panose="02010600030101010101" charset="0"/>
                <a:ea typeface="Garet"/>
                <a:cs typeface="Garet"/>
                <a:sym typeface="Garet"/>
              </a:rPr>
              <a:t> is responsible for test  Quick Sort’s performance with three different pivot selection pattern.</a:t>
            </a:r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1A37EC65-BC84-4EC1-A9B4-51FE63A25AFE}"/>
              </a:ext>
            </a:extLst>
          </p:cNvPr>
          <p:cNvSpPr/>
          <p:nvPr/>
        </p:nvSpPr>
        <p:spPr>
          <a:xfrm>
            <a:off x="15172736" y="8520912"/>
            <a:ext cx="2570276" cy="1270788"/>
          </a:xfrm>
          <a:custGeom>
            <a:avLst/>
            <a:gdLst/>
            <a:ahLst/>
            <a:cxnLst/>
            <a:rect l="l" t="t" r="r" b="b"/>
            <a:pathLst>
              <a:path w="3493612" h="1759510">
                <a:moveTo>
                  <a:pt x="0" y="0"/>
                </a:moveTo>
                <a:lnTo>
                  <a:pt x="3493612" y="0"/>
                </a:lnTo>
                <a:lnTo>
                  <a:pt x="3493612" y="1759510"/>
                </a:lnTo>
                <a:lnTo>
                  <a:pt x="0" y="175951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CN" altLang="en-US" dirty="0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89CE0133-2899-4D4A-FCA8-48A05C712B81}"/>
              </a:ext>
            </a:extLst>
          </p:cNvPr>
          <p:cNvSpPr txBox="1"/>
          <p:nvPr/>
        </p:nvSpPr>
        <p:spPr>
          <a:xfrm>
            <a:off x="8337148" y="5573447"/>
            <a:ext cx="2679700" cy="553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600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./strategy</a:t>
            </a:r>
          </a:p>
        </p:txBody>
      </p:sp>
      <p:sp>
        <p:nvSpPr>
          <p:cNvPr id="11" name="左大括号 10">
            <a:extLst>
              <a:ext uri="{FF2B5EF4-FFF2-40B4-BE49-F238E27FC236}">
                <a16:creationId xmlns:a16="http://schemas.microsoft.com/office/drawing/2014/main" id="{573CAF92-ACDA-DE2C-700B-C9A7A9FF84BD}"/>
              </a:ext>
            </a:extLst>
          </p:cNvPr>
          <p:cNvSpPr/>
          <p:nvPr/>
        </p:nvSpPr>
        <p:spPr>
          <a:xfrm>
            <a:off x="11169248" y="4068130"/>
            <a:ext cx="685800" cy="3564632"/>
          </a:xfrm>
          <a:prstGeom prst="leftBrace">
            <a:avLst/>
          </a:prstGeom>
          <a:gradFill flip="none" rotWithShape="1">
            <a:gsLst>
              <a:gs pos="0">
                <a:schemeClr val="accent4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4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4">
                  <a:lumMod val="60000"/>
                  <a:lumOff val="40000"/>
                  <a:tint val="23500"/>
                  <a:satMod val="160000"/>
                </a:schemeClr>
              </a:gs>
            </a:gsLst>
            <a:lin ang="10800000" scaled="1"/>
            <a:tileRect/>
          </a:gradFill>
          <a:ln w="1905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TextBox 9">
            <a:extLst>
              <a:ext uri="{FF2B5EF4-FFF2-40B4-BE49-F238E27FC236}">
                <a16:creationId xmlns:a16="http://schemas.microsoft.com/office/drawing/2014/main" id="{D1462B0B-5C9F-686A-2A0E-BDA8349A01B2}"/>
              </a:ext>
            </a:extLst>
          </p:cNvPr>
          <p:cNvSpPr txBox="1"/>
          <p:nvPr/>
        </p:nvSpPr>
        <p:spPr>
          <a:xfrm>
            <a:off x="12007448" y="5877396"/>
            <a:ext cx="4191000" cy="3616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Garet Bold"/>
                <a:ea typeface="Garet"/>
                <a:cs typeface="Garet"/>
                <a:sym typeface="Garet Bold"/>
              </a:rPr>
              <a:t>SortStrategyArray.java</a:t>
            </a:r>
            <a:endParaRPr lang="en-US" altLang="zh-CN" sz="2400" dirty="0">
              <a:solidFill>
                <a:srgbClr val="000000"/>
              </a:solidFill>
              <a:latin typeface="Garet" panose="02010600030101010101" charset="0"/>
              <a:ea typeface="Garet"/>
              <a:cs typeface="Garet"/>
              <a:sym typeface="Garet"/>
            </a:endParaRPr>
          </a:p>
        </p:txBody>
      </p:sp>
      <p:sp>
        <p:nvSpPr>
          <p:cNvPr id="13" name="TextBox 9">
            <a:extLst>
              <a:ext uri="{FF2B5EF4-FFF2-40B4-BE49-F238E27FC236}">
                <a16:creationId xmlns:a16="http://schemas.microsoft.com/office/drawing/2014/main" id="{E441231B-B233-1F3B-D02C-E099B7D230C5}"/>
              </a:ext>
            </a:extLst>
          </p:cNvPr>
          <p:cNvSpPr txBox="1"/>
          <p:nvPr/>
        </p:nvSpPr>
        <p:spPr>
          <a:xfrm>
            <a:off x="12007448" y="6661525"/>
            <a:ext cx="4191000" cy="3616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Garet Bold"/>
                <a:ea typeface="Garet"/>
                <a:cs typeface="Garet"/>
                <a:sym typeface="Garet Bold"/>
              </a:rPr>
              <a:t>SortStrategyList.java</a:t>
            </a:r>
            <a:endParaRPr lang="en-US" altLang="zh-CN" sz="2400" dirty="0">
              <a:solidFill>
                <a:srgbClr val="000000"/>
              </a:solidFill>
              <a:latin typeface="Garet" panose="02010600030101010101" charset="0"/>
              <a:ea typeface="Garet"/>
              <a:cs typeface="Garet"/>
              <a:sym typeface="Garet"/>
            </a:endParaRPr>
          </a:p>
        </p:txBody>
      </p:sp>
      <p:sp>
        <p:nvSpPr>
          <p:cNvPr id="6" name="TextBox 9">
            <a:extLst>
              <a:ext uri="{FF2B5EF4-FFF2-40B4-BE49-F238E27FC236}">
                <a16:creationId xmlns:a16="http://schemas.microsoft.com/office/drawing/2014/main" id="{6F2903F2-D500-95F2-46E7-BC7440DE7AC9}"/>
              </a:ext>
            </a:extLst>
          </p:cNvPr>
          <p:cNvSpPr txBox="1"/>
          <p:nvPr/>
        </p:nvSpPr>
        <p:spPr>
          <a:xfrm>
            <a:off x="12007448" y="5020459"/>
            <a:ext cx="4191000" cy="3616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Garet Bold"/>
                <a:ea typeface="Garet"/>
                <a:cs typeface="Garet"/>
                <a:sym typeface="Garet Bold"/>
              </a:rPr>
              <a:t>./list</a:t>
            </a:r>
            <a:endParaRPr lang="en-US" altLang="zh-CN" sz="2400" dirty="0">
              <a:solidFill>
                <a:srgbClr val="000000"/>
              </a:solidFill>
              <a:latin typeface="Garet" panose="02010600030101010101" charset="0"/>
              <a:ea typeface="Garet"/>
              <a:cs typeface="Garet"/>
              <a:sym typeface="Garet"/>
            </a:endParaRPr>
          </a:p>
        </p:txBody>
      </p:sp>
      <p:sp>
        <p:nvSpPr>
          <p:cNvPr id="7" name="TextBox 9">
            <a:extLst>
              <a:ext uri="{FF2B5EF4-FFF2-40B4-BE49-F238E27FC236}">
                <a16:creationId xmlns:a16="http://schemas.microsoft.com/office/drawing/2014/main" id="{E9AEE572-BEA1-568F-4A02-08FA6D3542B0}"/>
              </a:ext>
            </a:extLst>
          </p:cNvPr>
          <p:cNvSpPr txBox="1"/>
          <p:nvPr/>
        </p:nvSpPr>
        <p:spPr>
          <a:xfrm>
            <a:off x="12007448" y="4014751"/>
            <a:ext cx="4191000" cy="3616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Garet Bold"/>
                <a:ea typeface="Garet"/>
                <a:cs typeface="Garet"/>
                <a:sym typeface="Garet Bold"/>
              </a:rPr>
              <a:t>./array</a:t>
            </a:r>
            <a:endParaRPr lang="en-US" altLang="zh-CN" sz="2400" dirty="0">
              <a:solidFill>
                <a:srgbClr val="000000"/>
              </a:solidFill>
              <a:latin typeface="Garet" panose="02010600030101010101" charset="0"/>
              <a:ea typeface="Garet"/>
              <a:cs typeface="Garet"/>
              <a:sym typeface="Garet"/>
            </a:endParaRPr>
          </a:p>
        </p:txBody>
      </p:sp>
      <p:sp>
        <p:nvSpPr>
          <p:cNvPr id="19" name="TextBox 9">
            <a:extLst>
              <a:ext uri="{FF2B5EF4-FFF2-40B4-BE49-F238E27FC236}">
                <a16:creationId xmlns:a16="http://schemas.microsoft.com/office/drawing/2014/main" id="{5DB816CC-B836-5E02-1229-B082D87BCC19}"/>
              </a:ext>
            </a:extLst>
          </p:cNvPr>
          <p:cNvSpPr txBox="1"/>
          <p:nvPr/>
        </p:nvSpPr>
        <p:spPr>
          <a:xfrm>
            <a:off x="12007448" y="7413449"/>
            <a:ext cx="4191000" cy="3616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Garet Bold"/>
                <a:ea typeface="Garet"/>
                <a:cs typeface="Garet"/>
                <a:sym typeface="Garet Bold"/>
              </a:rPr>
              <a:t>PivotStrategy.java</a:t>
            </a:r>
            <a:endParaRPr lang="en-US" altLang="zh-CN" sz="2400" dirty="0">
              <a:solidFill>
                <a:srgbClr val="000000"/>
              </a:solidFill>
              <a:latin typeface="Garet" panose="02010600030101010101" charset="0"/>
              <a:ea typeface="Garet"/>
              <a:cs typeface="Garet"/>
              <a:sym typeface="Garet"/>
            </a:endParaRPr>
          </a:p>
        </p:txBody>
      </p:sp>
    </p:spTree>
    <p:extLst>
      <p:ext uri="{BB962C8B-B14F-4D97-AF65-F5344CB8AC3E}">
        <p14:creationId xmlns:p14="http://schemas.microsoft.com/office/powerpoint/2010/main" val="42469966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14D88F-B4DF-F0C1-D087-C7499283D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F3F8596-EAC4-3E5D-F57F-0BB9F6E13B78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2D2926AB-259A-484D-CCF7-D7E025118E66}"/>
              </a:ext>
            </a:extLst>
          </p:cNvPr>
          <p:cNvSpPr txBox="1"/>
          <p:nvPr/>
        </p:nvSpPr>
        <p:spPr>
          <a:xfrm>
            <a:off x="1981200" y="468144"/>
            <a:ext cx="11125200" cy="14875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5808"/>
              </a:lnSpc>
              <a:spcBef>
                <a:spcPct val="0"/>
              </a:spcBef>
            </a:pPr>
            <a:r>
              <a:rPr lang="en-US" sz="5000" spc="-150" dirty="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Task C – City Name Sorting Algorithm Test</a:t>
            </a:r>
          </a:p>
        </p:txBody>
      </p:sp>
      <p:sp>
        <p:nvSpPr>
          <p:cNvPr id="36" name="Freeform 5">
            <a:extLst>
              <a:ext uri="{FF2B5EF4-FFF2-40B4-BE49-F238E27FC236}">
                <a16:creationId xmlns:a16="http://schemas.microsoft.com/office/drawing/2014/main" id="{A398D44E-6706-2C48-A151-D6FD9FE8B633}"/>
              </a:ext>
            </a:extLst>
          </p:cNvPr>
          <p:cNvSpPr/>
          <p:nvPr/>
        </p:nvSpPr>
        <p:spPr>
          <a:xfrm>
            <a:off x="228600" y="495300"/>
            <a:ext cx="1524000" cy="1457826"/>
          </a:xfrm>
          <a:custGeom>
            <a:avLst/>
            <a:gdLst/>
            <a:ahLst/>
            <a:cxnLst/>
            <a:rect l="l" t="t" r="r" b="b"/>
            <a:pathLst>
              <a:path w="3493612" h="3493612">
                <a:moveTo>
                  <a:pt x="0" y="0"/>
                </a:moveTo>
                <a:lnTo>
                  <a:pt x="3493612" y="0"/>
                </a:lnTo>
                <a:lnTo>
                  <a:pt x="3493612" y="3493612"/>
                </a:lnTo>
                <a:lnTo>
                  <a:pt x="0" y="34936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3" name="Freeform 8">
            <a:extLst>
              <a:ext uri="{FF2B5EF4-FFF2-40B4-BE49-F238E27FC236}">
                <a16:creationId xmlns:a16="http://schemas.microsoft.com/office/drawing/2014/main" id="{CF16853F-5C81-2A50-27D5-DDFCEEA3EA21}"/>
              </a:ext>
            </a:extLst>
          </p:cNvPr>
          <p:cNvSpPr/>
          <p:nvPr/>
        </p:nvSpPr>
        <p:spPr>
          <a:xfrm rot="10800000">
            <a:off x="15172736" y="0"/>
            <a:ext cx="2177829" cy="2843880"/>
          </a:xfrm>
          <a:custGeom>
            <a:avLst/>
            <a:gdLst/>
            <a:ahLst/>
            <a:cxnLst/>
            <a:rect l="l" t="t" r="r" b="b"/>
            <a:pathLst>
              <a:path w="2611028" h="4114800">
                <a:moveTo>
                  <a:pt x="0" y="0"/>
                </a:moveTo>
                <a:lnTo>
                  <a:pt x="2611028" y="0"/>
                </a:lnTo>
                <a:lnTo>
                  <a:pt x="26110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61567A2A-C49A-B662-1CE4-0A6DC6C7D73D}"/>
              </a:ext>
            </a:extLst>
          </p:cNvPr>
          <p:cNvSpPr txBox="1"/>
          <p:nvPr/>
        </p:nvSpPr>
        <p:spPr>
          <a:xfrm>
            <a:off x="1180698" y="2625524"/>
            <a:ext cx="12687702" cy="4078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sz="3600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Implementation Methods and Test Design</a:t>
            </a:r>
          </a:p>
        </p:txBody>
      </p:sp>
      <p:sp>
        <p:nvSpPr>
          <p:cNvPr id="5" name="TextBox 8">
            <a:extLst>
              <a:ext uri="{FF2B5EF4-FFF2-40B4-BE49-F238E27FC236}">
                <a16:creationId xmlns:a16="http://schemas.microsoft.com/office/drawing/2014/main" id="{A149E26C-5E17-AF3A-EEA2-6DCD6E6DDF50}"/>
              </a:ext>
            </a:extLst>
          </p:cNvPr>
          <p:cNvSpPr txBox="1"/>
          <p:nvPr/>
        </p:nvSpPr>
        <p:spPr>
          <a:xfrm>
            <a:off x="1180698" y="3234069"/>
            <a:ext cx="10078053" cy="7694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altLang="zh-CN" sz="2500" dirty="0">
                <a:solidFill>
                  <a:srgbClr val="000000"/>
                </a:solidFill>
                <a:latin typeface="Garet" panose="02010600030101010101" charset="0"/>
                <a:ea typeface="Garet"/>
                <a:cs typeface="Garet"/>
                <a:sym typeface="Garet"/>
              </a:rPr>
              <a:t>.</a:t>
            </a:r>
            <a:r>
              <a:rPr lang="en-US" altLang="zh-CN" sz="2500" b="1" dirty="0">
                <a:solidFill>
                  <a:srgbClr val="000000"/>
                </a:solidFill>
                <a:latin typeface="Garet" panose="02010600030101010101" charset="0"/>
                <a:ea typeface="Garet"/>
                <a:cs typeface="Garet"/>
                <a:sym typeface="Garet"/>
              </a:rPr>
              <a:t>/array </a:t>
            </a:r>
            <a:r>
              <a:rPr lang="en-US" altLang="zh-CN" sz="2500" dirty="0">
                <a:solidFill>
                  <a:srgbClr val="000000"/>
                </a:solidFill>
                <a:latin typeface="Garet" panose="02010600030101010101" charset="0"/>
                <a:ea typeface="Garet"/>
                <a:cs typeface="Garet"/>
                <a:sym typeface="Garet"/>
              </a:rPr>
              <a:t>and </a:t>
            </a:r>
            <a:r>
              <a:rPr lang="en-US" altLang="zh-CN" sz="2500" b="1" dirty="0">
                <a:solidFill>
                  <a:srgbClr val="000000"/>
                </a:solidFill>
                <a:latin typeface="Garet" panose="02010600030101010101" charset="0"/>
                <a:ea typeface="Garet"/>
                <a:cs typeface="Garet"/>
                <a:sym typeface="Garet"/>
              </a:rPr>
              <a:t>./list</a:t>
            </a:r>
            <a:r>
              <a:rPr lang="en-US" altLang="zh-CN" sz="2500" dirty="0">
                <a:solidFill>
                  <a:srgbClr val="000000"/>
                </a:solidFill>
                <a:latin typeface="Garet" panose="02010600030101010101" charset="0"/>
                <a:ea typeface="Garet"/>
                <a:cs typeface="Garet"/>
                <a:sym typeface="Garet"/>
              </a:rPr>
              <a:t>:</a:t>
            </a:r>
            <a:r>
              <a:rPr lang="zh-CN" altLang="en-US" sz="2500" dirty="0">
                <a:solidFill>
                  <a:srgbClr val="000000"/>
                </a:solidFill>
                <a:latin typeface="Garet" panose="02010600030101010101" charset="0"/>
                <a:ea typeface="Garet"/>
                <a:cs typeface="Garet"/>
                <a:sym typeface="Garet"/>
              </a:rPr>
              <a:t> </a:t>
            </a:r>
            <a:r>
              <a:rPr lang="en-US" altLang="zh-CN" sz="2500" dirty="0">
                <a:solidFill>
                  <a:srgbClr val="000000"/>
                </a:solidFill>
                <a:latin typeface="Garet" panose="02010600030101010101" charset="0"/>
                <a:ea typeface="Garet"/>
                <a:cs typeface="Garet"/>
                <a:sym typeface="Garet"/>
              </a:rPr>
              <a:t>each</a:t>
            </a:r>
            <a:r>
              <a:rPr lang="zh-CN" altLang="en-US" sz="2500" dirty="0">
                <a:solidFill>
                  <a:srgbClr val="000000"/>
                </a:solidFill>
                <a:latin typeface="Garet" panose="02010600030101010101" charset="0"/>
                <a:ea typeface="Garet"/>
                <a:cs typeface="Garet"/>
                <a:sym typeface="Garet"/>
              </a:rPr>
              <a:t> </a:t>
            </a:r>
            <a:r>
              <a:rPr lang="en-US" altLang="zh-CN" sz="2500" dirty="0">
                <a:solidFill>
                  <a:srgbClr val="000000"/>
                </a:solidFill>
                <a:latin typeface="Garet" panose="02010600030101010101" charset="0"/>
                <a:ea typeface="Garet"/>
                <a:cs typeface="Garet"/>
                <a:sym typeface="Garet"/>
              </a:rPr>
              <a:t>of</a:t>
            </a:r>
            <a:r>
              <a:rPr lang="zh-CN" altLang="en-US" sz="2500" dirty="0">
                <a:solidFill>
                  <a:srgbClr val="000000"/>
                </a:solidFill>
                <a:latin typeface="Garet" panose="02010600030101010101" charset="0"/>
                <a:ea typeface="Garet"/>
                <a:cs typeface="Garet"/>
                <a:sym typeface="Garet"/>
              </a:rPr>
              <a:t> </a:t>
            </a:r>
            <a:r>
              <a:rPr lang="en-US" altLang="zh-CN" sz="2500" dirty="0">
                <a:solidFill>
                  <a:srgbClr val="000000"/>
                </a:solidFill>
                <a:latin typeface="Garet" panose="02010600030101010101" charset="0"/>
                <a:ea typeface="Garet"/>
                <a:cs typeface="Garet"/>
                <a:sym typeface="Garet"/>
              </a:rPr>
              <a:t>them</a:t>
            </a:r>
            <a:r>
              <a:rPr lang="zh-CN" altLang="en-US" sz="2500" dirty="0">
                <a:solidFill>
                  <a:srgbClr val="000000"/>
                </a:solidFill>
                <a:latin typeface="Garet" panose="02010600030101010101" charset="0"/>
                <a:ea typeface="Garet"/>
                <a:cs typeface="Garet"/>
                <a:sym typeface="Garet"/>
              </a:rPr>
              <a:t> </a:t>
            </a:r>
            <a:r>
              <a:rPr lang="en-US" altLang="zh-CN" sz="2500" dirty="0">
                <a:solidFill>
                  <a:srgbClr val="000000"/>
                </a:solidFill>
                <a:latin typeface="Garet" panose="02010600030101010101" charset="0"/>
                <a:ea typeface="Garet"/>
                <a:cs typeface="Garet"/>
                <a:sym typeface="Garet"/>
              </a:rPr>
              <a:t>contain sorting test classes implementation corresponding to the data structure.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B77EBBCE-291E-0184-FE16-7B4025192086}"/>
              </a:ext>
            </a:extLst>
          </p:cNvPr>
          <p:cNvSpPr txBox="1"/>
          <p:nvPr/>
        </p:nvSpPr>
        <p:spPr>
          <a:xfrm>
            <a:off x="1816100" y="5911700"/>
            <a:ext cx="2679700" cy="1107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600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Strategy Design</a:t>
            </a:r>
          </a:p>
        </p:txBody>
      </p:sp>
      <p:sp>
        <p:nvSpPr>
          <p:cNvPr id="11" name="左大括号 10">
            <a:extLst>
              <a:ext uri="{FF2B5EF4-FFF2-40B4-BE49-F238E27FC236}">
                <a16:creationId xmlns:a16="http://schemas.microsoft.com/office/drawing/2014/main" id="{71EB5635-BBA4-2048-19BF-3BC94C778A73}"/>
              </a:ext>
            </a:extLst>
          </p:cNvPr>
          <p:cNvSpPr/>
          <p:nvPr/>
        </p:nvSpPr>
        <p:spPr>
          <a:xfrm>
            <a:off x="4152900" y="4986116"/>
            <a:ext cx="685800" cy="3185888"/>
          </a:xfrm>
          <a:prstGeom prst="leftBrace">
            <a:avLst/>
          </a:prstGeom>
          <a:gradFill flip="none" rotWithShape="1">
            <a:gsLst>
              <a:gs pos="0">
                <a:schemeClr val="accent4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4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4">
                  <a:lumMod val="60000"/>
                  <a:lumOff val="40000"/>
                  <a:tint val="23500"/>
                  <a:satMod val="160000"/>
                </a:schemeClr>
              </a:gs>
            </a:gsLst>
            <a:lin ang="10800000" scaled="1"/>
            <a:tileRect/>
          </a:gradFill>
          <a:ln w="1905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TextBox 9">
            <a:extLst>
              <a:ext uri="{FF2B5EF4-FFF2-40B4-BE49-F238E27FC236}">
                <a16:creationId xmlns:a16="http://schemas.microsoft.com/office/drawing/2014/main" id="{D2F9905D-F685-E2B3-435D-B23A14B4C88F}"/>
              </a:ext>
            </a:extLst>
          </p:cNvPr>
          <p:cNvSpPr txBox="1"/>
          <p:nvPr/>
        </p:nvSpPr>
        <p:spPr>
          <a:xfrm>
            <a:off x="4991100" y="4950953"/>
            <a:ext cx="4191000" cy="3616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Garet Bold"/>
                <a:ea typeface="Garet"/>
                <a:cs typeface="Garet"/>
                <a:sym typeface="Garet Bold"/>
              </a:rPr>
              <a:t>./array</a:t>
            </a:r>
            <a:endParaRPr lang="en-US" altLang="zh-CN" sz="2400" dirty="0">
              <a:solidFill>
                <a:srgbClr val="000000"/>
              </a:solidFill>
              <a:latin typeface="Garet" panose="02010600030101010101" charset="0"/>
              <a:ea typeface="Garet"/>
              <a:cs typeface="Garet"/>
              <a:sym typeface="Garet"/>
            </a:endParaRPr>
          </a:p>
        </p:txBody>
      </p:sp>
      <p:sp>
        <p:nvSpPr>
          <p:cNvPr id="13" name="TextBox 9">
            <a:extLst>
              <a:ext uri="{FF2B5EF4-FFF2-40B4-BE49-F238E27FC236}">
                <a16:creationId xmlns:a16="http://schemas.microsoft.com/office/drawing/2014/main" id="{08101A94-428A-EEBC-B2FF-82A74433E981}"/>
              </a:ext>
            </a:extLst>
          </p:cNvPr>
          <p:cNvSpPr txBox="1"/>
          <p:nvPr/>
        </p:nvSpPr>
        <p:spPr>
          <a:xfrm>
            <a:off x="4991100" y="7930565"/>
            <a:ext cx="4191000" cy="3616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Garet Bold"/>
                <a:ea typeface="Garet"/>
                <a:cs typeface="Garet"/>
                <a:sym typeface="Garet Bold"/>
              </a:rPr>
              <a:t>./list</a:t>
            </a:r>
            <a:endParaRPr lang="en-US" altLang="zh-CN" sz="2400" dirty="0">
              <a:solidFill>
                <a:srgbClr val="000000"/>
              </a:solidFill>
              <a:latin typeface="Garet" panose="02010600030101010101" charset="0"/>
              <a:ea typeface="Garet"/>
              <a:cs typeface="Garet"/>
              <a:sym typeface="Garet"/>
            </a:endParaRPr>
          </a:p>
        </p:txBody>
      </p:sp>
      <p:sp>
        <p:nvSpPr>
          <p:cNvPr id="14" name="左大括号 13">
            <a:extLst>
              <a:ext uri="{FF2B5EF4-FFF2-40B4-BE49-F238E27FC236}">
                <a16:creationId xmlns:a16="http://schemas.microsoft.com/office/drawing/2014/main" id="{EDAB169E-30D9-0B52-5804-54E4030EE37B}"/>
              </a:ext>
            </a:extLst>
          </p:cNvPr>
          <p:cNvSpPr/>
          <p:nvPr/>
        </p:nvSpPr>
        <p:spPr>
          <a:xfrm>
            <a:off x="6274202" y="6456519"/>
            <a:ext cx="685800" cy="3185888"/>
          </a:xfrm>
          <a:prstGeom prst="leftBrace">
            <a:avLst/>
          </a:prstGeom>
          <a:gradFill flip="none" rotWithShape="1">
            <a:gsLst>
              <a:gs pos="0">
                <a:schemeClr val="accent4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4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4">
                  <a:lumMod val="60000"/>
                  <a:lumOff val="40000"/>
                  <a:tint val="23500"/>
                  <a:satMod val="160000"/>
                </a:schemeClr>
              </a:gs>
            </a:gsLst>
            <a:lin ang="10800000" scaled="1"/>
            <a:tileRect/>
          </a:gradFill>
          <a:ln w="1905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TextBox 9">
            <a:extLst>
              <a:ext uri="{FF2B5EF4-FFF2-40B4-BE49-F238E27FC236}">
                <a16:creationId xmlns:a16="http://schemas.microsoft.com/office/drawing/2014/main" id="{DDE811C8-5CEF-DBD2-40B1-7A3A02F6CB19}"/>
              </a:ext>
            </a:extLst>
          </p:cNvPr>
          <p:cNvSpPr txBox="1"/>
          <p:nvPr/>
        </p:nvSpPr>
        <p:spPr>
          <a:xfrm>
            <a:off x="7302902" y="4176289"/>
            <a:ext cx="4191000" cy="3616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Garet Bold"/>
                <a:ea typeface="Garet"/>
                <a:cs typeface="Garet"/>
                <a:sym typeface="Garet Bold"/>
              </a:rPr>
              <a:t>InsertionSortArray.java</a:t>
            </a:r>
            <a:endParaRPr lang="en-US" altLang="zh-CN" sz="2400" dirty="0">
              <a:solidFill>
                <a:srgbClr val="000000"/>
              </a:solidFill>
              <a:latin typeface="Garet" panose="02010600030101010101" charset="0"/>
              <a:ea typeface="Garet"/>
              <a:cs typeface="Garet"/>
              <a:sym typeface="Garet"/>
            </a:endParaRPr>
          </a:p>
        </p:txBody>
      </p:sp>
      <p:sp>
        <p:nvSpPr>
          <p:cNvPr id="19" name="左大括号 18">
            <a:extLst>
              <a:ext uri="{FF2B5EF4-FFF2-40B4-BE49-F238E27FC236}">
                <a16:creationId xmlns:a16="http://schemas.microsoft.com/office/drawing/2014/main" id="{8CD26380-C953-5765-4750-A5F2D61035E6}"/>
              </a:ext>
            </a:extLst>
          </p:cNvPr>
          <p:cNvSpPr/>
          <p:nvPr/>
        </p:nvSpPr>
        <p:spPr>
          <a:xfrm>
            <a:off x="6324600" y="4318545"/>
            <a:ext cx="685800" cy="1732671"/>
          </a:xfrm>
          <a:prstGeom prst="leftBrace">
            <a:avLst/>
          </a:prstGeom>
          <a:gradFill flip="none" rotWithShape="1">
            <a:gsLst>
              <a:gs pos="0">
                <a:schemeClr val="accent4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4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4">
                  <a:lumMod val="60000"/>
                  <a:lumOff val="40000"/>
                  <a:tint val="23500"/>
                  <a:satMod val="160000"/>
                </a:schemeClr>
              </a:gs>
            </a:gsLst>
            <a:lin ang="10800000" scaled="1"/>
            <a:tileRect/>
          </a:gradFill>
          <a:ln w="1905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TextBox 9">
            <a:extLst>
              <a:ext uri="{FF2B5EF4-FFF2-40B4-BE49-F238E27FC236}">
                <a16:creationId xmlns:a16="http://schemas.microsoft.com/office/drawing/2014/main" id="{019E5957-4184-7D73-920E-BB7CF1E1D3FE}"/>
              </a:ext>
            </a:extLst>
          </p:cNvPr>
          <p:cNvSpPr txBox="1"/>
          <p:nvPr/>
        </p:nvSpPr>
        <p:spPr>
          <a:xfrm>
            <a:off x="7302902" y="4973416"/>
            <a:ext cx="4191000" cy="3616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Garet Bold"/>
                <a:ea typeface="Garet"/>
                <a:cs typeface="Garet"/>
                <a:sym typeface="Garet Bold"/>
              </a:rPr>
              <a:t>QuickSortArray.java</a:t>
            </a:r>
            <a:endParaRPr lang="en-US" altLang="zh-CN" sz="2400" dirty="0">
              <a:solidFill>
                <a:srgbClr val="000000"/>
              </a:solidFill>
              <a:latin typeface="Garet" panose="02010600030101010101" charset="0"/>
              <a:ea typeface="Garet"/>
              <a:cs typeface="Garet"/>
              <a:sym typeface="Garet"/>
            </a:endParaRPr>
          </a:p>
        </p:txBody>
      </p:sp>
      <p:sp>
        <p:nvSpPr>
          <p:cNvPr id="21" name="TextBox 9">
            <a:extLst>
              <a:ext uri="{FF2B5EF4-FFF2-40B4-BE49-F238E27FC236}">
                <a16:creationId xmlns:a16="http://schemas.microsoft.com/office/drawing/2014/main" id="{BABC8E01-F562-2EF4-B0DA-423EA7E69529}"/>
              </a:ext>
            </a:extLst>
          </p:cNvPr>
          <p:cNvSpPr txBox="1"/>
          <p:nvPr/>
        </p:nvSpPr>
        <p:spPr>
          <a:xfrm>
            <a:off x="7290202" y="5760698"/>
            <a:ext cx="4191000" cy="3616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Garet Bold"/>
                <a:ea typeface="Garet"/>
                <a:cs typeface="Garet"/>
                <a:sym typeface="Garet Bold"/>
              </a:rPr>
              <a:t>MergeSortArray.java</a:t>
            </a:r>
            <a:endParaRPr lang="en-US" altLang="zh-CN" sz="2400" dirty="0">
              <a:solidFill>
                <a:srgbClr val="000000"/>
              </a:solidFill>
              <a:latin typeface="Garet" panose="02010600030101010101" charset="0"/>
              <a:ea typeface="Garet"/>
              <a:cs typeface="Garet"/>
              <a:sym typeface="Garet"/>
            </a:endParaRPr>
          </a:p>
        </p:txBody>
      </p:sp>
      <p:sp>
        <p:nvSpPr>
          <p:cNvPr id="22" name="左大括号 21">
            <a:extLst>
              <a:ext uri="{FF2B5EF4-FFF2-40B4-BE49-F238E27FC236}">
                <a16:creationId xmlns:a16="http://schemas.microsoft.com/office/drawing/2014/main" id="{3E2EEC82-33DE-19E9-03E3-D3A5AE275EE3}"/>
              </a:ext>
            </a:extLst>
          </p:cNvPr>
          <p:cNvSpPr/>
          <p:nvPr/>
        </p:nvSpPr>
        <p:spPr>
          <a:xfrm>
            <a:off x="11100604" y="4287898"/>
            <a:ext cx="685800" cy="1678561"/>
          </a:xfrm>
          <a:prstGeom prst="leftBrace">
            <a:avLst/>
          </a:prstGeom>
          <a:gradFill flip="none" rotWithShape="1">
            <a:gsLst>
              <a:gs pos="0">
                <a:schemeClr val="accent4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4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4">
                  <a:lumMod val="60000"/>
                  <a:lumOff val="40000"/>
                  <a:tint val="23500"/>
                  <a:satMod val="160000"/>
                </a:schemeClr>
              </a:gs>
            </a:gsLst>
            <a:lin ang="10800000" scaled="1"/>
            <a:tileRect/>
          </a:gradFill>
          <a:ln w="1905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TextBox 9">
            <a:extLst>
              <a:ext uri="{FF2B5EF4-FFF2-40B4-BE49-F238E27FC236}">
                <a16:creationId xmlns:a16="http://schemas.microsoft.com/office/drawing/2014/main" id="{6622E1BC-4AD6-CC9D-2C10-9E081C804FF6}"/>
              </a:ext>
            </a:extLst>
          </p:cNvPr>
          <p:cNvSpPr txBox="1"/>
          <p:nvPr/>
        </p:nvSpPr>
        <p:spPr>
          <a:xfrm>
            <a:off x="12077756" y="4258720"/>
            <a:ext cx="3124088" cy="3616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Garet Bold"/>
                <a:ea typeface="Garet"/>
                <a:cs typeface="Garet"/>
                <a:sym typeface="Garet Bold"/>
              </a:rPr>
              <a:t>LAST_ELEMENT</a:t>
            </a:r>
            <a:endParaRPr lang="en-US" altLang="zh-CN" sz="2400" dirty="0">
              <a:solidFill>
                <a:srgbClr val="000000"/>
              </a:solidFill>
              <a:latin typeface="Garet" panose="02010600030101010101" charset="0"/>
              <a:ea typeface="Garet"/>
              <a:cs typeface="Garet"/>
              <a:sym typeface="Garet"/>
            </a:endParaRPr>
          </a:p>
        </p:txBody>
      </p:sp>
      <p:sp>
        <p:nvSpPr>
          <p:cNvPr id="24" name="TextBox 9">
            <a:extLst>
              <a:ext uri="{FF2B5EF4-FFF2-40B4-BE49-F238E27FC236}">
                <a16:creationId xmlns:a16="http://schemas.microsoft.com/office/drawing/2014/main" id="{7C15210A-4120-1DF3-4915-3838078DCF32}"/>
              </a:ext>
            </a:extLst>
          </p:cNvPr>
          <p:cNvSpPr txBox="1"/>
          <p:nvPr/>
        </p:nvSpPr>
        <p:spPr>
          <a:xfrm>
            <a:off x="12077756" y="4910401"/>
            <a:ext cx="3124088" cy="3616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Garet Bold"/>
                <a:ea typeface="Garet"/>
                <a:cs typeface="Garet"/>
                <a:sym typeface="Garet Bold"/>
              </a:rPr>
              <a:t>MEDIUM_OF_THREE</a:t>
            </a:r>
            <a:endParaRPr lang="en-US" altLang="zh-CN" sz="2400" dirty="0">
              <a:solidFill>
                <a:srgbClr val="000000"/>
              </a:solidFill>
              <a:latin typeface="Garet" panose="02010600030101010101" charset="0"/>
              <a:ea typeface="Garet"/>
              <a:cs typeface="Garet"/>
              <a:sym typeface="Garet"/>
            </a:endParaRPr>
          </a:p>
        </p:txBody>
      </p:sp>
      <p:sp>
        <p:nvSpPr>
          <p:cNvPr id="25" name="TextBox 9">
            <a:extLst>
              <a:ext uri="{FF2B5EF4-FFF2-40B4-BE49-F238E27FC236}">
                <a16:creationId xmlns:a16="http://schemas.microsoft.com/office/drawing/2014/main" id="{B1B96889-F8CF-882D-02E3-4C2A2A1CEF92}"/>
              </a:ext>
            </a:extLst>
          </p:cNvPr>
          <p:cNvSpPr txBox="1"/>
          <p:nvPr/>
        </p:nvSpPr>
        <p:spPr>
          <a:xfrm>
            <a:off x="12103614" y="5573491"/>
            <a:ext cx="3124088" cy="3616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Garet Bold"/>
                <a:ea typeface="Garet"/>
                <a:cs typeface="Garet"/>
                <a:sym typeface="Garet Bold"/>
              </a:rPr>
              <a:t>RANDOM</a:t>
            </a:r>
            <a:endParaRPr lang="en-US" altLang="zh-CN" sz="2400" dirty="0">
              <a:solidFill>
                <a:srgbClr val="000000"/>
              </a:solidFill>
              <a:latin typeface="Garet" panose="02010600030101010101" charset="0"/>
              <a:ea typeface="Garet"/>
              <a:cs typeface="Garet"/>
              <a:sym typeface="Garet"/>
            </a:endParaRPr>
          </a:p>
        </p:txBody>
      </p:sp>
      <p:sp>
        <p:nvSpPr>
          <p:cNvPr id="29" name="TextBox 9">
            <a:extLst>
              <a:ext uri="{FF2B5EF4-FFF2-40B4-BE49-F238E27FC236}">
                <a16:creationId xmlns:a16="http://schemas.microsoft.com/office/drawing/2014/main" id="{20AA9481-CD74-65DD-8B43-38C1C322E2AD}"/>
              </a:ext>
            </a:extLst>
          </p:cNvPr>
          <p:cNvSpPr txBox="1"/>
          <p:nvPr/>
        </p:nvSpPr>
        <p:spPr>
          <a:xfrm>
            <a:off x="7290202" y="6514853"/>
            <a:ext cx="4191000" cy="3616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Garet Bold"/>
                <a:ea typeface="Garet"/>
                <a:cs typeface="Garet"/>
                <a:sym typeface="Garet Bold"/>
              </a:rPr>
              <a:t>InsertionSortList.java</a:t>
            </a:r>
            <a:endParaRPr lang="en-US" altLang="zh-CN" sz="2400" dirty="0">
              <a:solidFill>
                <a:srgbClr val="000000"/>
              </a:solidFill>
              <a:latin typeface="Garet" panose="02010600030101010101" charset="0"/>
              <a:ea typeface="Garet"/>
              <a:cs typeface="Garet"/>
              <a:sym typeface="Garet"/>
            </a:endParaRPr>
          </a:p>
        </p:txBody>
      </p:sp>
      <p:sp>
        <p:nvSpPr>
          <p:cNvPr id="30" name="左大括号 29">
            <a:extLst>
              <a:ext uri="{FF2B5EF4-FFF2-40B4-BE49-F238E27FC236}">
                <a16:creationId xmlns:a16="http://schemas.microsoft.com/office/drawing/2014/main" id="{A2101B1D-E4E6-FADF-5B23-CCA8F2D09131}"/>
              </a:ext>
            </a:extLst>
          </p:cNvPr>
          <p:cNvSpPr/>
          <p:nvPr/>
        </p:nvSpPr>
        <p:spPr>
          <a:xfrm>
            <a:off x="11062504" y="6221649"/>
            <a:ext cx="685800" cy="948043"/>
          </a:xfrm>
          <a:prstGeom prst="leftBrace">
            <a:avLst/>
          </a:prstGeom>
          <a:gradFill flip="none" rotWithShape="1">
            <a:gsLst>
              <a:gs pos="0">
                <a:schemeClr val="accent4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4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4">
                  <a:lumMod val="60000"/>
                  <a:lumOff val="40000"/>
                  <a:tint val="23500"/>
                  <a:satMod val="160000"/>
                </a:schemeClr>
              </a:gs>
            </a:gsLst>
            <a:lin ang="10800000" scaled="1"/>
            <a:tileRect/>
          </a:gradFill>
          <a:ln w="1905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TextBox 9">
            <a:extLst>
              <a:ext uri="{FF2B5EF4-FFF2-40B4-BE49-F238E27FC236}">
                <a16:creationId xmlns:a16="http://schemas.microsoft.com/office/drawing/2014/main" id="{6C2EF199-88FC-44A8-94B1-3B2A1F33C22E}"/>
              </a:ext>
            </a:extLst>
          </p:cNvPr>
          <p:cNvSpPr txBox="1"/>
          <p:nvPr/>
        </p:nvSpPr>
        <p:spPr>
          <a:xfrm>
            <a:off x="12103614" y="6196030"/>
            <a:ext cx="3124088" cy="3616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altLang="zh-CN" sz="2400" b="1" dirty="0" err="1">
                <a:solidFill>
                  <a:srgbClr val="000000"/>
                </a:solidFill>
                <a:latin typeface="Garet Bold"/>
                <a:ea typeface="Garet"/>
                <a:cs typeface="Garet"/>
                <a:sym typeface="Garet Bold"/>
              </a:rPr>
              <a:t>ArrayList</a:t>
            </a:r>
            <a:r>
              <a:rPr lang="en-US" altLang="zh-CN" sz="2400" b="1" dirty="0">
                <a:solidFill>
                  <a:srgbClr val="000000"/>
                </a:solidFill>
                <a:latin typeface="Garet Bold"/>
                <a:ea typeface="Garet"/>
                <a:cs typeface="Garet"/>
                <a:sym typeface="Garet Bold"/>
              </a:rPr>
              <a:t>&lt;String&gt;</a:t>
            </a:r>
            <a:endParaRPr lang="en-US" altLang="zh-CN" sz="2400" dirty="0">
              <a:solidFill>
                <a:srgbClr val="000000"/>
              </a:solidFill>
              <a:latin typeface="Garet" panose="02010600030101010101" charset="0"/>
              <a:ea typeface="Garet"/>
              <a:cs typeface="Garet"/>
              <a:sym typeface="Garet"/>
            </a:endParaRPr>
          </a:p>
        </p:txBody>
      </p:sp>
      <p:sp>
        <p:nvSpPr>
          <p:cNvPr id="32" name="TextBox 9">
            <a:extLst>
              <a:ext uri="{FF2B5EF4-FFF2-40B4-BE49-F238E27FC236}">
                <a16:creationId xmlns:a16="http://schemas.microsoft.com/office/drawing/2014/main" id="{205C3219-B479-35C5-3051-23A201AF2A16}"/>
              </a:ext>
            </a:extLst>
          </p:cNvPr>
          <p:cNvSpPr txBox="1"/>
          <p:nvPr/>
        </p:nvSpPr>
        <p:spPr>
          <a:xfrm>
            <a:off x="12077756" y="6761970"/>
            <a:ext cx="3124088" cy="3616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Garet Bold"/>
                <a:ea typeface="Garet"/>
                <a:cs typeface="Garet"/>
                <a:sym typeface="Garet Bold"/>
              </a:rPr>
              <a:t>LinkedList&lt;String&gt;</a:t>
            </a:r>
            <a:endParaRPr lang="en-US" altLang="zh-CN" sz="2400" dirty="0">
              <a:solidFill>
                <a:srgbClr val="000000"/>
              </a:solidFill>
              <a:latin typeface="Garet" panose="02010600030101010101" charset="0"/>
              <a:ea typeface="Garet"/>
              <a:cs typeface="Garet"/>
              <a:sym typeface="Garet"/>
            </a:endParaRPr>
          </a:p>
        </p:txBody>
      </p:sp>
      <p:sp>
        <p:nvSpPr>
          <p:cNvPr id="33" name="TextBox 9">
            <a:extLst>
              <a:ext uri="{FF2B5EF4-FFF2-40B4-BE49-F238E27FC236}">
                <a16:creationId xmlns:a16="http://schemas.microsoft.com/office/drawing/2014/main" id="{1AA6AA22-5E1A-473D-6A94-95C09792D45E}"/>
              </a:ext>
            </a:extLst>
          </p:cNvPr>
          <p:cNvSpPr txBox="1"/>
          <p:nvPr/>
        </p:nvSpPr>
        <p:spPr>
          <a:xfrm>
            <a:off x="7302902" y="7424882"/>
            <a:ext cx="4191000" cy="3616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Garet Bold"/>
                <a:ea typeface="Garet"/>
                <a:cs typeface="Garet"/>
                <a:sym typeface="Garet Bold"/>
              </a:rPr>
              <a:t>MergeSortArrayList.java</a:t>
            </a:r>
            <a:endParaRPr lang="en-US" altLang="zh-CN" sz="2400" dirty="0">
              <a:solidFill>
                <a:srgbClr val="000000"/>
              </a:solidFill>
              <a:latin typeface="Garet" panose="02010600030101010101" charset="0"/>
              <a:ea typeface="Garet"/>
              <a:cs typeface="Garet"/>
              <a:sym typeface="Garet"/>
            </a:endParaRPr>
          </a:p>
        </p:txBody>
      </p:sp>
      <p:sp>
        <p:nvSpPr>
          <p:cNvPr id="34" name="TextBox 9">
            <a:extLst>
              <a:ext uri="{FF2B5EF4-FFF2-40B4-BE49-F238E27FC236}">
                <a16:creationId xmlns:a16="http://schemas.microsoft.com/office/drawing/2014/main" id="{36525F00-5D0A-72A1-A275-8BA0FB63CF25}"/>
              </a:ext>
            </a:extLst>
          </p:cNvPr>
          <p:cNvSpPr txBox="1"/>
          <p:nvPr/>
        </p:nvSpPr>
        <p:spPr>
          <a:xfrm>
            <a:off x="7289800" y="8099846"/>
            <a:ext cx="4191000" cy="3616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Garet Bold"/>
                <a:ea typeface="Garet"/>
                <a:cs typeface="Garet"/>
                <a:sym typeface="Garet Bold"/>
              </a:rPr>
              <a:t>MergeSortLinkedList.java</a:t>
            </a:r>
            <a:endParaRPr lang="en-US" altLang="zh-CN" sz="2400" dirty="0">
              <a:solidFill>
                <a:srgbClr val="000000"/>
              </a:solidFill>
              <a:latin typeface="Garet" panose="02010600030101010101" charset="0"/>
              <a:ea typeface="Garet"/>
              <a:cs typeface="Garet"/>
              <a:sym typeface="Garet"/>
            </a:endParaRPr>
          </a:p>
        </p:txBody>
      </p:sp>
      <p:sp>
        <p:nvSpPr>
          <p:cNvPr id="35" name="TextBox 9">
            <a:extLst>
              <a:ext uri="{FF2B5EF4-FFF2-40B4-BE49-F238E27FC236}">
                <a16:creationId xmlns:a16="http://schemas.microsoft.com/office/drawing/2014/main" id="{BFBD9444-EDE8-82C6-A900-361CE12FF8DD}"/>
              </a:ext>
            </a:extLst>
          </p:cNvPr>
          <p:cNvSpPr txBox="1"/>
          <p:nvPr/>
        </p:nvSpPr>
        <p:spPr>
          <a:xfrm>
            <a:off x="7289800" y="9413930"/>
            <a:ext cx="4323774" cy="7207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Garet Bold"/>
                <a:ea typeface="Garet"/>
                <a:cs typeface="Garet"/>
                <a:sym typeface="Garet Bold"/>
              </a:rPr>
              <a:t>QuickSortLinkedList.java</a:t>
            </a:r>
          </a:p>
          <a:p>
            <a:pPr>
              <a:lnSpc>
                <a:spcPts val="28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Garet Bold"/>
                <a:ea typeface="Garet"/>
                <a:cs typeface="Garet"/>
                <a:sym typeface="Garet Bold"/>
              </a:rPr>
              <a:t>(Skip) </a:t>
            </a:r>
            <a:endParaRPr lang="en-US" altLang="zh-CN" sz="2400" dirty="0">
              <a:solidFill>
                <a:srgbClr val="000000"/>
              </a:solidFill>
              <a:latin typeface="Garet" panose="02010600030101010101" charset="0"/>
              <a:ea typeface="Garet"/>
              <a:cs typeface="Garet"/>
              <a:sym typeface="Garet"/>
            </a:endParaRPr>
          </a:p>
        </p:txBody>
      </p:sp>
      <p:sp>
        <p:nvSpPr>
          <p:cNvPr id="37" name="TextBox 9">
            <a:extLst>
              <a:ext uri="{FF2B5EF4-FFF2-40B4-BE49-F238E27FC236}">
                <a16:creationId xmlns:a16="http://schemas.microsoft.com/office/drawing/2014/main" id="{DBBECEB8-4C94-8054-4DE5-669F16A82C42}"/>
              </a:ext>
            </a:extLst>
          </p:cNvPr>
          <p:cNvSpPr txBox="1"/>
          <p:nvPr/>
        </p:nvSpPr>
        <p:spPr>
          <a:xfrm>
            <a:off x="7289800" y="8797103"/>
            <a:ext cx="4191000" cy="3616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Garet Bold"/>
                <a:ea typeface="Garet"/>
                <a:cs typeface="Garet"/>
                <a:sym typeface="Garet Bold"/>
              </a:rPr>
              <a:t>QuickSortList.java</a:t>
            </a:r>
            <a:endParaRPr lang="en-US" altLang="zh-CN" sz="2400" dirty="0">
              <a:solidFill>
                <a:srgbClr val="000000"/>
              </a:solidFill>
              <a:latin typeface="Garet" panose="02010600030101010101" charset="0"/>
              <a:ea typeface="Garet"/>
              <a:cs typeface="Garet"/>
              <a:sym typeface="Garet"/>
            </a:endParaRPr>
          </a:p>
        </p:txBody>
      </p:sp>
      <p:sp>
        <p:nvSpPr>
          <p:cNvPr id="39" name="TextBox 9">
            <a:extLst>
              <a:ext uri="{FF2B5EF4-FFF2-40B4-BE49-F238E27FC236}">
                <a16:creationId xmlns:a16="http://schemas.microsoft.com/office/drawing/2014/main" id="{B612F5CB-F235-B236-160D-1DB87EFD886A}"/>
              </a:ext>
            </a:extLst>
          </p:cNvPr>
          <p:cNvSpPr txBox="1"/>
          <p:nvPr/>
        </p:nvSpPr>
        <p:spPr>
          <a:xfrm>
            <a:off x="12045833" y="8107449"/>
            <a:ext cx="3124088" cy="3616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Garet Bold"/>
                <a:ea typeface="Garet"/>
                <a:cs typeface="Garet"/>
                <a:sym typeface="Garet Bold"/>
              </a:rPr>
              <a:t>LAST_ELEMENT</a:t>
            </a:r>
            <a:endParaRPr lang="en-US" altLang="zh-CN" sz="2400" dirty="0">
              <a:solidFill>
                <a:srgbClr val="000000"/>
              </a:solidFill>
              <a:latin typeface="Garet" panose="02010600030101010101" charset="0"/>
              <a:ea typeface="Garet"/>
              <a:cs typeface="Garet"/>
              <a:sym typeface="Garet"/>
            </a:endParaRPr>
          </a:p>
        </p:txBody>
      </p:sp>
      <p:sp>
        <p:nvSpPr>
          <p:cNvPr id="40" name="TextBox 9">
            <a:extLst>
              <a:ext uri="{FF2B5EF4-FFF2-40B4-BE49-F238E27FC236}">
                <a16:creationId xmlns:a16="http://schemas.microsoft.com/office/drawing/2014/main" id="{F0BBA223-CBD2-ECA2-0462-0355FA0AB545}"/>
              </a:ext>
            </a:extLst>
          </p:cNvPr>
          <p:cNvSpPr txBox="1"/>
          <p:nvPr/>
        </p:nvSpPr>
        <p:spPr>
          <a:xfrm>
            <a:off x="12077756" y="8797103"/>
            <a:ext cx="3124088" cy="3616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Garet Bold"/>
                <a:ea typeface="Garet"/>
                <a:cs typeface="Garet"/>
                <a:sym typeface="Garet Bold"/>
              </a:rPr>
              <a:t>MEDIUM_OF_THREE</a:t>
            </a:r>
            <a:endParaRPr lang="en-US" altLang="zh-CN" sz="2400" dirty="0">
              <a:solidFill>
                <a:srgbClr val="000000"/>
              </a:solidFill>
              <a:latin typeface="Garet" panose="02010600030101010101" charset="0"/>
              <a:ea typeface="Garet"/>
              <a:cs typeface="Garet"/>
              <a:sym typeface="Garet"/>
            </a:endParaRPr>
          </a:p>
        </p:txBody>
      </p:sp>
      <p:sp>
        <p:nvSpPr>
          <p:cNvPr id="41" name="TextBox 9">
            <a:extLst>
              <a:ext uri="{FF2B5EF4-FFF2-40B4-BE49-F238E27FC236}">
                <a16:creationId xmlns:a16="http://schemas.microsoft.com/office/drawing/2014/main" id="{6640090B-CAFB-8DE7-5323-17D5D48C7C14}"/>
              </a:ext>
            </a:extLst>
          </p:cNvPr>
          <p:cNvSpPr txBox="1"/>
          <p:nvPr/>
        </p:nvSpPr>
        <p:spPr>
          <a:xfrm>
            <a:off x="12078214" y="9460193"/>
            <a:ext cx="3124088" cy="3616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Garet Bold"/>
                <a:ea typeface="Garet"/>
                <a:cs typeface="Garet"/>
                <a:sym typeface="Garet Bold"/>
              </a:rPr>
              <a:t>RANDOM</a:t>
            </a:r>
            <a:endParaRPr lang="en-US" altLang="zh-CN" sz="2400" dirty="0">
              <a:solidFill>
                <a:srgbClr val="000000"/>
              </a:solidFill>
              <a:latin typeface="Garet" panose="02010600030101010101" charset="0"/>
              <a:ea typeface="Garet"/>
              <a:cs typeface="Garet"/>
              <a:sym typeface="Garet"/>
            </a:endParaRPr>
          </a:p>
        </p:txBody>
      </p:sp>
      <p:sp>
        <p:nvSpPr>
          <p:cNvPr id="42" name="左大括号 41">
            <a:extLst>
              <a:ext uri="{FF2B5EF4-FFF2-40B4-BE49-F238E27FC236}">
                <a16:creationId xmlns:a16="http://schemas.microsoft.com/office/drawing/2014/main" id="{DFD898E4-DDE2-EE94-7B66-DA2004DD9D64}"/>
              </a:ext>
            </a:extLst>
          </p:cNvPr>
          <p:cNvSpPr/>
          <p:nvPr/>
        </p:nvSpPr>
        <p:spPr>
          <a:xfrm>
            <a:off x="11246453" y="8111585"/>
            <a:ext cx="685800" cy="1732671"/>
          </a:xfrm>
          <a:prstGeom prst="leftBrace">
            <a:avLst/>
          </a:prstGeom>
          <a:gradFill flip="none" rotWithShape="1">
            <a:gsLst>
              <a:gs pos="0">
                <a:schemeClr val="accent4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4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4">
                  <a:lumMod val="60000"/>
                  <a:lumOff val="40000"/>
                  <a:tint val="23500"/>
                  <a:satMod val="160000"/>
                </a:schemeClr>
              </a:gs>
            </a:gsLst>
            <a:lin ang="10800000" scaled="1"/>
            <a:tileRect/>
          </a:gradFill>
          <a:ln w="1905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527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DD612C-88D6-2C92-8DA3-7705C1AC1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9A41392-6639-F373-351C-A39A941E3243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E1F27727-F2E6-21DC-16B6-A71145BB19A3}"/>
              </a:ext>
            </a:extLst>
          </p:cNvPr>
          <p:cNvSpPr txBox="1"/>
          <p:nvPr/>
        </p:nvSpPr>
        <p:spPr>
          <a:xfrm>
            <a:off x="1981200" y="468144"/>
            <a:ext cx="11125200" cy="14875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5808"/>
              </a:lnSpc>
              <a:spcBef>
                <a:spcPct val="0"/>
              </a:spcBef>
            </a:pPr>
            <a:r>
              <a:rPr lang="en-US" sz="5000" spc="-150" dirty="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Task C – City Name Sorting Algorithm Test</a:t>
            </a:r>
          </a:p>
        </p:txBody>
      </p:sp>
      <p:sp>
        <p:nvSpPr>
          <p:cNvPr id="36" name="Freeform 5">
            <a:extLst>
              <a:ext uri="{FF2B5EF4-FFF2-40B4-BE49-F238E27FC236}">
                <a16:creationId xmlns:a16="http://schemas.microsoft.com/office/drawing/2014/main" id="{C8069966-6C2C-4BEC-5B9F-827FDB5C4A5F}"/>
              </a:ext>
            </a:extLst>
          </p:cNvPr>
          <p:cNvSpPr/>
          <p:nvPr/>
        </p:nvSpPr>
        <p:spPr>
          <a:xfrm>
            <a:off x="228600" y="495300"/>
            <a:ext cx="1524000" cy="1457826"/>
          </a:xfrm>
          <a:custGeom>
            <a:avLst/>
            <a:gdLst/>
            <a:ahLst/>
            <a:cxnLst/>
            <a:rect l="l" t="t" r="r" b="b"/>
            <a:pathLst>
              <a:path w="3493612" h="3493612">
                <a:moveTo>
                  <a:pt x="0" y="0"/>
                </a:moveTo>
                <a:lnTo>
                  <a:pt x="3493612" y="0"/>
                </a:lnTo>
                <a:lnTo>
                  <a:pt x="3493612" y="3493612"/>
                </a:lnTo>
                <a:lnTo>
                  <a:pt x="0" y="34936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3" name="Freeform 8">
            <a:extLst>
              <a:ext uri="{FF2B5EF4-FFF2-40B4-BE49-F238E27FC236}">
                <a16:creationId xmlns:a16="http://schemas.microsoft.com/office/drawing/2014/main" id="{1DADF9DD-0242-699C-54EA-1241DFFB66F9}"/>
              </a:ext>
            </a:extLst>
          </p:cNvPr>
          <p:cNvSpPr/>
          <p:nvPr/>
        </p:nvSpPr>
        <p:spPr>
          <a:xfrm rot="10800000">
            <a:off x="15172736" y="0"/>
            <a:ext cx="2177829" cy="2843880"/>
          </a:xfrm>
          <a:custGeom>
            <a:avLst/>
            <a:gdLst/>
            <a:ahLst/>
            <a:cxnLst/>
            <a:rect l="l" t="t" r="r" b="b"/>
            <a:pathLst>
              <a:path w="2611028" h="4114800">
                <a:moveTo>
                  <a:pt x="0" y="0"/>
                </a:moveTo>
                <a:lnTo>
                  <a:pt x="2611028" y="0"/>
                </a:lnTo>
                <a:lnTo>
                  <a:pt x="26110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5B832C56-CE29-BBD4-72A7-4A04C07FAE66}"/>
              </a:ext>
            </a:extLst>
          </p:cNvPr>
          <p:cNvSpPr txBox="1"/>
          <p:nvPr/>
        </p:nvSpPr>
        <p:spPr>
          <a:xfrm>
            <a:off x="1180698" y="2625524"/>
            <a:ext cx="12687702" cy="4078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sz="3600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Implementation Methods and Test Design</a:t>
            </a:r>
          </a:p>
        </p:txBody>
      </p:sp>
      <p:sp>
        <p:nvSpPr>
          <p:cNvPr id="5" name="TextBox 8">
            <a:extLst>
              <a:ext uri="{FF2B5EF4-FFF2-40B4-BE49-F238E27FC236}">
                <a16:creationId xmlns:a16="http://schemas.microsoft.com/office/drawing/2014/main" id="{83218DC7-6DB0-CADB-123D-E1231258F3E4}"/>
              </a:ext>
            </a:extLst>
          </p:cNvPr>
          <p:cNvSpPr txBox="1"/>
          <p:nvPr/>
        </p:nvSpPr>
        <p:spPr>
          <a:xfrm>
            <a:off x="1209374" y="4325400"/>
            <a:ext cx="7633102" cy="21544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altLang="zh-CN" sz="2800" b="1" i="0" dirty="0">
                <a:solidFill>
                  <a:srgbClr val="202124"/>
                </a:solidFill>
                <a:effectLst/>
                <a:latin typeface="Garet" panose="02010600030101010101" charset="0"/>
              </a:rPr>
              <a:t>Test combinations</a:t>
            </a:r>
            <a:r>
              <a:rPr lang="en-US" altLang="zh-CN" sz="2800" b="0" i="0" dirty="0">
                <a:solidFill>
                  <a:srgbClr val="202124"/>
                </a:solidFill>
                <a:effectLst/>
                <a:latin typeface="Garet" panose="02010600030101010101" charset="0"/>
              </a:rPr>
              <a:t>: 3 </a:t>
            </a:r>
            <a:r>
              <a:rPr lang="en-US" altLang="zh-CN" sz="2800" dirty="0">
                <a:solidFill>
                  <a:srgbClr val="202124"/>
                </a:solidFill>
                <a:latin typeface="Garet" panose="02010600030101010101" charset="0"/>
              </a:rPr>
              <a:t>sorting algorithms</a:t>
            </a:r>
            <a:r>
              <a:rPr lang="en-US" altLang="zh-CN" sz="2800" b="0" i="0" dirty="0">
                <a:solidFill>
                  <a:srgbClr val="202124"/>
                </a:solidFill>
                <a:effectLst/>
                <a:latin typeface="Garet" panose="02010600030101010101" charset="0"/>
              </a:rPr>
              <a:t> × 3 </a:t>
            </a:r>
            <a:r>
              <a:rPr lang="en-US" altLang="zh-CN" sz="2800" dirty="0">
                <a:solidFill>
                  <a:srgbClr val="202124"/>
                </a:solidFill>
                <a:latin typeface="Garet" panose="02010600030101010101" charset="0"/>
              </a:rPr>
              <a:t>d</a:t>
            </a:r>
            <a:r>
              <a:rPr lang="en-US" altLang="zh-CN" sz="2800" b="0" i="0" dirty="0">
                <a:solidFill>
                  <a:srgbClr val="202124"/>
                </a:solidFill>
                <a:effectLst/>
                <a:latin typeface="Garet" panose="02010600030101010101" charset="0"/>
              </a:rPr>
              <a:t>ata container × 4 types of </a:t>
            </a:r>
            <a:r>
              <a:rPr lang="en-US" altLang="zh-CN" sz="2800" dirty="0">
                <a:solidFill>
                  <a:srgbClr val="202124"/>
                </a:solidFill>
                <a:latin typeface="Garet" panose="02010600030101010101" charset="0"/>
              </a:rPr>
              <a:t>d</a:t>
            </a:r>
            <a:r>
              <a:rPr lang="en-US" altLang="zh-CN" sz="2800" b="0" i="0" dirty="0">
                <a:solidFill>
                  <a:srgbClr val="202124"/>
                </a:solidFill>
                <a:effectLst/>
                <a:latin typeface="Garet" panose="02010600030101010101" charset="0"/>
              </a:rPr>
              <a:t>atasets</a:t>
            </a:r>
          </a:p>
          <a:p>
            <a:pPr algn="l"/>
            <a:endParaRPr lang="en-US" altLang="zh-CN" sz="2800" dirty="0">
              <a:solidFill>
                <a:srgbClr val="202124"/>
              </a:solidFill>
              <a:latin typeface="Garet" panose="02010600030101010101" charset="0"/>
              <a:ea typeface="Garet"/>
              <a:cs typeface="Garet"/>
              <a:sym typeface="Garet"/>
            </a:endParaRPr>
          </a:p>
          <a:p>
            <a:pPr algn="l"/>
            <a:r>
              <a:rPr lang="en-US" altLang="zh-CN" sz="2800" b="1" i="0" dirty="0">
                <a:solidFill>
                  <a:srgbClr val="202124"/>
                </a:solidFill>
                <a:effectLst/>
                <a:latin typeface="Garet" panose="02010600030101010101" charset="0"/>
              </a:rPr>
              <a:t>Data loading</a:t>
            </a:r>
            <a:r>
              <a:rPr lang="en-US" altLang="zh-CN" sz="2800" b="0" i="0" dirty="0">
                <a:solidFill>
                  <a:srgbClr val="202124"/>
                </a:solidFill>
                <a:effectLst/>
                <a:latin typeface="Garet" panose="02010600030101010101" charset="0"/>
              </a:rPr>
              <a:t>: </a:t>
            </a:r>
            <a:r>
              <a:rPr lang="en-US" altLang="zh-CN" sz="2800" b="1" i="0" dirty="0" err="1">
                <a:solidFill>
                  <a:srgbClr val="202124"/>
                </a:solidFill>
                <a:effectLst/>
                <a:latin typeface="Garet" panose="02010600030101010101" charset="0"/>
              </a:rPr>
              <a:t>CSVParser</a:t>
            </a:r>
            <a:r>
              <a:rPr lang="en-US" altLang="zh-CN" sz="2800" b="0" i="0" dirty="0">
                <a:solidFill>
                  <a:srgbClr val="202124"/>
                </a:solidFill>
                <a:effectLst/>
                <a:latin typeface="Garet" panose="02010600030101010101" charset="0"/>
              </a:rPr>
              <a:t> class unified processing</a:t>
            </a:r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0166D1A5-1125-9109-31CD-560D48F67232}"/>
              </a:ext>
            </a:extLst>
          </p:cNvPr>
          <p:cNvSpPr/>
          <p:nvPr/>
        </p:nvSpPr>
        <p:spPr>
          <a:xfrm>
            <a:off x="15172736" y="8520912"/>
            <a:ext cx="2570276" cy="1270788"/>
          </a:xfrm>
          <a:custGeom>
            <a:avLst/>
            <a:gdLst/>
            <a:ahLst/>
            <a:cxnLst/>
            <a:rect l="l" t="t" r="r" b="b"/>
            <a:pathLst>
              <a:path w="3493612" h="1759510">
                <a:moveTo>
                  <a:pt x="0" y="0"/>
                </a:moveTo>
                <a:lnTo>
                  <a:pt x="3493612" y="0"/>
                </a:lnTo>
                <a:lnTo>
                  <a:pt x="3493612" y="1759510"/>
                </a:lnTo>
                <a:lnTo>
                  <a:pt x="0" y="175951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CN" altLang="en-US" dirty="0"/>
          </a:p>
        </p:txBody>
      </p:sp>
      <p:sp>
        <p:nvSpPr>
          <p:cNvPr id="17" name="TextBox 8">
            <a:extLst>
              <a:ext uri="{FF2B5EF4-FFF2-40B4-BE49-F238E27FC236}">
                <a16:creationId xmlns:a16="http://schemas.microsoft.com/office/drawing/2014/main" id="{BD0A978B-B06C-0242-A11A-E70CD5AB486F}"/>
              </a:ext>
            </a:extLst>
          </p:cNvPr>
          <p:cNvSpPr txBox="1"/>
          <p:nvPr/>
        </p:nvSpPr>
        <p:spPr>
          <a:xfrm>
            <a:off x="10051849" y="3703121"/>
            <a:ext cx="7633102" cy="47397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altLang="zh-CN" sz="2800" b="1" i="0" dirty="0">
                <a:solidFill>
                  <a:srgbClr val="202124"/>
                </a:solidFill>
                <a:effectLst/>
                <a:latin typeface="Garet" panose="02010600030101010101" charset="0"/>
              </a:rPr>
              <a:t>Key Test Methods (Keywords/Icons):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altLang="zh-CN" sz="2800" b="0" i="0" dirty="0">
                <a:solidFill>
                  <a:srgbClr val="202124"/>
                </a:solidFill>
                <a:effectLst/>
                <a:latin typeface="Garet" panose="02010600030101010101" charset="0"/>
              </a:rPr>
              <a:t>5 times preheat (eliminate JIT interference)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altLang="zh-CN" sz="2800" b="0" i="0" dirty="0">
                <a:solidFill>
                  <a:srgbClr val="202124"/>
                </a:solidFill>
                <a:effectLst/>
                <a:latin typeface="Garet" panose="02010600030101010101" charset="0"/>
              </a:rPr>
              <a:t>10 formal tests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altLang="zh-CN" sz="2800" b="0" i="0" dirty="0">
                <a:solidFill>
                  <a:srgbClr val="202124"/>
                </a:solidFill>
                <a:effectLst/>
                <a:latin typeface="Garet" panose="02010600030101010101" charset="0"/>
              </a:rPr>
              <a:t>Record the elapsed time per run (ns)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altLang="zh-CN" sz="2800" b="0" i="0" dirty="0">
                <a:solidFill>
                  <a:srgbClr val="202124"/>
                </a:solidFill>
                <a:effectLst/>
                <a:latin typeface="Garet" panose="02010600030101010101" charset="0"/>
              </a:rPr>
              <a:t>Analysis mean time and standard deviation (reflecting time span/stability)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800" b="0" i="0" dirty="0">
                <a:solidFill>
                  <a:srgbClr val="202124"/>
                </a:solidFill>
                <a:effectLst/>
                <a:latin typeface="Garet" panose="02010600030101010101" charset="0"/>
              </a:rPr>
              <a:t>Release JVM cache using System. </a:t>
            </a:r>
            <a:r>
              <a:rPr lang="en-US" altLang="zh-CN" sz="2800" b="0" i="0" dirty="0" err="1">
                <a:solidFill>
                  <a:srgbClr val="202124"/>
                </a:solidFill>
                <a:effectLst/>
                <a:latin typeface="Garet" panose="02010600030101010101" charset="0"/>
              </a:rPr>
              <a:t>gc</a:t>
            </a:r>
            <a:r>
              <a:rPr lang="en-US" altLang="zh-CN" sz="2800" b="0" i="0" dirty="0">
                <a:solidFill>
                  <a:srgbClr val="202124"/>
                </a:solidFill>
                <a:effectLst/>
                <a:latin typeface="Garet" panose="02010600030101010101" charset="0"/>
              </a:rPr>
              <a:t>() after different tests are completed</a:t>
            </a:r>
            <a:endParaRPr lang="en-US" altLang="zh-CN" sz="2800" dirty="0">
              <a:solidFill>
                <a:srgbClr val="000000"/>
              </a:solidFill>
              <a:latin typeface="Garet" panose="02010600030101010101" charset="0"/>
              <a:ea typeface="Garet"/>
              <a:cs typeface="Garet"/>
              <a:sym typeface="Garet"/>
            </a:endParaRPr>
          </a:p>
          <a:p>
            <a:pPr algn="l"/>
            <a:endParaRPr lang="en-US" altLang="zh-CN" sz="2800" b="0" i="0" dirty="0">
              <a:solidFill>
                <a:srgbClr val="202124"/>
              </a:solidFill>
              <a:effectLst/>
              <a:latin typeface="Garet" panose="0201060003010101010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71660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F89975-F67C-4B4F-CF5A-03B1920E7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C1096C9-CED5-4C65-68BA-15B381FB92E2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043440EF-42C4-60D1-9C7C-634E5F022F80}"/>
              </a:ext>
            </a:extLst>
          </p:cNvPr>
          <p:cNvSpPr txBox="1"/>
          <p:nvPr/>
        </p:nvSpPr>
        <p:spPr>
          <a:xfrm>
            <a:off x="1981200" y="468144"/>
            <a:ext cx="11125200" cy="14875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5808"/>
              </a:lnSpc>
              <a:spcBef>
                <a:spcPct val="0"/>
              </a:spcBef>
            </a:pPr>
            <a:r>
              <a:rPr lang="en-US" sz="5000" spc="-150" dirty="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Task C – City Name Sorting Algorithm Test</a:t>
            </a:r>
          </a:p>
        </p:txBody>
      </p:sp>
      <p:sp>
        <p:nvSpPr>
          <p:cNvPr id="36" name="Freeform 5">
            <a:extLst>
              <a:ext uri="{FF2B5EF4-FFF2-40B4-BE49-F238E27FC236}">
                <a16:creationId xmlns:a16="http://schemas.microsoft.com/office/drawing/2014/main" id="{102FF939-CF46-3E08-02DE-A200D3BAC0A8}"/>
              </a:ext>
            </a:extLst>
          </p:cNvPr>
          <p:cNvSpPr/>
          <p:nvPr/>
        </p:nvSpPr>
        <p:spPr>
          <a:xfrm>
            <a:off x="228600" y="495300"/>
            <a:ext cx="1524000" cy="1457826"/>
          </a:xfrm>
          <a:custGeom>
            <a:avLst/>
            <a:gdLst/>
            <a:ahLst/>
            <a:cxnLst/>
            <a:rect l="l" t="t" r="r" b="b"/>
            <a:pathLst>
              <a:path w="3493612" h="3493612">
                <a:moveTo>
                  <a:pt x="0" y="0"/>
                </a:moveTo>
                <a:lnTo>
                  <a:pt x="3493612" y="0"/>
                </a:lnTo>
                <a:lnTo>
                  <a:pt x="3493612" y="3493612"/>
                </a:lnTo>
                <a:lnTo>
                  <a:pt x="0" y="34936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3" name="Freeform 8">
            <a:extLst>
              <a:ext uri="{FF2B5EF4-FFF2-40B4-BE49-F238E27FC236}">
                <a16:creationId xmlns:a16="http://schemas.microsoft.com/office/drawing/2014/main" id="{A967B4C0-42E0-BEBE-D87B-1EF35EFAE528}"/>
              </a:ext>
            </a:extLst>
          </p:cNvPr>
          <p:cNvSpPr/>
          <p:nvPr/>
        </p:nvSpPr>
        <p:spPr>
          <a:xfrm rot="10800000">
            <a:off x="15172736" y="0"/>
            <a:ext cx="2177829" cy="2843880"/>
          </a:xfrm>
          <a:custGeom>
            <a:avLst/>
            <a:gdLst/>
            <a:ahLst/>
            <a:cxnLst/>
            <a:rect l="l" t="t" r="r" b="b"/>
            <a:pathLst>
              <a:path w="2611028" h="4114800">
                <a:moveTo>
                  <a:pt x="0" y="0"/>
                </a:moveTo>
                <a:lnTo>
                  <a:pt x="2611028" y="0"/>
                </a:lnTo>
                <a:lnTo>
                  <a:pt x="26110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AA800C22-F6B2-7D08-1307-D0BB34EAA590}"/>
              </a:ext>
            </a:extLst>
          </p:cNvPr>
          <p:cNvSpPr txBox="1"/>
          <p:nvPr/>
        </p:nvSpPr>
        <p:spPr>
          <a:xfrm>
            <a:off x="1180698" y="2625524"/>
            <a:ext cx="12687702" cy="4078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GB" altLang="zh-CN" sz="3600" b="1" dirty="0">
                <a:latin typeface="Garet Bold" panose="02010600030101010101" charset="0"/>
              </a:rPr>
              <a:t>T</a:t>
            </a:r>
            <a:r>
              <a:rPr lang="en-GB" altLang="zh-CN" sz="3600" b="1" i="0" dirty="0">
                <a:effectLst/>
                <a:latin typeface="Garet Bold" panose="02010600030101010101" charset="0"/>
              </a:rPr>
              <a:t>heoretic sorting time complexity</a:t>
            </a:r>
            <a:r>
              <a:rPr lang="en-US" sz="3600" b="1" dirty="0">
                <a:latin typeface="Garet Bold" panose="02010600030101010101" charset="0"/>
                <a:ea typeface="Garet Bold"/>
                <a:cs typeface="Garet Bold"/>
                <a:sym typeface="Garet Bold"/>
              </a:rPr>
              <a:t> </a:t>
            </a:r>
          </a:p>
        </p:txBody>
      </p:sp>
      <p:sp>
        <p:nvSpPr>
          <p:cNvPr id="5" name="TextBox 8">
            <a:extLst>
              <a:ext uri="{FF2B5EF4-FFF2-40B4-BE49-F238E27FC236}">
                <a16:creationId xmlns:a16="http://schemas.microsoft.com/office/drawing/2014/main" id="{41CBF054-57B8-E0E8-0FD7-3703B38377F1}"/>
              </a:ext>
            </a:extLst>
          </p:cNvPr>
          <p:cNvSpPr txBox="1"/>
          <p:nvPr/>
        </p:nvSpPr>
        <p:spPr>
          <a:xfrm>
            <a:off x="1217274" y="3848100"/>
            <a:ext cx="5562600" cy="43088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altLang="zh-CN" sz="2800" b="1" i="0" dirty="0">
                <a:solidFill>
                  <a:srgbClr val="202124"/>
                </a:solidFill>
                <a:effectLst/>
                <a:latin typeface="Garet" panose="02010600030101010101" charset="0"/>
              </a:rPr>
              <a:t>Insertion Sort 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altLang="zh-CN" sz="2800" b="1" i="0" dirty="0">
                <a:solidFill>
                  <a:srgbClr val="202124"/>
                </a:solidFill>
                <a:effectLst/>
                <a:latin typeface="Garet" panose="02010600030101010101" charset="0"/>
              </a:rPr>
              <a:t>Sorted Data</a:t>
            </a:r>
            <a:r>
              <a:rPr lang="en-US" altLang="zh-CN" sz="2800" i="0" dirty="0">
                <a:solidFill>
                  <a:srgbClr val="202124"/>
                </a:solidFill>
                <a:effectLst/>
                <a:latin typeface="Garet" panose="02010600030101010101" charset="0"/>
              </a:rPr>
              <a:t>: Works very well, especially when based on String[] and </a:t>
            </a:r>
            <a:r>
              <a:rPr lang="en-US" altLang="zh-CN" sz="2800" i="0" dirty="0" err="1">
                <a:solidFill>
                  <a:srgbClr val="202124"/>
                </a:solidFill>
                <a:effectLst/>
                <a:latin typeface="Garet" panose="02010600030101010101" charset="0"/>
              </a:rPr>
              <a:t>ArrayList</a:t>
            </a:r>
            <a:r>
              <a:rPr lang="en-US" altLang="zh-CN" sz="2800" i="0" dirty="0">
                <a:solidFill>
                  <a:srgbClr val="202124"/>
                </a:solidFill>
                <a:effectLst/>
                <a:latin typeface="Garet" panose="02010600030101010101" charset="0"/>
              </a:rPr>
              <a:t>. Time complexity close to </a:t>
            </a:r>
            <a:r>
              <a:rPr lang="en-US" altLang="zh-CN" sz="2800" b="1" i="0" dirty="0">
                <a:solidFill>
                  <a:srgbClr val="202124"/>
                </a:solidFill>
                <a:effectLst/>
                <a:latin typeface="Garet" panose="02010600030101010101" charset="0"/>
              </a:rPr>
              <a:t>O(n).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altLang="zh-CN" sz="2800" b="1" dirty="0">
                <a:solidFill>
                  <a:srgbClr val="202124"/>
                </a:solidFill>
                <a:latin typeface="Garet" panose="02010600030101010101" charset="0"/>
              </a:rPr>
              <a:t>Random Data: </a:t>
            </a:r>
            <a:r>
              <a:rPr lang="en-US" altLang="zh-CN" sz="2800" dirty="0">
                <a:solidFill>
                  <a:srgbClr val="202124"/>
                </a:solidFill>
                <a:latin typeface="Garet" panose="02010600030101010101" charset="0"/>
              </a:rPr>
              <a:t>Performance will degrade, and its time complexity becomes </a:t>
            </a:r>
            <a:r>
              <a:rPr lang="en-US" altLang="zh-CN" sz="2800" b="1" dirty="0">
                <a:solidFill>
                  <a:srgbClr val="202124"/>
                </a:solidFill>
                <a:latin typeface="Garet" panose="02010600030101010101" charset="0"/>
              </a:rPr>
              <a:t>O(n^2).</a:t>
            </a:r>
            <a:endParaRPr lang="en-US" altLang="zh-CN" sz="2800" b="1" i="0" dirty="0">
              <a:solidFill>
                <a:srgbClr val="202124"/>
              </a:solidFill>
              <a:effectLst/>
              <a:latin typeface="Garet" panose="02010600030101010101" charset="0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330232CA-1A0A-F534-7848-D1C77305D78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9027" y="3390900"/>
            <a:ext cx="5619750" cy="4495800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D2DF8281-3627-BF2A-840B-E0AD87B0F45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71083" y="3390900"/>
            <a:ext cx="5619750" cy="4495800"/>
          </a:xfrm>
          <a:prstGeom prst="rect">
            <a:avLst/>
          </a:prstGeom>
        </p:spPr>
      </p:pic>
      <p:sp>
        <p:nvSpPr>
          <p:cNvPr id="16" name="Freeform 3">
            <a:extLst>
              <a:ext uri="{FF2B5EF4-FFF2-40B4-BE49-F238E27FC236}">
                <a16:creationId xmlns:a16="http://schemas.microsoft.com/office/drawing/2014/main" id="{393B4749-A936-C07F-7D71-D532A38F1452}"/>
              </a:ext>
            </a:extLst>
          </p:cNvPr>
          <p:cNvSpPr/>
          <p:nvPr/>
        </p:nvSpPr>
        <p:spPr>
          <a:xfrm>
            <a:off x="15172736" y="8520912"/>
            <a:ext cx="2570276" cy="1270788"/>
          </a:xfrm>
          <a:custGeom>
            <a:avLst/>
            <a:gdLst/>
            <a:ahLst/>
            <a:cxnLst/>
            <a:rect l="l" t="t" r="r" b="b"/>
            <a:pathLst>
              <a:path w="3493612" h="1759510">
                <a:moveTo>
                  <a:pt x="0" y="0"/>
                </a:moveTo>
                <a:lnTo>
                  <a:pt x="3493612" y="0"/>
                </a:lnTo>
                <a:lnTo>
                  <a:pt x="3493612" y="1759510"/>
                </a:lnTo>
                <a:lnTo>
                  <a:pt x="0" y="175951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6977C85-C8FD-DA1C-721D-0E3CF2E88575}"/>
              </a:ext>
            </a:extLst>
          </p:cNvPr>
          <p:cNvSpPr txBox="1"/>
          <p:nvPr/>
        </p:nvSpPr>
        <p:spPr>
          <a:xfrm>
            <a:off x="8423154" y="8076248"/>
            <a:ext cx="30483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1000-insertion-sort-summary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B4E6D29-89C3-DC0F-3D62-2FE49F32B8C1}"/>
              </a:ext>
            </a:extLst>
          </p:cNvPr>
          <p:cNvSpPr txBox="1"/>
          <p:nvPr/>
        </p:nvSpPr>
        <p:spPr>
          <a:xfrm>
            <a:off x="14097000" y="8080130"/>
            <a:ext cx="3124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10000-insertion-sort-summary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825506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6FFD5E-3AA7-1C05-A293-B887C2CBB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600C18B-EE08-5ACC-C140-5C6EEC084353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943176CC-2558-F41B-13BF-E43D876679C5}"/>
              </a:ext>
            </a:extLst>
          </p:cNvPr>
          <p:cNvSpPr txBox="1"/>
          <p:nvPr/>
        </p:nvSpPr>
        <p:spPr>
          <a:xfrm>
            <a:off x="1981200" y="468144"/>
            <a:ext cx="11125200" cy="14875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5808"/>
              </a:lnSpc>
              <a:spcBef>
                <a:spcPct val="0"/>
              </a:spcBef>
            </a:pPr>
            <a:r>
              <a:rPr lang="en-US" sz="5000" spc="-150" dirty="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Task C – City Name Sorting Algorithm Test</a:t>
            </a:r>
          </a:p>
        </p:txBody>
      </p:sp>
      <p:sp>
        <p:nvSpPr>
          <p:cNvPr id="36" name="Freeform 5">
            <a:extLst>
              <a:ext uri="{FF2B5EF4-FFF2-40B4-BE49-F238E27FC236}">
                <a16:creationId xmlns:a16="http://schemas.microsoft.com/office/drawing/2014/main" id="{937FB3A0-6A29-6E52-7A34-A0A3ECE0A1D2}"/>
              </a:ext>
            </a:extLst>
          </p:cNvPr>
          <p:cNvSpPr/>
          <p:nvPr/>
        </p:nvSpPr>
        <p:spPr>
          <a:xfrm>
            <a:off x="228600" y="495300"/>
            <a:ext cx="1524000" cy="1457826"/>
          </a:xfrm>
          <a:custGeom>
            <a:avLst/>
            <a:gdLst/>
            <a:ahLst/>
            <a:cxnLst/>
            <a:rect l="l" t="t" r="r" b="b"/>
            <a:pathLst>
              <a:path w="3493612" h="3493612">
                <a:moveTo>
                  <a:pt x="0" y="0"/>
                </a:moveTo>
                <a:lnTo>
                  <a:pt x="3493612" y="0"/>
                </a:lnTo>
                <a:lnTo>
                  <a:pt x="3493612" y="3493612"/>
                </a:lnTo>
                <a:lnTo>
                  <a:pt x="0" y="34936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3" name="Freeform 8">
            <a:extLst>
              <a:ext uri="{FF2B5EF4-FFF2-40B4-BE49-F238E27FC236}">
                <a16:creationId xmlns:a16="http://schemas.microsoft.com/office/drawing/2014/main" id="{B03E84FF-E46C-E423-9C43-BBEEB29AE1FB}"/>
              </a:ext>
            </a:extLst>
          </p:cNvPr>
          <p:cNvSpPr/>
          <p:nvPr/>
        </p:nvSpPr>
        <p:spPr>
          <a:xfrm rot="10800000">
            <a:off x="15172736" y="0"/>
            <a:ext cx="2177829" cy="2843880"/>
          </a:xfrm>
          <a:custGeom>
            <a:avLst/>
            <a:gdLst/>
            <a:ahLst/>
            <a:cxnLst/>
            <a:rect l="l" t="t" r="r" b="b"/>
            <a:pathLst>
              <a:path w="2611028" h="4114800">
                <a:moveTo>
                  <a:pt x="0" y="0"/>
                </a:moveTo>
                <a:lnTo>
                  <a:pt x="2611028" y="0"/>
                </a:lnTo>
                <a:lnTo>
                  <a:pt x="26110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2947CAA8-9AD3-D21B-1EF3-7AD16EE23FD9}"/>
              </a:ext>
            </a:extLst>
          </p:cNvPr>
          <p:cNvSpPr txBox="1"/>
          <p:nvPr/>
        </p:nvSpPr>
        <p:spPr>
          <a:xfrm>
            <a:off x="1180698" y="2625524"/>
            <a:ext cx="12687702" cy="4078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GB" altLang="zh-CN" sz="3600" b="1" dirty="0">
                <a:latin typeface="Garet Bold" panose="02010600030101010101" charset="0"/>
              </a:rPr>
              <a:t>T</a:t>
            </a:r>
            <a:r>
              <a:rPr lang="en-GB" altLang="zh-CN" sz="3600" b="1" i="0" dirty="0">
                <a:effectLst/>
                <a:latin typeface="Garet Bold" panose="02010600030101010101" charset="0"/>
              </a:rPr>
              <a:t>heoretic sorting time complexity</a:t>
            </a:r>
            <a:r>
              <a:rPr lang="en-US" sz="3600" b="1" dirty="0">
                <a:latin typeface="Garet Bold" panose="02010600030101010101" charset="0"/>
                <a:ea typeface="Garet Bold"/>
                <a:cs typeface="Garet Bold"/>
                <a:sym typeface="Garet Bold"/>
              </a:rPr>
              <a:t> </a:t>
            </a:r>
          </a:p>
        </p:txBody>
      </p:sp>
      <p:sp>
        <p:nvSpPr>
          <p:cNvPr id="6" name="TextBox 8">
            <a:extLst>
              <a:ext uri="{FF2B5EF4-FFF2-40B4-BE49-F238E27FC236}">
                <a16:creationId xmlns:a16="http://schemas.microsoft.com/office/drawing/2014/main" id="{02FC149A-560B-FB70-DC78-4D71535B768E}"/>
              </a:ext>
            </a:extLst>
          </p:cNvPr>
          <p:cNvSpPr txBox="1"/>
          <p:nvPr/>
        </p:nvSpPr>
        <p:spPr>
          <a:xfrm>
            <a:off x="1180698" y="3534740"/>
            <a:ext cx="5562600" cy="51706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altLang="zh-CN" sz="2400" b="1" dirty="0">
                <a:solidFill>
                  <a:srgbClr val="202124"/>
                </a:solidFill>
                <a:latin typeface="Garet" panose="02010600030101010101" charset="0"/>
              </a:rPr>
              <a:t>Quick</a:t>
            </a:r>
            <a:r>
              <a:rPr lang="en-US" altLang="zh-CN" sz="2400" b="1" i="0" dirty="0">
                <a:solidFill>
                  <a:srgbClr val="202124"/>
                </a:solidFill>
                <a:effectLst/>
                <a:latin typeface="Garet" panose="02010600030101010101" charset="0"/>
              </a:rPr>
              <a:t> Sort 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altLang="zh-CN" sz="2400" b="1" i="0" dirty="0">
                <a:solidFill>
                  <a:srgbClr val="202124"/>
                </a:solidFill>
                <a:effectLst/>
                <a:latin typeface="Garet" panose="02010600030101010101" charset="0"/>
              </a:rPr>
              <a:t>Sorted Data (MEDIUM_OF_THREE &amp; RANDOM )</a:t>
            </a:r>
            <a:r>
              <a:rPr lang="en-US" altLang="zh-CN" sz="2400" i="0" dirty="0">
                <a:solidFill>
                  <a:srgbClr val="202124"/>
                </a:solidFill>
                <a:effectLst/>
                <a:latin typeface="Garet" panose="02010600030101010101" charset="0"/>
              </a:rPr>
              <a:t>: </a:t>
            </a:r>
            <a:r>
              <a:rPr lang="en-US" altLang="zh-CN" sz="2400" b="0" i="0" dirty="0">
                <a:solidFill>
                  <a:srgbClr val="202124"/>
                </a:solidFill>
                <a:effectLst/>
                <a:latin typeface="Garet" panose="02010600030101010101" charset="0"/>
              </a:rPr>
              <a:t>effective in mitigating the worst-case behavior on sorted dataset</a:t>
            </a:r>
            <a:r>
              <a:rPr lang="en-US" altLang="zh-CN" sz="2400" i="0" dirty="0">
                <a:solidFill>
                  <a:srgbClr val="202124"/>
                </a:solidFill>
                <a:effectLst/>
                <a:latin typeface="Garet" panose="02010600030101010101" charset="0"/>
              </a:rPr>
              <a:t>. Time complexity close to </a:t>
            </a:r>
            <a:r>
              <a:rPr lang="en-US" altLang="zh-CN" sz="2400" b="1" i="0" dirty="0">
                <a:solidFill>
                  <a:srgbClr val="202124"/>
                </a:solidFill>
                <a:effectLst/>
                <a:latin typeface="Garet" panose="02010600030101010101" charset="0"/>
              </a:rPr>
              <a:t>O(n </a:t>
            </a:r>
            <a:r>
              <a:rPr lang="en-US" altLang="zh-CN" sz="2400" b="1" i="0" dirty="0" err="1">
                <a:solidFill>
                  <a:srgbClr val="202124"/>
                </a:solidFill>
                <a:effectLst/>
                <a:latin typeface="Garet" panose="02010600030101010101" charset="0"/>
              </a:rPr>
              <a:t>logn</a:t>
            </a:r>
            <a:r>
              <a:rPr lang="en-US" altLang="zh-CN" sz="2400" b="1" i="0" dirty="0">
                <a:solidFill>
                  <a:srgbClr val="202124"/>
                </a:solidFill>
                <a:effectLst/>
                <a:latin typeface="Garet" panose="02010600030101010101" charset="0"/>
              </a:rPr>
              <a:t>).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rgbClr val="202124"/>
                </a:solidFill>
                <a:latin typeface="Garet" panose="02010600030101010101" charset="0"/>
              </a:rPr>
              <a:t>Sorted Data (LAST_ELEMENT): </a:t>
            </a:r>
            <a:r>
              <a:rPr lang="en-US" altLang="zh-CN" sz="2400" dirty="0">
                <a:solidFill>
                  <a:srgbClr val="202124"/>
                </a:solidFill>
                <a:latin typeface="Garet" panose="02010600030101010101" charset="0"/>
              </a:rPr>
              <a:t>Very poor performance, leads to very </a:t>
            </a:r>
            <a:r>
              <a:rPr lang="en-US" altLang="zh-CN" sz="2400" dirty="0" err="1">
                <a:solidFill>
                  <a:srgbClr val="202124"/>
                </a:solidFill>
                <a:latin typeface="Garet" panose="02010600030101010101" charset="0"/>
              </a:rPr>
              <a:t>inbalance</a:t>
            </a:r>
            <a:r>
              <a:rPr lang="en-US" altLang="zh-CN" sz="2400" dirty="0">
                <a:solidFill>
                  <a:srgbClr val="202124"/>
                </a:solidFill>
                <a:latin typeface="Garet" panose="02010600030101010101" charset="0"/>
              </a:rPr>
              <a:t> partitions.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altLang="zh-CN" sz="2400" b="1" i="0" dirty="0">
                <a:solidFill>
                  <a:srgbClr val="202124"/>
                </a:solidFill>
                <a:effectLst/>
                <a:latin typeface="Garet" panose="02010600030101010101" charset="0"/>
              </a:rPr>
              <a:t>Random Data(All Three Pivot Strategies): </a:t>
            </a:r>
            <a:r>
              <a:rPr lang="en-US" altLang="zh-CN" sz="2400" i="0" dirty="0">
                <a:solidFill>
                  <a:srgbClr val="202124"/>
                </a:solidFill>
                <a:effectLst/>
                <a:latin typeface="Garet" panose="02010600030101010101" charset="0"/>
              </a:rPr>
              <a:t>The performance is around </a:t>
            </a:r>
            <a:r>
              <a:rPr lang="en-US" altLang="zh-CN" sz="2400" b="1" i="0" dirty="0">
                <a:solidFill>
                  <a:srgbClr val="202124"/>
                </a:solidFill>
                <a:effectLst/>
                <a:latin typeface="Garet" panose="02010600030101010101" charset="0"/>
              </a:rPr>
              <a:t>O</a:t>
            </a:r>
            <a:r>
              <a:rPr lang="en-US" altLang="zh-CN" sz="2400" b="1" dirty="0">
                <a:solidFill>
                  <a:srgbClr val="202124"/>
                </a:solidFill>
                <a:latin typeface="Garet" panose="02010600030101010101" charset="0"/>
              </a:rPr>
              <a:t>(</a:t>
            </a:r>
            <a:r>
              <a:rPr lang="en-US" altLang="zh-CN" sz="2400" b="1" i="0" dirty="0">
                <a:solidFill>
                  <a:srgbClr val="202124"/>
                </a:solidFill>
                <a:effectLst/>
                <a:latin typeface="Garet" panose="02010600030101010101" charset="0"/>
              </a:rPr>
              <a:t>n </a:t>
            </a:r>
            <a:r>
              <a:rPr lang="en-US" altLang="zh-CN" sz="2400" b="1" i="0" dirty="0" err="1">
                <a:solidFill>
                  <a:srgbClr val="202124"/>
                </a:solidFill>
                <a:effectLst/>
                <a:latin typeface="Garet" panose="02010600030101010101" charset="0"/>
              </a:rPr>
              <a:t>logn</a:t>
            </a:r>
            <a:r>
              <a:rPr lang="en-US" altLang="zh-CN" sz="2400" b="1" i="0" dirty="0">
                <a:solidFill>
                  <a:srgbClr val="202124"/>
                </a:solidFill>
                <a:effectLst/>
                <a:latin typeface="Garet" panose="02010600030101010101" charset="0"/>
              </a:rPr>
              <a:t>).</a:t>
            </a:r>
          </a:p>
        </p:txBody>
      </p:sp>
      <p:sp>
        <p:nvSpPr>
          <p:cNvPr id="9" name="Freeform 3">
            <a:extLst>
              <a:ext uri="{FF2B5EF4-FFF2-40B4-BE49-F238E27FC236}">
                <a16:creationId xmlns:a16="http://schemas.microsoft.com/office/drawing/2014/main" id="{301CC96B-64CE-C8BC-7E75-48E186F90E0D}"/>
              </a:ext>
            </a:extLst>
          </p:cNvPr>
          <p:cNvSpPr/>
          <p:nvPr/>
        </p:nvSpPr>
        <p:spPr>
          <a:xfrm>
            <a:off x="15172736" y="8520912"/>
            <a:ext cx="2570276" cy="1270788"/>
          </a:xfrm>
          <a:custGeom>
            <a:avLst/>
            <a:gdLst/>
            <a:ahLst/>
            <a:cxnLst/>
            <a:rect l="l" t="t" r="r" b="b"/>
            <a:pathLst>
              <a:path w="3493612" h="1759510">
                <a:moveTo>
                  <a:pt x="0" y="0"/>
                </a:moveTo>
                <a:lnTo>
                  <a:pt x="3493612" y="0"/>
                </a:lnTo>
                <a:lnTo>
                  <a:pt x="3493612" y="1759510"/>
                </a:lnTo>
                <a:lnTo>
                  <a:pt x="0" y="175951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CN" altLang="en-US" dirty="0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2D5509EE-37EF-51DA-F812-E71AC1FE537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1800" y="3332687"/>
            <a:ext cx="5625000" cy="4500000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D39E1F9C-1F0D-7F5C-2D99-3BA5EBC3A4B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83781" y="3330272"/>
            <a:ext cx="5628019" cy="4502415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72D7C2AC-83E4-C20D-6AD0-225FA37B47DA}"/>
              </a:ext>
            </a:extLst>
          </p:cNvPr>
          <p:cNvSpPr txBox="1"/>
          <p:nvPr/>
        </p:nvSpPr>
        <p:spPr>
          <a:xfrm>
            <a:off x="8423154" y="8076248"/>
            <a:ext cx="30483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1000-quick-sort-summary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86013B3-7A5F-C58E-A481-94A3CAEA1EAA}"/>
              </a:ext>
            </a:extLst>
          </p:cNvPr>
          <p:cNvSpPr txBox="1"/>
          <p:nvPr/>
        </p:nvSpPr>
        <p:spPr>
          <a:xfrm>
            <a:off x="14343719" y="8076248"/>
            <a:ext cx="30483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10000-quick-sort-summary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173681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08DCB0-DE7B-4B79-D301-7EB14C982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0FDB157-208C-A0A0-8CAC-D7A676B23EAC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3CE718AF-EAA1-2905-D7B9-CCF5EDB17DE8}"/>
              </a:ext>
            </a:extLst>
          </p:cNvPr>
          <p:cNvSpPr txBox="1"/>
          <p:nvPr/>
        </p:nvSpPr>
        <p:spPr>
          <a:xfrm>
            <a:off x="1981200" y="468144"/>
            <a:ext cx="11125200" cy="14875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5808"/>
              </a:lnSpc>
              <a:spcBef>
                <a:spcPct val="0"/>
              </a:spcBef>
            </a:pPr>
            <a:r>
              <a:rPr lang="en-US" sz="5000" spc="-150" dirty="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Task C – City Name Sorting Algorithm Test</a:t>
            </a:r>
          </a:p>
        </p:txBody>
      </p:sp>
      <p:sp>
        <p:nvSpPr>
          <p:cNvPr id="36" name="Freeform 5">
            <a:extLst>
              <a:ext uri="{FF2B5EF4-FFF2-40B4-BE49-F238E27FC236}">
                <a16:creationId xmlns:a16="http://schemas.microsoft.com/office/drawing/2014/main" id="{9F86EF6C-E06C-B0E9-A510-731877B22C17}"/>
              </a:ext>
            </a:extLst>
          </p:cNvPr>
          <p:cNvSpPr/>
          <p:nvPr/>
        </p:nvSpPr>
        <p:spPr>
          <a:xfrm>
            <a:off x="228600" y="495300"/>
            <a:ext cx="1524000" cy="1457826"/>
          </a:xfrm>
          <a:custGeom>
            <a:avLst/>
            <a:gdLst/>
            <a:ahLst/>
            <a:cxnLst/>
            <a:rect l="l" t="t" r="r" b="b"/>
            <a:pathLst>
              <a:path w="3493612" h="3493612">
                <a:moveTo>
                  <a:pt x="0" y="0"/>
                </a:moveTo>
                <a:lnTo>
                  <a:pt x="3493612" y="0"/>
                </a:lnTo>
                <a:lnTo>
                  <a:pt x="3493612" y="3493612"/>
                </a:lnTo>
                <a:lnTo>
                  <a:pt x="0" y="34936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3" name="Freeform 8">
            <a:extLst>
              <a:ext uri="{FF2B5EF4-FFF2-40B4-BE49-F238E27FC236}">
                <a16:creationId xmlns:a16="http://schemas.microsoft.com/office/drawing/2014/main" id="{C3DE02D5-C07A-4232-E030-2702B4437C1D}"/>
              </a:ext>
            </a:extLst>
          </p:cNvPr>
          <p:cNvSpPr/>
          <p:nvPr/>
        </p:nvSpPr>
        <p:spPr>
          <a:xfrm rot="10800000">
            <a:off x="15172736" y="0"/>
            <a:ext cx="2177829" cy="2843880"/>
          </a:xfrm>
          <a:custGeom>
            <a:avLst/>
            <a:gdLst/>
            <a:ahLst/>
            <a:cxnLst/>
            <a:rect l="l" t="t" r="r" b="b"/>
            <a:pathLst>
              <a:path w="2611028" h="4114800">
                <a:moveTo>
                  <a:pt x="0" y="0"/>
                </a:moveTo>
                <a:lnTo>
                  <a:pt x="2611028" y="0"/>
                </a:lnTo>
                <a:lnTo>
                  <a:pt x="26110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481B3735-FB7C-7999-7814-11F9D22E2900}"/>
              </a:ext>
            </a:extLst>
          </p:cNvPr>
          <p:cNvSpPr txBox="1"/>
          <p:nvPr/>
        </p:nvSpPr>
        <p:spPr>
          <a:xfrm>
            <a:off x="1180698" y="2625524"/>
            <a:ext cx="12687702" cy="4078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GB" altLang="zh-CN" sz="3600" b="1" dirty="0">
                <a:latin typeface="Garet Bold" panose="02010600030101010101" charset="0"/>
              </a:rPr>
              <a:t>T</a:t>
            </a:r>
            <a:r>
              <a:rPr lang="en-GB" altLang="zh-CN" sz="3600" b="1" i="0" dirty="0">
                <a:effectLst/>
                <a:latin typeface="Garet Bold" panose="02010600030101010101" charset="0"/>
              </a:rPr>
              <a:t>heoretic sorting time complexity</a:t>
            </a:r>
            <a:r>
              <a:rPr lang="en-US" sz="3600" b="1" dirty="0">
                <a:latin typeface="Garet Bold" panose="02010600030101010101" charset="0"/>
                <a:ea typeface="Garet Bold"/>
                <a:cs typeface="Garet Bold"/>
                <a:sym typeface="Garet Bold"/>
              </a:rPr>
              <a:t> </a:t>
            </a:r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96A71294-D1EC-9DF9-8F5A-491720E559A6}"/>
              </a:ext>
            </a:extLst>
          </p:cNvPr>
          <p:cNvSpPr/>
          <p:nvPr/>
        </p:nvSpPr>
        <p:spPr>
          <a:xfrm>
            <a:off x="15172736" y="8520912"/>
            <a:ext cx="2570276" cy="1270788"/>
          </a:xfrm>
          <a:custGeom>
            <a:avLst/>
            <a:gdLst/>
            <a:ahLst/>
            <a:cxnLst/>
            <a:rect l="l" t="t" r="r" b="b"/>
            <a:pathLst>
              <a:path w="3493612" h="1759510">
                <a:moveTo>
                  <a:pt x="0" y="0"/>
                </a:moveTo>
                <a:lnTo>
                  <a:pt x="3493612" y="0"/>
                </a:lnTo>
                <a:lnTo>
                  <a:pt x="3493612" y="1759510"/>
                </a:lnTo>
                <a:lnTo>
                  <a:pt x="0" y="175951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TextBox 8">
            <a:extLst>
              <a:ext uri="{FF2B5EF4-FFF2-40B4-BE49-F238E27FC236}">
                <a16:creationId xmlns:a16="http://schemas.microsoft.com/office/drawing/2014/main" id="{AED3A02C-8002-B670-023A-8357BD7C21C9}"/>
              </a:ext>
            </a:extLst>
          </p:cNvPr>
          <p:cNvSpPr txBox="1"/>
          <p:nvPr/>
        </p:nvSpPr>
        <p:spPr>
          <a:xfrm>
            <a:off x="1180698" y="3850838"/>
            <a:ext cx="4991502" cy="34470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altLang="zh-CN" sz="2800" b="1" i="0" dirty="0">
                <a:solidFill>
                  <a:srgbClr val="202124"/>
                </a:solidFill>
                <a:effectLst/>
                <a:latin typeface="Garet" panose="02010600030101010101" charset="0"/>
              </a:rPr>
              <a:t>Merge Sort 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altLang="zh-CN" sz="2800" i="0" dirty="0">
                <a:solidFill>
                  <a:srgbClr val="202124"/>
                </a:solidFill>
                <a:effectLst/>
                <a:latin typeface="Garet" panose="02010600030101010101" charset="0"/>
              </a:rPr>
              <a:t>This algorithm consistently exhibits </a:t>
            </a:r>
            <a:r>
              <a:rPr lang="en-US" altLang="zh-CN" sz="2800" b="1" i="0" dirty="0">
                <a:solidFill>
                  <a:srgbClr val="202124"/>
                </a:solidFill>
                <a:effectLst/>
                <a:latin typeface="Garet" panose="02010600030101010101" charset="0"/>
              </a:rPr>
              <a:t>O(n log n) </a:t>
            </a:r>
            <a:r>
              <a:rPr lang="en-US" altLang="zh-CN" sz="2800" i="0" dirty="0">
                <a:solidFill>
                  <a:srgbClr val="202124"/>
                </a:solidFill>
                <a:effectLst/>
                <a:latin typeface="Garet" panose="02010600030101010101" charset="0"/>
              </a:rPr>
              <a:t>performance across all datasets, containers, and initial data sequences, highlighting its stability.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103AC4BC-2BEC-4610-91AC-15D7AE5C170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0486" y="3310500"/>
            <a:ext cx="5625000" cy="450000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39896765-4D96-73D9-2AD5-2DF75E79751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04243" y="3310500"/>
            <a:ext cx="5625000" cy="450000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3EF1F72B-7F9A-A782-7D74-41392A0E17F6}"/>
              </a:ext>
            </a:extLst>
          </p:cNvPr>
          <p:cNvSpPr txBox="1"/>
          <p:nvPr/>
        </p:nvSpPr>
        <p:spPr>
          <a:xfrm>
            <a:off x="8423154" y="8076248"/>
            <a:ext cx="30483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1000-merge-sort-summary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432F73E-9267-7DB6-7F81-3D32F2251544}"/>
              </a:ext>
            </a:extLst>
          </p:cNvPr>
          <p:cNvSpPr txBox="1"/>
          <p:nvPr/>
        </p:nvSpPr>
        <p:spPr>
          <a:xfrm>
            <a:off x="13898880" y="8076248"/>
            <a:ext cx="30483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10000-merge-sort-summary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09014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0349F9-4422-FDE9-0D5F-F074F9169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E10140D-AF0E-32BD-3571-FE05A0EAE8B4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45504FFD-ED1A-6E50-58C0-BF21270462F5}"/>
              </a:ext>
            </a:extLst>
          </p:cNvPr>
          <p:cNvSpPr txBox="1"/>
          <p:nvPr/>
        </p:nvSpPr>
        <p:spPr>
          <a:xfrm>
            <a:off x="1981200" y="468144"/>
            <a:ext cx="11125200" cy="14875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5808"/>
              </a:lnSpc>
              <a:spcBef>
                <a:spcPct val="0"/>
              </a:spcBef>
            </a:pPr>
            <a:r>
              <a:rPr lang="en-US" sz="5000" spc="-150" dirty="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Task C – City Name Sorting Algorithm Test</a:t>
            </a:r>
          </a:p>
        </p:txBody>
      </p:sp>
      <p:sp>
        <p:nvSpPr>
          <p:cNvPr id="36" name="Freeform 5">
            <a:extLst>
              <a:ext uri="{FF2B5EF4-FFF2-40B4-BE49-F238E27FC236}">
                <a16:creationId xmlns:a16="http://schemas.microsoft.com/office/drawing/2014/main" id="{30B2FD51-E88E-46DF-9AE7-B595DC26CD23}"/>
              </a:ext>
            </a:extLst>
          </p:cNvPr>
          <p:cNvSpPr/>
          <p:nvPr/>
        </p:nvSpPr>
        <p:spPr>
          <a:xfrm>
            <a:off x="228600" y="495300"/>
            <a:ext cx="1524000" cy="1457826"/>
          </a:xfrm>
          <a:custGeom>
            <a:avLst/>
            <a:gdLst/>
            <a:ahLst/>
            <a:cxnLst/>
            <a:rect l="l" t="t" r="r" b="b"/>
            <a:pathLst>
              <a:path w="3493612" h="3493612">
                <a:moveTo>
                  <a:pt x="0" y="0"/>
                </a:moveTo>
                <a:lnTo>
                  <a:pt x="3493612" y="0"/>
                </a:lnTo>
                <a:lnTo>
                  <a:pt x="3493612" y="3493612"/>
                </a:lnTo>
                <a:lnTo>
                  <a:pt x="0" y="34936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3" name="Freeform 8">
            <a:extLst>
              <a:ext uri="{FF2B5EF4-FFF2-40B4-BE49-F238E27FC236}">
                <a16:creationId xmlns:a16="http://schemas.microsoft.com/office/drawing/2014/main" id="{0DA52266-2E41-85F1-3EC6-C32BE002A22C}"/>
              </a:ext>
            </a:extLst>
          </p:cNvPr>
          <p:cNvSpPr/>
          <p:nvPr/>
        </p:nvSpPr>
        <p:spPr>
          <a:xfrm rot="10800000">
            <a:off x="15172736" y="0"/>
            <a:ext cx="2177829" cy="2843880"/>
          </a:xfrm>
          <a:custGeom>
            <a:avLst/>
            <a:gdLst/>
            <a:ahLst/>
            <a:cxnLst/>
            <a:rect l="l" t="t" r="r" b="b"/>
            <a:pathLst>
              <a:path w="2611028" h="4114800">
                <a:moveTo>
                  <a:pt x="0" y="0"/>
                </a:moveTo>
                <a:lnTo>
                  <a:pt x="2611028" y="0"/>
                </a:lnTo>
                <a:lnTo>
                  <a:pt x="26110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E60145E1-4738-6EB4-C841-C7BD68EE28E8}"/>
              </a:ext>
            </a:extLst>
          </p:cNvPr>
          <p:cNvSpPr txBox="1"/>
          <p:nvPr/>
        </p:nvSpPr>
        <p:spPr>
          <a:xfrm>
            <a:off x="1180698" y="2625524"/>
            <a:ext cx="12687702" cy="4078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altLang="zh-CN" sz="3600" b="1" dirty="0">
                <a:latin typeface="Garet Bold" panose="02010600030101010101" charset="0"/>
              </a:rPr>
              <a:t>Discovering - Impact of Data Containers</a:t>
            </a:r>
            <a:endParaRPr lang="en-US" sz="3600" b="1" dirty="0">
              <a:latin typeface="Garet Bold" panose="02010600030101010101" charset="0"/>
              <a:ea typeface="Garet Bold"/>
              <a:cs typeface="Garet Bold"/>
              <a:sym typeface="Garet Bold"/>
            </a:endParaRPr>
          </a:p>
        </p:txBody>
      </p:sp>
      <p:sp>
        <p:nvSpPr>
          <p:cNvPr id="5" name="TextBox 8">
            <a:extLst>
              <a:ext uri="{FF2B5EF4-FFF2-40B4-BE49-F238E27FC236}">
                <a16:creationId xmlns:a16="http://schemas.microsoft.com/office/drawing/2014/main" id="{10BE60CD-190B-06F4-4653-046D39661CD2}"/>
              </a:ext>
            </a:extLst>
          </p:cNvPr>
          <p:cNvSpPr txBox="1"/>
          <p:nvPr/>
        </p:nvSpPr>
        <p:spPr>
          <a:xfrm>
            <a:off x="697317" y="3312025"/>
            <a:ext cx="16893365" cy="1107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altLang="zh-CN" sz="2400" b="1" i="0" dirty="0">
                <a:effectLst/>
                <a:latin typeface="Garet" panose="02010600030101010101" charset="0"/>
              </a:rPr>
              <a:t>String[] </a:t>
            </a:r>
            <a:r>
              <a:rPr lang="en-US" altLang="zh-CN" sz="2400" i="0" dirty="0">
                <a:effectLst/>
                <a:latin typeface="Garet" panose="02010600030101010101" charset="0"/>
              </a:rPr>
              <a:t>has the best raw performance 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altLang="zh-CN" sz="2400" i="0" dirty="0">
                <a:solidFill>
                  <a:srgbClr val="202124"/>
                </a:solidFill>
                <a:effectLst/>
                <a:latin typeface="Garet" panose="02010600030101010101" charset="0"/>
              </a:rPr>
              <a:t>Direct memory access with minimal overhead and cache-friendly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rgbClr val="202124"/>
                </a:solidFill>
                <a:latin typeface="Garet" panose="02010600030101010101" charset="0"/>
              </a:rPr>
              <a:t>Suitable to those algorithms that rely on efficient random access (Insertion Sort, Quick Sort, Merge Sort).</a:t>
            </a:r>
            <a:endParaRPr lang="en-US" altLang="zh-CN" sz="2400" i="0" dirty="0">
              <a:solidFill>
                <a:srgbClr val="202124"/>
              </a:solidFill>
              <a:effectLst/>
              <a:latin typeface="Garet" panose="02010600030101010101" charset="0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C9E2D920-D2D3-0561-D50F-2BDBEB9C4D4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0" y="4561443"/>
            <a:ext cx="6435000" cy="5148000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B973D15C-6447-67AC-A4AD-101F18EEDA8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400" y="4581255"/>
            <a:ext cx="6435000" cy="514800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390B15E7-DB1E-CFC6-4CB5-B7892505C6A4}"/>
              </a:ext>
            </a:extLst>
          </p:cNvPr>
          <p:cNvSpPr txBox="1"/>
          <p:nvPr/>
        </p:nvSpPr>
        <p:spPr>
          <a:xfrm>
            <a:off x="4191000" y="9813555"/>
            <a:ext cx="30483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1000-cities-random-file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CEE1802-7FC1-1D89-8725-9CFAB9AC0EEF}"/>
              </a:ext>
            </a:extLst>
          </p:cNvPr>
          <p:cNvSpPr txBox="1"/>
          <p:nvPr/>
        </p:nvSpPr>
        <p:spPr>
          <a:xfrm>
            <a:off x="12877800" y="9807542"/>
            <a:ext cx="30483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1000-cities-sorted-file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2972225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02528-D908-CD49-8DF2-2EEE836DD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B34A5B4-1A69-6100-D33D-0CFE90D9F81E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BA12B48E-F814-E5C9-6DDD-76EDEA4AE8AE}"/>
              </a:ext>
            </a:extLst>
          </p:cNvPr>
          <p:cNvSpPr txBox="1"/>
          <p:nvPr/>
        </p:nvSpPr>
        <p:spPr>
          <a:xfrm>
            <a:off x="1981200" y="468144"/>
            <a:ext cx="11125200" cy="14875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5808"/>
              </a:lnSpc>
              <a:spcBef>
                <a:spcPct val="0"/>
              </a:spcBef>
            </a:pPr>
            <a:r>
              <a:rPr lang="en-US" sz="5000" spc="-150" dirty="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Task C – City Name Sorting Algorithm Test</a:t>
            </a:r>
          </a:p>
        </p:txBody>
      </p:sp>
      <p:sp>
        <p:nvSpPr>
          <p:cNvPr id="36" name="Freeform 5">
            <a:extLst>
              <a:ext uri="{FF2B5EF4-FFF2-40B4-BE49-F238E27FC236}">
                <a16:creationId xmlns:a16="http://schemas.microsoft.com/office/drawing/2014/main" id="{0C13CBB6-F7FB-418B-A180-2A636B3F8154}"/>
              </a:ext>
            </a:extLst>
          </p:cNvPr>
          <p:cNvSpPr/>
          <p:nvPr/>
        </p:nvSpPr>
        <p:spPr>
          <a:xfrm>
            <a:off x="228600" y="495300"/>
            <a:ext cx="1524000" cy="1457826"/>
          </a:xfrm>
          <a:custGeom>
            <a:avLst/>
            <a:gdLst/>
            <a:ahLst/>
            <a:cxnLst/>
            <a:rect l="l" t="t" r="r" b="b"/>
            <a:pathLst>
              <a:path w="3493612" h="3493612">
                <a:moveTo>
                  <a:pt x="0" y="0"/>
                </a:moveTo>
                <a:lnTo>
                  <a:pt x="3493612" y="0"/>
                </a:lnTo>
                <a:lnTo>
                  <a:pt x="3493612" y="3493612"/>
                </a:lnTo>
                <a:lnTo>
                  <a:pt x="0" y="34936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3" name="Freeform 8">
            <a:extLst>
              <a:ext uri="{FF2B5EF4-FFF2-40B4-BE49-F238E27FC236}">
                <a16:creationId xmlns:a16="http://schemas.microsoft.com/office/drawing/2014/main" id="{72893102-C6DE-8176-6DE4-3667F16AB4EF}"/>
              </a:ext>
            </a:extLst>
          </p:cNvPr>
          <p:cNvSpPr/>
          <p:nvPr/>
        </p:nvSpPr>
        <p:spPr>
          <a:xfrm rot="10800000">
            <a:off x="15172736" y="0"/>
            <a:ext cx="2177829" cy="2843880"/>
          </a:xfrm>
          <a:custGeom>
            <a:avLst/>
            <a:gdLst/>
            <a:ahLst/>
            <a:cxnLst/>
            <a:rect l="l" t="t" r="r" b="b"/>
            <a:pathLst>
              <a:path w="2611028" h="4114800">
                <a:moveTo>
                  <a:pt x="0" y="0"/>
                </a:moveTo>
                <a:lnTo>
                  <a:pt x="2611028" y="0"/>
                </a:lnTo>
                <a:lnTo>
                  <a:pt x="26110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AA26E90F-D40B-926B-5CBB-C50B72AF9AF8}"/>
              </a:ext>
            </a:extLst>
          </p:cNvPr>
          <p:cNvSpPr txBox="1"/>
          <p:nvPr/>
        </p:nvSpPr>
        <p:spPr>
          <a:xfrm>
            <a:off x="1180698" y="2625524"/>
            <a:ext cx="12687702" cy="4078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altLang="zh-CN" sz="3600" b="1" dirty="0">
                <a:latin typeface="Garet Bold" panose="02010600030101010101" charset="0"/>
              </a:rPr>
              <a:t>Discovering - Impact of Data Containers</a:t>
            </a:r>
            <a:endParaRPr lang="en-US" sz="3600" b="1" dirty="0">
              <a:latin typeface="Garet Bold" panose="02010600030101010101" charset="0"/>
              <a:ea typeface="Garet Bold"/>
              <a:cs typeface="Garet Bold"/>
              <a:sym typeface="Garet Bold"/>
            </a:endParaRPr>
          </a:p>
        </p:txBody>
      </p:sp>
      <p:sp>
        <p:nvSpPr>
          <p:cNvPr id="5" name="TextBox 8">
            <a:extLst>
              <a:ext uri="{FF2B5EF4-FFF2-40B4-BE49-F238E27FC236}">
                <a16:creationId xmlns:a16="http://schemas.microsoft.com/office/drawing/2014/main" id="{1047DC80-2460-8E54-8E0F-E170F6CAAD10}"/>
              </a:ext>
            </a:extLst>
          </p:cNvPr>
          <p:cNvSpPr txBox="1"/>
          <p:nvPr/>
        </p:nvSpPr>
        <p:spPr>
          <a:xfrm>
            <a:off x="697317" y="3312025"/>
            <a:ext cx="16893365" cy="1477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altLang="zh-CN" sz="2400" b="1" i="0" dirty="0" err="1">
                <a:effectLst/>
                <a:latin typeface="Garet" panose="02010600030101010101" charset="0"/>
              </a:rPr>
              <a:t>ArrayList</a:t>
            </a:r>
            <a:r>
              <a:rPr lang="en-US" altLang="zh-CN" sz="2400" b="1" i="0" dirty="0">
                <a:effectLst/>
                <a:latin typeface="Garet" panose="02010600030101010101" charset="0"/>
              </a:rPr>
              <a:t>&lt;String&gt; </a:t>
            </a:r>
            <a:r>
              <a:rPr lang="en-US" altLang="zh-CN" sz="2400" i="0" dirty="0">
                <a:effectLst/>
                <a:latin typeface="Garet" panose="02010600030101010101" charset="0"/>
              </a:rPr>
              <a:t>has nearly native performance, 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altLang="zh-CN" sz="2400" i="0" dirty="0">
                <a:solidFill>
                  <a:srgbClr val="202124"/>
                </a:solidFill>
                <a:effectLst/>
                <a:latin typeface="Garet" panose="02010600030101010101" charset="0"/>
              </a:rPr>
              <a:t>The get and set method is more efficient, </a:t>
            </a:r>
            <a:r>
              <a:rPr lang="en-US" altLang="zh-CN" sz="2400" i="0" dirty="0">
                <a:effectLst/>
                <a:latin typeface="Garet" panose="02010600030101010101" charset="0"/>
              </a:rPr>
              <a:t>suitable for operations with frequent modification </a:t>
            </a:r>
            <a:endParaRPr lang="en-US" altLang="zh-CN" sz="2400" i="0" dirty="0">
              <a:solidFill>
                <a:srgbClr val="202124"/>
              </a:solidFill>
              <a:effectLst/>
              <a:latin typeface="Garet" panose="02010600030101010101" charset="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rgbClr val="202124"/>
                </a:solidFill>
                <a:latin typeface="Garet" panose="02010600030101010101" charset="0"/>
              </a:rPr>
              <a:t>Also suitable to those algorithms that rely on efficient random access (Insertion Sort, Quick Sort, Merge Sort).</a:t>
            </a:r>
            <a:endParaRPr lang="en-US" altLang="zh-CN" sz="2400" i="0" dirty="0">
              <a:solidFill>
                <a:srgbClr val="202124"/>
              </a:solidFill>
              <a:effectLst/>
              <a:latin typeface="Garet" panose="02010600030101010101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FFE9B9A-6A2D-39F3-1BE1-40150B0871F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2200" y="4564010"/>
            <a:ext cx="6435620" cy="5148496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220CE465-F7BC-55D3-0DDD-8762FC6EDC1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0800" y="4564010"/>
            <a:ext cx="6435620" cy="514849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1E929019-B9E2-838B-5771-3771A6F8D957}"/>
              </a:ext>
            </a:extLst>
          </p:cNvPr>
          <p:cNvSpPr txBox="1"/>
          <p:nvPr/>
        </p:nvSpPr>
        <p:spPr>
          <a:xfrm>
            <a:off x="4191000" y="9813555"/>
            <a:ext cx="30483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10000-cities-random-file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73670B8-48D4-6BEC-5D50-7455CD973FE0}"/>
              </a:ext>
            </a:extLst>
          </p:cNvPr>
          <p:cNvSpPr txBox="1"/>
          <p:nvPr/>
        </p:nvSpPr>
        <p:spPr>
          <a:xfrm>
            <a:off x="12344201" y="9813555"/>
            <a:ext cx="30483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10000-cities-sorted-file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0248780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C54527-71BB-5654-2A4D-C937047ED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9B6BB2A-7060-BE6F-F686-71085CB332D5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4D7242EE-531C-05CA-281E-367B21EE17BC}"/>
              </a:ext>
            </a:extLst>
          </p:cNvPr>
          <p:cNvSpPr txBox="1"/>
          <p:nvPr/>
        </p:nvSpPr>
        <p:spPr>
          <a:xfrm>
            <a:off x="1981200" y="468144"/>
            <a:ext cx="11125200" cy="14875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5808"/>
              </a:lnSpc>
              <a:spcBef>
                <a:spcPct val="0"/>
              </a:spcBef>
            </a:pPr>
            <a:r>
              <a:rPr lang="en-US" sz="5000" spc="-150" dirty="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Task C – City Name Sorting Algorithm Test</a:t>
            </a:r>
          </a:p>
        </p:txBody>
      </p:sp>
      <p:sp>
        <p:nvSpPr>
          <p:cNvPr id="36" name="Freeform 5">
            <a:extLst>
              <a:ext uri="{FF2B5EF4-FFF2-40B4-BE49-F238E27FC236}">
                <a16:creationId xmlns:a16="http://schemas.microsoft.com/office/drawing/2014/main" id="{311461AD-515B-B7CB-CBB6-C95B496A725A}"/>
              </a:ext>
            </a:extLst>
          </p:cNvPr>
          <p:cNvSpPr/>
          <p:nvPr/>
        </p:nvSpPr>
        <p:spPr>
          <a:xfrm>
            <a:off x="228600" y="495300"/>
            <a:ext cx="1524000" cy="1457826"/>
          </a:xfrm>
          <a:custGeom>
            <a:avLst/>
            <a:gdLst/>
            <a:ahLst/>
            <a:cxnLst/>
            <a:rect l="l" t="t" r="r" b="b"/>
            <a:pathLst>
              <a:path w="3493612" h="3493612">
                <a:moveTo>
                  <a:pt x="0" y="0"/>
                </a:moveTo>
                <a:lnTo>
                  <a:pt x="3493612" y="0"/>
                </a:lnTo>
                <a:lnTo>
                  <a:pt x="3493612" y="3493612"/>
                </a:lnTo>
                <a:lnTo>
                  <a:pt x="0" y="34936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3" name="Freeform 8">
            <a:extLst>
              <a:ext uri="{FF2B5EF4-FFF2-40B4-BE49-F238E27FC236}">
                <a16:creationId xmlns:a16="http://schemas.microsoft.com/office/drawing/2014/main" id="{D12AF7BA-0772-7315-6B18-79D1C83B943D}"/>
              </a:ext>
            </a:extLst>
          </p:cNvPr>
          <p:cNvSpPr/>
          <p:nvPr/>
        </p:nvSpPr>
        <p:spPr>
          <a:xfrm rot="10800000">
            <a:off x="15172736" y="0"/>
            <a:ext cx="2177829" cy="2843880"/>
          </a:xfrm>
          <a:custGeom>
            <a:avLst/>
            <a:gdLst/>
            <a:ahLst/>
            <a:cxnLst/>
            <a:rect l="l" t="t" r="r" b="b"/>
            <a:pathLst>
              <a:path w="2611028" h="4114800">
                <a:moveTo>
                  <a:pt x="0" y="0"/>
                </a:moveTo>
                <a:lnTo>
                  <a:pt x="2611028" y="0"/>
                </a:lnTo>
                <a:lnTo>
                  <a:pt x="26110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CBC3054F-0171-5EF0-3CC2-C879904C3508}"/>
              </a:ext>
            </a:extLst>
          </p:cNvPr>
          <p:cNvSpPr txBox="1"/>
          <p:nvPr/>
        </p:nvSpPr>
        <p:spPr>
          <a:xfrm>
            <a:off x="1180698" y="2625524"/>
            <a:ext cx="12687702" cy="4078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altLang="zh-CN" sz="3600" b="1" dirty="0">
                <a:latin typeface="Garet Bold" panose="02010600030101010101" charset="0"/>
              </a:rPr>
              <a:t>Discovering - Impact of Data Containers</a:t>
            </a:r>
            <a:endParaRPr lang="en-US" sz="3600" b="1" dirty="0">
              <a:latin typeface="Garet Bold" panose="02010600030101010101" charset="0"/>
              <a:ea typeface="Garet Bold"/>
              <a:cs typeface="Garet Bold"/>
              <a:sym typeface="Garet Bold"/>
            </a:endParaRPr>
          </a:p>
        </p:txBody>
      </p:sp>
      <p:sp>
        <p:nvSpPr>
          <p:cNvPr id="5" name="TextBox 8">
            <a:extLst>
              <a:ext uri="{FF2B5EF4-FFF2-40B4-BE49-F238E27FC236}">
                <a16:creationId xmlns:a16="http://schemas.microsoft.com/office/drawing/2014/main" id="{44C67C17-EDC0-2EA7-0652-6F4A42ABE105}"/>
              </a:ext>
            </a:extLst>
          </p:cNvPr>
          <p:cNvSpPr txBox="1"/>
          <p:nvPr/>
        </p:nvSpPr>
        <p:spPr>
          <a:xfrm>
            <a:off x="697317" y="3703121"/>
            <a:ext cx="16893365" cy="44319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altLang="zh-CN" sz="2400" b="1" dirty="0">
                <a:latin typeface="Garet" panose="02010600030101010101" charset="0"/>
              </a:rPr>
              <a:t>LinkedList</a:t>
            </a:r>
            <a:r>
              <a:rPr lang="en-US" altLang="zh-CN" sz="2400" b="1" i="0" dirty="0">
                <a:effectLst/>
                <a:latin typeface="Garet" panose="02010600030101010101" charset="0"/>
              </a:rPr>
              <a:t>&lt;String&gt;</a:t>
            </a:r>
            <a:r>
              <a:rPr lang="en-US" altLang="zh-CN" sz="2400" dirty="0">
                <a:latin typeface="Garet" panose="02010600030101010101" charset="0"/>
              </a:rPr>
              <a:t>, doesn’t perform very well on most conditions.</a:t>
            </a:r>
            <a:endParaRPr lang="en-US" altLang="zh-CN" sz="2400" i="0" dirty="0">
              <a:effectLst/>
              <a:latin typeface="Garet" panose="02010600030101010101" charset="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Garet" panose="02010600030101010101" charset="0"/>
              </a:rPr>
              <a:t>It </a:t>
            </a:r>
            <a:r>
              <a:rPr lang="en-US" altLang="zh-CN" sz="2400" i="0" dirty="0">
                <a:effectLst/>
                <a:latin typeface="Garet" panose="02010600030101010101" charset="0"/>
              </a:rPr>
              <a:t>only suitable for hea</a:t>
            </a:r>
            <a:r>
              <a:rPr lang="en-US" altLang="zh-CN" sz="2400" dirty="0">
                <a:latin typeface="Garet" panose="02010600030101010101" charset="0"/>
              </a:rPr>
              <a:t>d and tail insertion, and does not perform well on situations involving a lot of selections. </a:t>
            </a:r>
            <a:endParaRPr lang="en-US" altLang="zh-CN" sz="2400" i="0" dirty="0">
              <a:solidFill>
                <a:srgbClr val="202124"/>
              </a:solidFill>
              <a:effectLst/>
              <a:latin typeface="Garet" panose="02010600030101010101" charset="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rgbClr val="202124"/>
                </a:solidFill>
                <a:latin typeface="Garet" panose="02010600030101010101" charset="0"/>
              </a:rPr>
              <a:t>Insertion Sort (implemented by </a:t>
            </a:r>
            <a:r>
              <a:rPr lang="en-US" altLang="zh-CN" sz="2400" dirty="0" err="1">
                <a:solidFill>
                  <a:srgbClr val="202124"/>
                </a:solidFill>
                <a:latin typeface="Garet" panose="02010600030101010101" charset="0"/>
              </a:rPr>
              <a:t>ListIterator</a:t>
            </a:r>
            <a:r>
              <a:rPr lang="en-US" altLang="zh-CN" sz="2400" dirty="0">
                <a:solidFill>
                  <a:srgbClr val="202124"/>
                </a:solidFill>
                <a:latin typeface="Garet" panose="02010600030101010101" charset="0"/>
              </a:rPr>
              <a:t>):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zh-CN" sz="2400" i="0" dirty="0">
                <a:solidFill>
                  <a:srgbClr val="202124"/>
                </a:solidFill>
                <a:effectLst/>
                <a:latin typeface="Garet" panose="02010600030101010101" charset="0"/>
              </a:rPr>
              <a:t>Although add/remove is optimized with iterators, there is still an </a:t>
            </a:r>
            <a:r>
              <a:rPr lang="en-US" altLang="zh-CN" sz="2400" b="1" i="0" dirty="0">
                <a:solidFill>
                  <a:srgbClr val="202124"/>
                </a:solidFill>
                <a:effectLst/>
                <a:latin typeface="Garet" panose="02010600030101010101" charset="0"/>
              </a:rPr>
              <a:t>O(n^2)</a:t>
            </a:r>
            <a:r>
              <a:rPr lang="en-US" altLang="zh-CN" sz="2400" i="0" dirty="0">
                <a:solidFill>
                  <a:srgbClr val="202124"/>
                </a:solidFill>
                <a:effectLst/>
                <a:latin typeface="Garet" panose="02010600030101010101" charset="0"/>
              </a:rPr>
              <a:t> bottleneck in positioning/traversal. And may stack if using get/set </a:t>
            </a:r>
            <a:r>
              <a:rPr lang="en-US" altLang="zh-CN" sz="2400" i="0" dirty="0" err="1">
                <a:solidFill>
                  <a:srgbClr val="202124"/>
                </a:solidFill>
                <a:effectLst/>
                <a:latin typeface="Garet" panose="02010600030101010101" charset="0"/>
              </a:rPr>
              <a:t>approache</a:t>
            </a:r>
            <a:r>
              <a:rPr lang="en-US" altLang="zh-CN" sz="2400" i="0" dirty="0">
                <a:solidFill>
                  <a:srgbClr val="202124"/>
                </a:solidFill>
                <a:effectLst/>
                <a:latin typeface="Garet" panose="02010600030101010101" charset="0"/>
              </a:rPr>
              <a:t> </a:t>
            </a:r>
            <a:r>
              <a:rPr lang="en-US" altLang="zh-CN" sz="2400" b="1" i="0" dirty="0">
                <a:solidFill>
                  <a:srgbClr val="202124"/>
                </a:solidFill>
                <a:effectLst/>
                <a:latin typeface="Garet" panose="02010600030101010101" charset="0"/>
              </a:rPr>
              <a:t>(O(n^3)).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400" i="0" dirty="0">
                <a:solidFill>
                  <a:srgbClr val="202124"/>
                </a:solidFill>
                <a:effectLst/>
                <a:latin typeface="Garet" panose="02010600030101010101" charset="0"/>
              </a:rPr>
              <a:t>Quick Sort: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rgbClr val="202124"/>
                </a:solidFill>
                <a:latin typeface="Garet" panose="02010600030101010101" charset="0"/>
              </a:rPr>
              <a:t>Heavily r</a:t>
            </a:r>
            <a:r>
              <a:rPr lang="en-US" altLang="zh-CN" sz="2400" i="0" dirty="0">
                <a:solidFill>
                  <a:srgbClr val="202124"/>
                </a:solidFill>
                <a:effectLst/>
                <a:latin typeface="Garet" panose="02010600030101010101" charset="0"/>
              </a:rPr>
              <a:t>elying on random access, direct pivot application will result in catastrophic performance (theoretical </a:t>
            </a:r>
            <a:r>
              <a:rPr lang="en-US" altLang="zh-CN" sz="2400" b="1" i="0" dirty="0">
                <a:solidFill>
                  <a:srgbClr val="202124"/>
                </a:solidFill>
                <a:effectLst/>
                <a:latin typeface="Garet" panose="02010600030101010101" charset="0"/>
              </a:rPr>
              <a:t>O(n^3) </a:t>
            </a:r>
            <a:r>
              <a:rPr lang="en-US" altLang="zh-CN" sz="2400" i="0" dirty="0">
                <a:solidFill>
                  <a:srgbClr val="202124"/>
                </a:solidFill>
                <a:effectLst/>
                <a:latin typeface="Garet" panose="02010600030101010101" charset="0"/>
              </a:rPr>
              <a:t>or worse)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rgbClr val="202124"/>
                </a:solidFill>
                <a:latin typeface="Garet" panose="02010600030101010101" charset="0"/>
              </a:rPr>
              <a:t>Merge Sort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zh-CN" sz="2400" i="0" dirty="0">
                <a:solidFill>
                  <a:srgbClr val="202124"/>
                </a:solidFill>
                <a:effectLst/>
                <a:latin typeface="Garet" panose="02010600030101010101" charset="0"/>
              </a:rPr>
              <a:t>The only option that makes sense </a:t>
            </a:r>
            <a:r>
              <a:rPr lang="en-US" altLang="zh-CN" sz="2400" b="1" i="0" dirty="0">
                <a:solidFill>
                  <a:srgbClr val="202124"/>
                </a:solidFill>
                <a:effectLst/>
                <a:latin typeface="Garet" panose="02010600030101010101" charset="0"/>
              </a:rPr>
              <a:t>O(n log n). </a:t>
            </a:r>
            <a:r>
              <a:rPr lang="en-US" altLang="zh-CN" sz="2400" i="0" dirty="0">
                <a:solidFill>
                  <a:srgbClr val="202124"/>
                </a:solidFill>
                <a:effectLst/>
                <a:latin typeface="Garet" panose="02010600030101010101" charset="0"/>
              </a:rPr>
              <a:t>Efficient operation with linked list header and footer. (But still slower than </a:t>
            </a:r>
            <a:r>
              <a:rPr lang="en-US" altLang="zh-CN" sz="2400" i="0" dirty="0" err="1">
                <a:solidFill>
                  <a:srgbClr val="202124"/>
                </a:solidFill>
                <a:effectLst/>
                <a:latin typeface="Garet" panose="02010600030101010101" charset="0"/>
              </a:rPr>
              <a:t>Array&amp;ArrayList</a:t>
            </a:r>
            <a:r>
              <a:rPr lang="en-US" altLang="zh-CN" sz="2400" i="0" dirty="0">
                <a:solidFill>
                  <a:srgbClr val="202124"/>
                </a:solidFill>
                <a:effectLst/>
                <a:latin typeface="Garet" panose="02010600030101010101" charset="0"/>
              </a:rPr>
              <a:t>.)</a:t>
            </a:r>
          </a:p>
        </p:txBody>
      </p:sp>
    </p:spTree>
    <p:extLst>
      <p:ext uri="{BB962C8B-B14F-4D97-AF65-F5344CB8AC3E}">
        <p14:creationId xmlns:p14="http://schemas.microsoft.com/office/powerpoint/2010/main" val="17960279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4B581C-9EE1-28CA-F8A5-39CA97CAC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D72CE82-352E-2FB9-245C-783EBE225F49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3D792BEC-93F7-8632-93FB-E75652500BEA}"/>
              </a:ext>
            </a:extLst>
          </p:cNvPr>
          <p:cNvSpPr txBox="1"/>
          <p:nvPr/>
        </p:nvSpPr>
        <p:spPr>
          <a:xfrm>
            <a:off x="1981200" y="854676"/>
            <a:ext cx="9067800" cy="7437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5808"/>
              </a:lnSpc>
              <a:spcBef>
                <a:spcPct val="0"/>
              </a:spcBef>
            </a:pPr>
            <a:r>
              <a:rPr lang="en-US" sz="5000" spc="-150" dirty="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Task </a:t>
            </a:r>
            <a:r>
              <a:rPr lang="en-US" altLang="zh-CN" sz="5000" spc="-150" dirty="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D</a:t>
            </a:r>
            <a:r>
              <a:rPr lang="en-US" sz="5000" spc="-150" dirty="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– Project Reflection</a:t>
            </a:r>
          </a:p>
        </p:txBody>
      </p:sp>
      <p:sp>
        <p:nvSpPr>
          <p:cNvPr id="36" name="Freeform 5">
            <a:extLst>
              <a:ext uri="{FF2B5EF4-FFF2-40B4-BE49-F238E27FC236}">
                <a16:creationId xmlns:a16="http://schemas.microsoft.com/office/drawing/2014/main" id="{A2E57003-01B7-4893-F892-C1662E5766E7}"/>
              </a:ext>
            </a:extLst>
          </p:cNvPr>
          <p:cNvSpPr/>
          <p:nvPr/>
        </p:nvSpPr>
        <p:spPr>
          <a:xfrm>
            <a:off x="228600" y="495300"/>
            <a:ext cx="1524000" cy="1457826"/>
          </a:xfrm>
          <a:custGeom>
            <a:avLst/>
            <a:gdLst/>
            <a:ahLst/>
            <a:cxnLst/>
            <a:rect l="l" t="t" r="r" b="b"/>
            <a:pathLst>
              <a:path w="3493612" h="3493612">
                <a:moveTo>
                  <a:pt x="0" y="0"/>
                </a:moveTo>
                <a:lnTo>
                  <a:pt x="3493612" y="0"/>
                </a:lnTo>
                <a:lnTo>
                  <a:pt x="3493612" y="3493612"/>
                </a:lnTo>
                <a:lnTo>
                  <a:pt x="0" y="34936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3" name="Freeform 8">
            <a:extLst>
              <a:ext uri="{FF2B5EF4-FFF2-40B4-BE49-F238E27FC236}">
                <a16:creationId xmlns:a16="http://schemas.microsoft.com/office/drawing/2014/main" id="{D293F6C0-15D8-B1A4-3174-8166F70499ED}"/>
              </a:ext>
            </a:extLst>
          </p:cNvPr>
          <p:cNvSpPr/>
          <p:nvPr/>
        </p:nvSpPr>
        <p:spPr>
          <a:xfrm rot="10800000">
            <a:off x="15172736" y="0"/>
            <a:ext cx="2177829" cy="2843880"/>
          </a:xfrm>
          <a:custGeom>
            <a:avLst/>
            <a:gdLst/>
            <a:ahLst/>
            <a:cxnLst/>
            <a:rect l="l" t="t" r="r" b="b"/>
            <a:pathLst>
              <a:path w="2611028" h="4114800">
                <a:moveTo>
                  <a:pt x="0" y="0"/>
                </a:moveTo>
                <a:lnTo>
                  <a:pt x="2611028" y="0"/>
                </a:lnTo>
                <a:lnTo>
                  <a:pt x="26110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488773D4-AE14-48F0-54F8-7AC5DF3B7DA0}"/>
              </a:ext>
            </a:extLst>
          </p:cNvPr>
          <p:cNvSpPr txBox="1"/>
          <p:nvPr/>
        </p:nvSpPr>
        <p:spPr>
          <a:xfrm>
            <a:off x="1180698" y="2625524"/>
            <a:ext cx="12687702" cy="4078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sz="3600" b="1" dirty="0">
                <a:latin typeface="Garet Bold" panose="02010600030101010101" charset="0"/>
                <a:ea typeface="Garet Bold"/>
                <a:cs typeface="Garet Bold"/>
                <a:sym typeface="Garet Bold"/>
              </a:rPr>
              <a:t>Key Achievements</a:t>
            </a:r>
          </a:p>
        </p:txBody>
      </p:sp>
      <p:sp>
        <p:nvSpPr>
          <p:cNvPr id="5" name="TextBox 8">
            <a:extLst>
              <a:ext uri="{FF2B5EF4-FFF2-40B4-BE49-F238E27FC236}">
                <a16:creationId xmlns:a16="http://schemas.microsoft.com/office/drawing/2014/main" id="{B5ED1465-4806-DD0B-AA35-42E8162333C4}"/>
              </a:ext>
            </a:extLst>
          </p:cNvPr>
          <p:cNvSpPr txBox="1"/>
          <p:nvPr/>
        </p:nvSpPr>
        <p:spPr>
          <a:xfrm>
            <a:off x="994528" y="3314700"/>
            <a:ext cx="9056283" cy="60324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800" b="1" dirty="0">
                <a:latin typeface="Garet" panose="02010600030101010101" charset="0"/>
              </a:rPr>
              <a:t>Task A – Program Design: </a:t>
            </a:r>
            <a:r>
              <a:rPr lang="en-US" altLang="zh-CN" sz="2800" dirty="0">
                <a:latin typeface="Garet" panose="02010600030101010101" charset="0"/>
              </a:rPr>
              <a:t>Successfully built a modular Java app using core OOP principles (encapsulation, abstraction, single responsibility) with a clear, decoupled package structure.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800" b="1" i="0" dirty="0">
                <a:solidFill>
                  <a:srgbClr val="202124"/>
                </a:solidFill>
                <a:effectLst/>
                <a:latin typeface="Garet" panose="02010600030101010101" charset="0"/>
              </a:rPr>
              <a:t>Task B - Pathfinding: </a:t>
            </a:r>
            <a:r>
              <a:rPr lang="en-US" altLang="zh-CN" sz="2800" i="0" dirty="0" err="1">
                <a:solidFill>
                  <a:srgbClr val="202124"/>
                </a:solidFill>
                <a:effectLst/>
                <a:latin typeface="Garet" panose="02010600030101010101" charset="0"/>
              </a:rPr>
              <a:t>PathFinder</a:t>
            </a:r>
            <a:r>
              <a:rPr lang="en-US" altLang="zh-CN" sz="2800" i="0" dirty="0">
                <a:solidFill>
                  <a:srgbClr val="202124"/>
                </a:solidFill>
                <a:effectLst/>
                <a:latin typeface="Garet" panose="02010600030101010101" charset="0"/>
              </a:rPr>
              <a:t> implemented for optimal routes with multiple POIs, using Dijkstra for segments and strategies incorporating Floyd-Warshall for complex scenarios.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800" b="1" i="0" dirty="0">
                <a:solidFill>
                  <a:srgbClr val="202124"/>
                </a:solidFill>
                <a:effectLst/>
                <a:latin typeface="Garet" panose="02010600030101010101" charset="0"/>
              </a:rPr>
              <a:t>Task C – Sorting Evaluation: </a:t>
            </a:r>
            <a:r>
              <a:rPr lang="en-US" altLang="zh-CN" sz="2800" i="0" dirty="0">
                <a:solidFill>
                  <a:srgbClr val="202124"/>
                </a:solidFill>
                <a:effectLst/>
                <a:latin typeface="Garet" panose="02010600030101010101" charset="0"/>
              </a:rPr>
              <a:t>Implemented and evaluated Insertion, Quick, and Merge Sort on various datasets (size, order), analyzing performance and understanding data impact.</a:t>
            </a:r>
          </a:p>
        </p:txBody>
      </p:sp>
      <p:sp>
        <p:nvSpPr>
          <p:cNvPr id="7" name="Freeform 3">
            <a:extLst>
              <a:ext uri="{FF2B5EF4-FFF2-40B4-BE49-F238E27FC236}">
                <a16:creationId xmlns:a16="http://schemas.microsoft.com/office/drawing/2014/main" id="{3317F39A-C3F3-2F27-5F76-E6D913765180}"/>
              </a:ext>
            </a:extLst>
          </p:cNvPr>
          <p:cNvSpPr/>
          <p:nvPr/>
        </p:nvSpPr>
        <p:spPr>
          <a:xfrm>
            <a:off x="14976512" y="8572500"/>
            <a:ext cx="2570276" cy="1270788"/>
          </a:xfrm>
          <a:custGeom>
            <a:avLst/>
            <a:gdLst/>
            <a:ahLst/>
            <a:cxnLst/>
            <a:rect l="l" t="t" r="r" b="b"/>
            <a:pathLst>
              <a:path w="3493612" h="1759510">
                <a:moveTo>
                  <a:pt x="0" y="0"/>
                </a:moveTo>
                <a:lnTo>
                  <a:pt x="3493612" y="0"/>
                </a:lnTo>
                <a:lnTo>
                  <a:pt x="3493612" y="1759510"/>
                </a:lnTo>
                <a:lnTo>
                  <a:pt x="0" y="175951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4254709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7B9891-0FB5-8B07-DA9E-D4C7A0CFF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8DE6C9E-813B-6236-5550-F82DE2845A74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  <p:txBody>
          <a:bodyPr/>
          <a:lstStyle/>
          <a:p>
            <a:endParaRPr lang="zh-CN" altLang="en-US" dirty="0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0053344C-7FC8-D642-1633-982463DD2CB1}"/>
              </a:ext>
            </a:extLst>
          </p:cNvPr>
          <p:cNvSpPr txBox="1"/>
          <p:nvPr/>
        </p:nvSpPr>
        <p:spPr>
          <a:xfrm>
            <a:off x="1981200" y="854676"/>
            <a:ext cx="9067800" cy="7437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5808"/>
              </a:lnSpc>
              <a:spcBef>
                <a:spcPct val="0"/>
              </a:spcBef>
            </a:pPr>
            <a:r>
              <a:rPr lang="en-US" sz="5000" spc="-150" dirty="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Task </a:t>
            </a:r>
            <a:r>
              <a:rPr lang="en-US" altLang="zh-CN" sz="5000" spc="-150" dirty="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D</a:t>
            </a:r>
            <a:r>
              <a:rPr lang="en-US" sz="5000" spc="-150" dirty="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– Project Reflection</a:t>
            </a:r>
          </a:p>
        </p:txBody>
      </p:sp>
      <p:sp>
        <p:nvSpPr>
          <p:cNvPr id="36" name="Freeform 5">
            <a:extLst>
              <a:ext uri="{FF2B5EF4-FFF2-40B4-BE49-F238E27FC236}">
                <a16:creationId xmlns:a16="http://schemas.microsoft.com/office/drawing/2014/main" id="{E7BBB0C1-7BC7-0171-3D80-8812BB3CF93C}"/>
              </a:ext>
            </a:extLst>
          </p:cNvPr>
          <p:cNvSpPr/>
          <p:nvPr/>
        </p:nvSpPr>
        <p:spPr>
          <a:xfrm>
            <a:off x="228600" y="495300"/>
            <a:ext cx="1524000" cy="1457826"/>
          </a:xfrm>
          <a:custGeom>
            <a:avLst/>
            <a:gdLst/>
            <a:ahLst/>
            <a:cxnLst/>
            <a:rect l="l" t="t" r="r" b="b"/>
            <a:pathLst>
              <a:path w="3493612" h="3493612">
                <a:moveTo>
                  <a:pt x="0" y="0"/>
                </a:moveTo>
                <a:lnTo>
                  <a:pt x="3493612" y="0"/>
                </a:lnTo>
                <a:lnTo>
                  <a:pt x="3493612" y="3493612"/>
                </a:lnTo>
                <a:lnTo>
                  <a:pt x="0" y="34936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3" name="Freeform 8">
            <a:extLst>
              <a:ext uri="{FF2B5EF4-FFF2-40B4-BE49-F238E27FC236}">
                <a16:creationId xmlns:a16="http://schemas.microsoft.com/office/drawing/2014/main" id="{AAEF2AB7-FC54-D134-8BBF-4852EE1F4E80}"/>
              </a:ext>
            </a:extLst>
          </p:cNvPr>
          <p:cNvSpPr/>
          <p:nvPr/>
        </p:nvSpPr>
        <p:spPr>
          <a:xfrm rot="10800000">
            <a:off x="15172736" y="0"/>
            <a:ext cx="2177829" cy="2843880"/>
          </a:xfrm>
          <a:custGeom>
            <a:avLst/>
            <a:gdLst/>
            <a:ahLst/>
            <a:cxnLst/>
            <a:rect l="l" t="t" r="r" b="b"/>
            <a:pathLst>
              <a:path w="2611028" h="4114800">
                <a:moveTo>
                  <a:pt x="0" y="0"/>
                </a:moveTo>
                <a:lnTo>
                  <a:pt x="2611028" y="0"/>
                </a:lnTo>
                <a:lnTo>
                  <a:pt x="26110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E4410FCA-3BCB-C5C9-9D9E-FA6700E25990}"/>
              </a:ext>
            </a:extLst>
          </p:cNvPr>
          <p:cNvSpPr txBox="1"/>
          <p:nvPr/>
        </p:nvSpPr>
        <p:spPr>
          <a:xfrm>
            <a:off x="1180698" y="2625524"/>
            <a:ext cx="12687702" cy="4078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sz="3600" b="1" dirty="0">
                <a:latin typeface="Garet Bold" panose="02010600030101010101" charset="0"/>
                <a:ea typeface="Garet Bold"/>
                <a:cs typeface="Garet Bold"/>
                <a:sym typeface="Garet Bold"/>
              </a:rPr>
              <a:t>AI Assistance &amp; EDI Consideration</a:t>
            </a:r>
          </a:p>
        </p:txBody>
      </p:sp>
      <p:sp>
        <p:nvSpPr>
          <p:cNvPr id="5" name="TextBox 8">
            <a:extLst>
              <a:ext uri="{FF2B5EF4-FFF2-40B4-BE49-F238E27FC236}">
                <a16:creationId xmlns:a16="http://schemas.microsoft.com/office/drawing/2014/main" id="{881A7998-1ED9-BE54-DF8B-7BFB5E98A9B3}"/>
              </a:ext>
            </a:extLst>
          </p:cNvPr>
          <p:cNvSpPr txBox="1"/>
          <p:nvPr/>
        </p:nvSpPr>
        <p:spPr>
          <a:xfrm>
            <a:off x="1194134" y="3238500"/>
            <a:ext cx="9056283" cy="60016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600" b="1" dirty="0">
                <a:latin typeface="Garet" panose="02010600030101010101" charset="0"/>
              </a:rPr>
              <a:t>AI tools: </a:t>
            </a:r>
            <a:r>
              <a:rPr lang="en-US" altLang="zh-CN" sz="2600" dirty="0">
                <a:latin typeface="Garet" panose="02010600030101010101" charset="0"/>
              </a:rPr>
              <a:t>Used AI (ChatGPT, DeepSeek) for GUI (AWT/Swing - not in curriculum) for API/layout/debug help, especially </a:t>
            </a:r>
            <a:r>
              <a:rPr lang="en-US" altLang="zh-CN" sz="2600" dirty="0" err="1">
                <a:latin typeface="Garet" panose="02010600030101010101" charset="0"/>
              </a:rPr>
              <a:t>GraphResultPanel</a:t>
            </a:r>
            <a:r>
              <a:rPr lang="en-US" altLang="zh-CN" sz="2600" dirty="0">
                <a:latin typeface="Garet" panose="02010600030101010101" charset="0"/>
              </a:rPr>
              <a:t> drawing. Also, for algorithm to aid design choices, not code generation. In order to clarify division of labor and communicate effectively. We use JIRA for time and task management.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altLang="zh-CN" sz="2600" dirty="0">
              <a:latin typeface="Garet" panose="02010600030101010101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600" b="1" i="0" dirty="0">
                <a:solidFill>
                  <a:srgbClr val="202124"/>
                </a:solidFill>
                <a:effectLst/>
                <a:latin typeface="Garet" panose="02010600030101010101" charset="0"/>
              </a:rPr>
              <a:t>EDI </a:t>
            </a:r>
            <a:r>
              <a:rPr lang="en-US" altLang="zh-CN" sz="2600" b="1" dirty="0">
                <a:solidFill>
                  <a:srgbClr val="202124"/>
                </a:solidFill>
                <a:latin typeface="Garet" panose="02010600030101010101" charset="0"/>
              </a:rPr>
              <a:t>Current</a:t>
            </a:r>
            <a:r>
              <a:rPr lang="en-US" altLang="zh-CN" sz="2600" dirty="0">
                <a:solidFill>
                  <a:srgbClr val="202124"/>
                </a:solidFill>
                <a:latin typeface="Garet" panose="02010600030101010101" charset="0"/>
              </a:rPr>
              <a:t>: Offered both textual and graphical path results to cater to diverse user preferences.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altLang="zh-CN" sz="2600" dirty="0">
              <a:solidFill>
                <a:srgbClr val="202124"/>
              </a:solidFill>
              <a:latin typeface="Garet" panose="02010600030101010101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600" b="1" i="0" dirty="0">
                <a:solidFill>
                  <a:srgbClr val="202124"/>
                </a:solidFill>
                <a:effectLst/>
                <a:latin typeface="Garet" panose="02010600030101010101" charset="0"/>
              </a:rPr>
              <a:t>EDI Future</a:t>
            </a:r>
            <a:r>
              <a:rPr lang="en-US" altLang="zh-CN" sz="2600" i="0" dirty="0">
                <a:solidFill>
                  <a:srgbClr val="202124"/>
                </a:solidFill>
                <a:effectLst/>
                <a:latin typeface="Garet" panose="02010600030101010101" charset="0"/>
              </a:rPr>
              <a:t>: Envision Text-to-Speech (TTS) for accessibility and internationalization (i18n) for broader language support.</a:t>
            </a:r>
          </a:p>
        </p:txBody>
      </p:sp>
      <p:sp>
        <p:nvSpPr>
          <p:cNvPr id="7" name="Freeform 3">
            <a:extLst>
              <a:ext uri="{FF2B5EF4-FFF2-40B4-BE49-F238E27FC236}">
                <a16:creationId xmlns:a16="http://schemas.microsoft.com/office/drawing/2014/main" id="{42FEDA89-B194-CB70-E35B-6CD12A575457}"/>
              </a:ext>
            </a:extLst>
          </p:cNvPr>
          <p:cNvSpPr/>
          <p:nvPr/>
        </p:nvSpPr>
        <p:spPr>
          <a:xfrm>
            <a:off x="15172736" y="8520912"/>
            <a:ext cx="2570276" cy="1270788"/>
          </a:xfrm>
          <a:custGeom>
            <a:avLst/>
            <a:gdLst/>
            <a:ahLst/>
            <a:cxnLst/>
            <a:rect l="l" t="t" r="r" b="b"/>
            <a:pathLst>
              <a:path w="3493612" h="1759510">
                <a:moveTo>
                  <a:pt x="0" y="0"/>
                </a:moveTo>
                <a:lnTo>
                  <a:pt x="3493612" y="0"/>
                </a:lnTo>
                <a:lnTo>
                  <a:pt x="3493612" y="1759510"/>
                </a:lnTo>
                <a:lnTo>
                  <a:pt x="0" y="175951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CN" altLang="en-US" dirty="0"/>
          </a:p>
        </p:txBody>
      </p:sp>
      <p:pic>
        <p:nvPicPr>
          <p:cNvPr id="2051" name="Picture 3" descr="ChatGPT Logo - Chat gpt Icon on White Background 21059827 Vector Art at  Vecteezy">
            <a:extLst>
              <a:ext uri="{FF2B5EF4-FFF2-40B4-BE49-F238E27FC236}">
                <a16:creationId xmlns:a16="http://schemas.microsoft.com/office/drawing/2014/main" id="{5677669E-C5AF-3E6A-BFAC-C06FA7EF2C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8636" y="2579015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3" name="Picture 5" descr="DeepSeek Logo | SVG | Real Company | Alphabet, Letter D Logo">
            <a:extLst>
              <a:ext uri="{FF2B5EF4-FFF2-40B4-BE49-F238E27FC236}">
                <a16:creationId xmlns:a16="http://schemas.microsoft.com/office/drawing/2014/main" id="{03AF1E82-02A3-7DA8-D478-0DF81F3F4E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34534" y="2579015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A53D6E52-5AB8-E0EA-95DB-5F640E1BE96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070174" y="4914900"/>
            <a:ext cx="3663173" cy="2062476"/>
          </a:xfrm>
          <a:prstGeom prst="rect">
            <a:avLst/>
          </a:prstGeom>
        </p:spPr>
      </p:pic>
      <p:pic>
        <p:nvPicPr>
          <p:cNvPr id="2057" name="Picture 9" descr="Speaker Cartoon Horn Vector Images (over 1,400)">
            <a:extLst>
              <a:ext uri="{FF2B5EF4-FFF2-40B4-BE49-F238E27FC236}">
                <a16:creationId xmlns:a16="http://schemas.microsoft.com/office/drawing/2014/main" id="{4C30E83E-6BEF-D869-67D1-56E28F22A2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43526" y="7338469"/>
            <a:ext cx="1640952" cy="1640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1" name="Picture 13" descr="i18n – Medium">
            <a:extLst>
              <a:ext uri="{FF2B5EF4-FFF2-40B4-BE49-F238E27FC236}">
                <a16:creationId xmlns:a16="http://schemas.microsoft.com/office/drawing/2014/main" id="{17F37BC7-478B-17EF-6A4A-85ABF37D77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08643" y="7347664"/>
            <a:ext cx="1639042" cy="1631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Jira Cloud by Atlassian - Apps on Google Play">
            <a:extLst>
              <a:ext uri="{FF2B5EF4-FFF2-40B4-BE49-F238E27FC236}">
                <a16:creationId xmlns:a16="http://schemas.microsoft.com/office/drawing/2014/main" id="{1FB1A4CF-0D10-BC27-7CC3-7542187E20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08139" y="4914900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834802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5513E8-3360-E45A-7761-ACD5D51BA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6B65A31-9DC7-7418-8E53-03525941BB71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  <p:txBody>
          <a:bodyPr/>
          <a:lstStyle/>
          <a:p>
            <a:endParaRPr lang="zh-CN" altLang="en-US" dirty="0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01A9336-4B47-922B-9C6C-0B1D6FF02681}"/>
              </a:ext>
            </a:extLst>
          </p:cNvPr>
          <p:cNvSpPr txBox="1"/>
          <p:nvPr/>
        </p:nvSpPr>
        <p:spPr>
          <a:xfrm>
            <a:off x="1981200" y="854676"/>
            <a:ext cx="9067800" cy="7437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5808"/>
              </a:lnSpc>
              <a:spcBef>
                <a:spcPct val="0"/>
              </a:spcBef>
            </a:pPr>
            <a:r>
              <a:rPr lang="en-US" sz="5000" spc="-150" dirty="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Task </a:t>
            </a:r>
            <a:r>
              <a:rPr lang="en-US" altLang="zh-CN" sz="5000" spc="-150" dirty="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D</a:t>
            </a:r>
            <a:r>
              <a:rPr lang="en-US" sz="5000" spc="-150" dirty="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– Project Reflection</a:t>
            </a:r>
          </a:p>
        </p:txBody>
      </p:sp>
      <p:sp>
        <p:nvSpPr>
          <p:cNvPr id="36" name="Freeform 5">
            <a:extLst>
              <a:ext uri="{FF2B5EF4-FFF2-40B4-BE49-F238E27FC236}">
                <a16:creationId xmlns:a16="http://schemas.microsoft.com/office/drawing/2014/main" id="{6796A1F3-C114-F183-A9A9-5CFB0FBFF7A3}"/>
              </a:ext>
            </a:extLst>
          </p:cNvPr>
          <p:cNvSpPr/>
          <p:nvPr/>
        </p:nvSpPr>
        <p:spPr>
          <a:xfrm>
            <a:off x="228600" y="495300"/>
            <a:ext cx="1524000" cy="1457826"/>
          </a:xfrm>
          <a:custGeom>
            <a:avLst/>
            <a:gdLst/>
            <a:ahLst/>
            <a:cxnLst/>
            <a:rect l="l" t="t" r="r" b="b"/>
            <a:pathLst>
              <a:path w="3493612" h="3493612">
                <a:moveTo>
                  <a:pt x="0" y="0"/>
                </a:moveTo>
                <a:lnTo>
                  <a:pt x="3493612" y="0"/>
                </a:lnTo>
                <a:lnTo>
                  <a:pt x="3493612" y="3493612"/>
                </a:lnTo>
                <a:lnTo>
                  <a:pt x="0" y="34936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3" name="Freeform 8">
            <a:extLst>
              <a:ext uri="{FF2B5EF4-FFF2-40B4-BE49-F238E27FC236}">
                <a16:creationId xmlns:a16="http://schemas.microsoft.com/office/drawing/2014/main" id="{1C056FE8-7779-02E2-1F51-9571C3826EB3}"/>
              </a:ext>
            </a:extLst>
          </p:cNvPr>
          <p:cNvSpPr/>
          <p:nvPr/>
        </p:nvSpPr>
        <p:spPr>
          <a:xfrm rot="10800000">
            <a:off x="15172736" y="0"/>
            <a:ext cx="2177829" cy="2843880"/>
          </a:xfrm>
          <a:custGeom>
            <a:avLst/>
            <a:gdLst/>
            <a:ahLst/>
            <a:cxnLst/>
            <a:rect l="l" t="t" r="r" b="b"/>
            <a:pathLst>
              <a:path w="2611028" h="4114800">
                <a:moveTo>
                  <a:pt x="0" y="0"/>
                </a:moveTo>
                <a:lnTo>
                  <a:pt x="2611028" y="0"/>
                </a:lnTo>
                <a:lnTo>
                  <a:pt x="26110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9EB5BDE0-F850-32A6-575F-C0C4F51CFE7E}"/>
              </a:ext>
            </a:extLst>
          </p:cNvPr>
          <p:cNvSpPr txBox="1"/>
          <p:nvPr/>
        </p:nvSpPr>
        <p:spPr>
          <a:xfrm>
            <a:off x="1180698" y="2625524"/>
            <a:ext cx="12687702" cy="4078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altLang="zh-CN" sz="3600" b="1" dirty="0">
                <a:latin typeface="Garet Bold" panose="02010600030101010101" charset="0"/>
                <a:ea typeface="Garet Bold"/>
                <a:cs typeface="Garet Bold"/>
                <a:sym typeface="Garet Bold"/>
              </a:rPr>
              <a:t>Personal Growth &amp; Takeaways</a:t>
            </a:r>
            <a:endParaRPr lang="en-US" sz="3600" b="1" dirty="0">
              <a:latin typeface="Garet Bold" panose="02010600030101010101" charset="0"/>
              <a:ea typeface="Garet Bold"/>
              <a:cs typeface="Garet Bold"/>
              <a:sym typeface="Garet Bold"/>
            </a:endParaRPr>
          </a:p>
        </p:txBody>
      </p:sp>
      <p:sp>
        <p:nvSpPr>
          <p:cNvPr id="5" name="TextBox 8">
            <a:extLst>
              <a:ext uri="{FF2B5EF4-FFF2-40B4-BE49-F238E27FC236}">
                <a16:creationId xmlns:a16="http://schemas.microsoft.com/office/drawing/2014/main" id="{51A4DF5D-C7D8-0744-FF38-5B05607AED4E}"/>
              </a:ext>
            </a:extLst>
          </p:cNvPr>
          <p:cNvSpPr txBox="1"/>
          <p:nvPr/>
        </p:nvSpPr>
        <p:spPr>
          <a:xfrm>
            <a:off x="994528" y="3314700"/>
            <a:ext cx="9056283" cy="56015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800" b="1" dirty="0">
                <a:latin typeface="Garet" panose="02010600030101010101" charset="0"/>
              </a:rPr>
              <a:t>Teamwork &amp; Project Management: </a:t>
            </a:r>
            <a:r>
              <a:rPr lang="en-US" altLang="zh-CN" sz="2800" dirty="0">
                <a:latin typeface="Garet" panose="02010600030101010101" charset="0"/>
              </a:rPr>
              <a:t>Established clear task division and communication. Proficiently used Git for version control (branching, commits, merging) and Markdown for documentation, enhancing collaboration and knowledge sharing.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altLang="zh-CN" sz="2800" dirty="0">
              <a:latin typeface="Garet" panose="02010600030101010101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800" b="1" i="0" dirty="0">
                <a:solidFill>
                  <a:srgbClr val="202124"/>
                </a:solidFill>
                <a:effectLst/>
                <a:latin typeface="Garet" panose="02010600030101010101" charset="0"/>
              </a:rPr>
              <a:t>Technical &amp; Self-Learning: </a:t>
            </a:r>
            <a:r>
              <a:rPr lang="en-US" altLang="zh-CN" sz="2800" i="0" dirty="0">
                <a:solidFill>
                  <a:srgbClr val="202124"/>
                </a:solidFill>
                <a:effectLst/>
                <a:latin typeface="Garet" panose="02010600030101010101" charset="0"/>
              </a:rPr>
              <a:t>Strengthened application of Java OOP, data structures, and algorithm design. Significantly improved self-learning by mastering AWT/Swing for GUI and enhanced problem-solving and coding standards through debugging/refactoring.</a:t>
            </a:r>
          </a:p>
        </p:txBody>
      </p:sp>
      <p:sp>
        <p:nvSpPr>
          <p:cNvPr id="7" name="Freeform 3">
            <a:extLst>
              <a:ext uri="{FF2B5EF4-FFF2-40B4-BE49-F238E27FC236}">
                <a16:creationId xmlns:a16="http://schemas.microsoft.com/office/drawing/2014/main" id="{6DD35B95-0AA9-D7A9-8262-38EA828F28F1}"/>
              </a:ext>
            </a:extLst>
          </p:cNvPr>
          <p:cNvSpPr/>
          <p:nvPr/>
        </p:nvSpPr>
        <p:spPr>
          <a:xfrm>
            <a:off x="15172736" y="8520912"/>
            <a:ext cx="2570276" cy="1270788"/>
          </a:xfrm>
          <a:custGeom>
            <a:avLst/>
            <a:gdLst/>
            <a:ahLst/>
            <a:cxnLst/>
            <a:rect l="l" t="t" r="r" b="b"/>
            <a:pathLst>
              <a:path w="3493612" h="1759510">
                <a:moveTo>
                  <a:pt x="0" y="0"/>
                </a:moveTo>
                <a:lnTo>
                  <a:pt x="3493612" y="0"/>
                </a:lnTo>
                <a:lnTo>
                  <a:pt x="3493612" y="1759510"/>
                </a:lnTo>
                <a:lnTo>
                  <a:pt x="0" y="175951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CN" altLang="en-US" dirty="0"/>
          </a:p>
        </p:txBody>
      </p:sp>
      <p:pic>
        <p:nvPicPr>
          <p:cNvPr id="3076" name="Picture 4" descr="Git · GitHub">
            <a:extLst>
              <a:ext uri="{FF2B5EF4-FFF2-40B4-BE49-F238E27FC236}">
                <a16:creationId xmlns:a16="http://schemas.microsoft.com/office/drawing/2014/main" id="{70727F93-BA01-3157-A62F-6C0AFA22DA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39599" y="2895600"/>
            <a:ext cx="2057400" cy="205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Business team concept two business people connect two elements Symbol of  collaboration cooperation partnership Flat style cartoon illustration  vector | Premium Vector">
            <a:extLst>
              <a:ext uri="{FF2B5EF4-FFF2-40B4-BE49-F238E27FC236}">
                <a16:creationId xmlns:a16="http://schemas.microsoft.com/office/drawing/2014/main" id="{C8904BE4-8890-2D1A-9169-0FCD208B0F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7022" y="5807283"/>
            <a:ext cx="4362553" cy="30802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853657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3" name="TextBox 3"/>
          <p:cNvSpPr txBox="1"/>
          <p:nvPr/>
        </p:nvSpPr>
        <p:spPr>
          <a:xfrm>
            <a:off x="1028700" y="2739036"/>
            <a:ext cx="7203393" cy="662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30"/>
              </a:lnSpc>
            </a:pPr>
            <a:r>
              <a:rPr lang="en-US" sz="5808" dirty="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Thank you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938218" y="981075"/>
            <a:ext cx="4321082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10/10</a:t>
            </a:r>
          </a:p>
        </p:txBody>
      </p:sp>
      <p:sp>
        <p:nvSpPr>
          <p:cNvPr id="6" name="AutoShape 6"/>
          <p:cNvSpPr/>
          <p:nvPr/>
        </p:nvSpPr>
        <p:spPr>
          <a:xfrm>
            <a:off x="0" y="8805858"/>
            <a:ext cx="18288000" cy="1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AutoShape 7"/>
          <p:cNvSpPr/>
          <p:nvPr/>
        </p:nvSpPr>
        <p:spPr>
          <a:xfrm>
            <a:off x="0" y="9305925"/>
            <a:ext cx="18288000" cy="28575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Box 16"/>
          <p:cNvSpPr txBox="1"/>
          <p:nvPr/>
        </p:nvSpPr>
        <p:spPr>
          <a:xfrm>
            <a:off x="1028700" y="4803775"/>
            <a:ext cx="5676900" cy="14234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  <a:spcBef>
                <a:spcPct val="0"/>
              </a:spcBef>
            </a:pPr>
            <a:r>
              <a:rPr lang="en-US" sz="2000" b="1" u="none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CONTACT US:</a:t>
            </a:r>
          </a:p>
          <a:p>
            <a:pPr marL="0" lvl="0" indent="0" algn="l">
              <a:lnSpc>
                <a:spcPts val="2800"/>
              </a:lnSpc>
              <a:spcBef>
                <a:spcPct val="0"/>
              </a:spcBef>
            </a:pPr>
            <a:r>
              <a:rPr lang="en-US" altLang="zh-CN" sz="2000" b="1" u="none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  <a:hlinkClick r:id="rId3"/>
              </a:rPr>
              <a:t>ruiyang.wu22@student.xjtlu.edu.cn</a:t>
            </a:r>
            <a:endParaRPr lang="en-US" altLang="zh-CN" sz="2000" b="1" u="none" dirty="0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  <a:p>
            <a:pPr marL="0" lvl="0" indent="0" algn="l">
              <a:lnSpc>
                <a:spcPts val="2800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  <a:hlinkClick r:id="rId4"/>
              </a:rPr>
              <a:t>Junhao.huang</a:t>
            </a:r>
            <a:r>
              <a:rPr lang="en-US" altLang="zh-CN" sz="2000" b="1" u="none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  <a:hlinkClick r:id="rId4"/>
              </a:rPr>
              <a:t>2202@student.xjtlu.edu.cn</a:t>
            </a:r>
            <a:endParaRPr lang="en-US" altLang="zh-CN" sz="2000" b="1" u="none" dirty="0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  <a:p>
            <a:pPr marL="0" lvl="0" indent="0" algn="l">
              <a:lnSpc>
                <a:spcPts val="2800"/>
              </a:lnSpc>
              <a:spcBef>
                <a:spcPct val="0"/>
              </a:spcBef>
            </a:pPr>
            <a:endParaRPr lang="en-US" sz="2000" b="1" u="none" dirty="0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A47AB5-3B9F-85BF-6EA1-FF7A1B66E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C538F67-F398-BCC7-2F50-78BC2E9B823D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F60597-5008-842D-6574-407E7FFB5B28}"/>
              </a:ext>
            </a:extLst>
          </p:cNvPr>
          <p:cNvSpPr txBox="1"/>
          <p:nvPr/>
        </p:nvSpPr>
        <p:spPr>
          <a:xfrm>
            <a:off x="1981200" y="1028700"/>
            <a:ext cx="4914900" cy="6622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530"/>
              </a:lnSpc>
            </a:pPr>
            <a:r>
              <a:rPr lang="en-US" sz="5808" dirty="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References</a:t>
            </a: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3ACD628A-85BF-A9E6-52F5-606D4957CA39}"/>
              </a:ext>
            </a:extLst>
          </p:cNvPr>
          <p:cNvSpPr/>
          <p:nvPr/>
        </p:nvSpPr>
        <p:spPr>
          <a:xfrm>
            <a:off x="228600" y="495300"/>
            <a:ext cx="1524000" cy="1457826"/>
          </a:xfrm>
          <a:custGeom>
            <a:avLst/>
            <a:gdLst/>
            <a:ahLst/>
            <a:cxnLst/>
            <a:rect l="l" t="t" r="r" b="b"/>
            <a:pathLst>
              <a:path w="3493612" h="3493612">
                <a:moveTo>
                  <a:pt x="0" y="0"/>
                </a:moveTo>
                <a:lnTo>
                  <a:pt x="3493612" y="0"/>
                </a:lnTo>
                <a:lnTo>
                  <a:pt x="3493612" y="3493612"/>
                </a:lnTo>
                <a:lnTo>
                  <a:pt x="0" y="34936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3EE0489-9799-84AD-F633-F680149D21AD}"/>
              </a:ext>
            </a:extLst>
          </p:cNvPr>
          <p:cNvSpPr txBox="1"/>
          <p:nvPr/>
        </p:nvSpPr>
        <p:spPr>
          <a:xfrm>
            <a:off x="1981200" y="1953126"/>
            <a:ext cx="113538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2400" dirty="0"/>
              <a:t>[1] C. K. Joshi, T. Laurent, and X. Bresson, “An Efficient Graph Convolutional Network Technique for the Travelling Salesman Problem,” </a:t>
            </a:r>
            <a:r>
              <a:rPr lang="en-US" altLang="zh-CN" sz="2400" i="1" dirty="0"/>
              <a:t>arXiv.org</a:t>
            </a:r>
            <a:r>
              <a:rPr lang="en-US" altLang="zh-CN" sz="2400" dirty="0"/>
              <a:t>, 2019. https://arxiv.org/abs/1906.01227 (accessed Oct. 26, 2024).</a:t>
            </a:r>
          </a:p>
          <a:p>
            <a:pPr>
              <a:buNone/>
            </a:pPr>
            <a:endParaRPr lang="en-US" altLang="zh-CN" sz="2400" dirty="0"/>
          </a:p>
          <a:p>
            <a:pPr>
              <a:buNone/>
            </a:pPr>
            <a:r>
              <a:rPr lang="en-US" altLang="zh-CN" sz="2400" dirty="0"/>
              <a:t>[2] X. Pan </a:t>
            </a:r>
            <a:r>
              <a:rPr lang="en-US" altLang="zh-CN" sz="2400" i="1" dirty="0"/>
              <a:t>et al.</a:t>
            </a:r>
            <a:r>
              <a:rPr lang="en-US" altLang="zh-CN" sz="2400" dirty="0"/>
              <a:t>, “H-TSP: Hierarchically Solving the Large-Scale Travelling Salesman Problem,” </a:t>
            </a:r>
            <a:r>
              <a:rPr lang="en-US" altLang="zh-CN" sz="2400" i="1" dirty="0"/>
              <a:t>arXiv.org</a:t>
            </a:r>
            <a:r>
              <a:rPr lang="en-US" altLang="zh-CN" sz="2400" dirty="0"/>
              <a:t>, 2023. https://arxiv.org/abs/2304.09395 (accessed May 18, 2025).</a:t>
            </a:r>
          </a:p>
          <a:p>
            <a:pPr>
              <a:buNone/>
            </a:pPr>
            <a:endParaRPr lang="en-US" altLang="zh-CN" sz="2400" dirty="0"/>
          </a:p>
          <a:p>
            <a:r>
              <a:rPr lang="en-US" altLang="zh-CN" sz="2400" dirty="0"/>
              <a:t>[3] J. Jiang, J. Gao, G. Li, C. Wu, and Z. Pei, “Hierarchical Solving Method for Large Scale TSP Problems,” </a:t>
            </a:r>
            <a:r>
              <a:rPr lang="en-US" altLang="zh-CN" sz="2400" i="1" dirty="0"/>
              <a:t>Lecture Notes in Computer Science</a:t>
            </a:r>
            <a:r>
              <a:rPr lang="en-US" altLang="zh-CN" sz="2400" dirty="0"/>
              <a:t>, pp. 252–261, 2014, doi: https://doi.org/10.1007/978-3-319-12436-0_28.</a:t>
            </a:r>
          </a:p>
        </p:txBody>
      </p:sp>
    </p:spTree>
    <p:extLst>
      <p:ext uri="{BB962C8B-B14F-4D97-AF65-F5344CB8AC3E}">
        <p14:creationId xmlns:p14="http://schemas.microsoft.com/office/powerpoint/2010/main" val="376589453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235087-A9DE-3828-6EF8-94BAFC09A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2AEE8B2-F12C-69A9-65C5-438AE77572DA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  <p:txBody>
          <a:bodyPr/>
          <a:lstStyle/>
          <a:p>
            <a:endParaRPr lang="zh-CN" altLang="en-US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DC29677F-7EEE-6486-336E-7360AE1BE2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6347347"/>
              </p:ext>
            </p:extLst>
          </p:nvPr>
        </p:nvGraphicFramePr>
        <p:xfrm>
          <a:off x="6553200" y="140055"/>
          <a:ext cx="8991600" cy="10006889"/>
        </p:xfrm>
        <a:graphic>
          <a:graphicData uri="http://schemas.openxmlformats.org/drawingml/2006/table">
            <a:tbl>
              <a:tblPr/>
              <a:tblGrid>
                <a:gridCol w="1814766">
                  <a:extLst>
                    <a:ext uri="{9D8B030D-6E8A-4147-A177-3AD203B41FA5}">
                      <a16:colId xmlns:a16="http://schemas.microsoft.com/office/drawing/2014/main" val="3542667091"/>
                    </a:ext>
                  </a:extLst>
                </a:gridCol>
                <a:gridCol w="1814766">
                  <a:extLst>
                    <a:ext uri="{9D8B030D-6E8A-4147-A177-3AD203B41FA5}">
                      <a16:colId xmlns:a16="http://schemas.microsoft.com/office/drawing/2014/main" val="1817698529"/>
                    </a:ext>
                  </a:extLst>
                </a:gridCol>
                <a:gridCol w="1814766">
                  <a:extLst>
                    <a:ext uri="{9D8B030D-6E8A-4147-A177-3AD203B41FA5}">
                      <a16:colId xmlns:a16="http://schemas.microsoft.com/office/drawing/2014/main" val="692943847"/>
                    </a:ext>
                  </a:extLst>
                </a:gridCol>
                <a:gridCol w="1814766">
                  <a:extLst>
                    <a:ext uri="{9D8B030D-6E8A-4147-A177-3AD203B41FA5}">
                      <a16:colId xmlns:a16="http://schemas.microsoft.com/office/drawing/2014/main" val="1849742065"/>
                    </a:ext>
                  </a:extLst>
                </a:gridCol>
                <a:gridCol w="1732536">
                  <a:extLst>
                    <a:ext uri="{9D8B030D-6E8A-4147-A177-3AD203B41FA5}">
                      <a16:colId xmlns:a16="http://schemas.microsoft.com/office/drawing/2014/main" val="2535736865"/>
                    </a:ext>
                  </a:extLst>
                </a:gridCol>
              </a:tblGrid>
              <a:tr h="492843"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000" dirty="0">
                          <a:effectLst/>
                        </a:rPr>
                        <a:t>Sorting Algorithm</a:t>
                      </a:r>
                    </a:p>
                  </a:txBody>
                  <a:tcPr marL="1634" marR="1634" marT="1089" marB="1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000" dirty="0">
                          <a:effectLst/>
                        </a:rPr>
                        <a:t>Specific Strategy/Implementation</a:t>
                      </a:r>
                    </a:p>
                  </a:txBody>
                  <a:tcPr marL="1634" marR="1634" marT="1089" marB="1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000" dirty="0">
                          <a:effectLst/>
                        </a:rPr>
                        <a:t>Data Container</a:t>
                      </a:r>
                    </a:p>
                  </a:txBody>
                  <a:tcPr marL="1634" marR="1634" marT="1089" marB="1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000" dirty="0">
                          <a:effectLst/>
                        </a:rPr>
                        <a:t>Initial Data Order</a:t>
                      </a:r>
                    </a:p>
                  </a:txBody>
                  <a:tcPr marL="1634" marR="1634" marT="1089" marB="1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GB" sz="1000" dirty="0">
                          <a:effectLst/>
                        </a:rPr>
                        <a:t>Empirical Time Complexity</a:t>
                      </a:r>
                    </a:p>
                  </a:txBody>
                  <a:tcPr marL="0" marR="0" marT="1089" marB="1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4996596"/>
                  </a:ext>
                </a:extLst>
              </a:tr>
              <a:tr h="185464">
                <a:tc>
                  <a:txBody>
                    <a:bodyPr/>
                    <a:lstStyle/>
                    <a:p>
                      <a:pPr rtl="0" fontAlgn="b"/>
                      <a:r>
                        <a:rPr lang="en-GB" sz="1000" dirty="0">
                          <a:effectLst/>
                        </a:rPr>
                        <a:t>Insertion Sort</a:t>
                      </a:r>
                    </a:p>
                  </a:txBody>
                  <a:tcPr marL="1634" marR="1634" marT="1089" marB="1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GB" sz="1000">
                          <a:effectLst/>
                        </a:rPr>
                        <a:t>InsertionSortArray</a:t>
                      </a:r>
                    </a:p>
                  </a:txBody>
                  <a:tcPr marL="1634" marR="1634" marT="1089" marB="1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GB" sz="1000">
                          <a:effectLst/>
                        </a:rPr>
                        <a:t>String[]</a:t>
                      </a:r>
                    </a:p>
                  </a:txBody>
                  <a:tcPr marL="1634" marR="1634" marT="1089" marB="1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GB" sz="1000" dirty="0">
                          <a:effectLst/>
                        </a:rPr>
                        <a:t>Sorted</a:t>
                      </a:r>
                    </a:p>
                  </a:txBody>
                  <a:tcPr marL="1634" marR="1634" marT="1089" marB="1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GB" sz="1000">
                          <a:effectLst/>
                        </a:rPr>
                        <a:t>O(n)</a:t>
                      </a:r>
                    </a:p>
                  </a:txBody>
                  <a:tcPr marL="1634" marR="1634" marT="1089" marB="1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2487902"/>
                  </a:ext>
                </a:extLst>
              </a:tr>
              <a:tr h="185464">
                <a:tc>
                  <a:txBody>
                    <a:bodyPr/>
                    <a:lstStyle/>
                    <a:p>
                      <a:pPr rtl="0" fontAlgn="b"/>
                      <a:endParaRPr lang="zh-CN" altLang="en-US" sz="1000" dirty="0">
                        <a:effectLst/>
                      </a:endParaRPr>
                    </a:p>
                  </a:txBody>
                  <a:tcPr marL="1634" marR="1634" marT="1089" marB="1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GB" sz="1000">
                          <a:effectLst/>
                        </a:rPr>
                        <a:t>InsertionSortArray</a:t>
                      </a:r>
                    </a:p>
                  </a:txBody>
                  <a:tcPr marL="1634" marR="1634" marT="1089" marB="1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GB" sz="1000">
                          <a:effectLst/>
                        </a:rPr>
                        <a:t>String[]</a:t>
                      </a:r>
                    </a:p>
                  </a:txBody>
                  <a:tcPr marL="1634" marR="1634" marT="1089" marB="1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GB" sz="1000" dirty="0">
                          <a:effectLst/>
                        </a:rPr>
                        <a:t>Random</a:t>
                      </a:r>
                    </a:p>
                  </a:txBody>
                  <a:tcPr marL="1634" marR="1634" marT="1089" marB="1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GB" sz="1000">
                          <a:effectLst/>
                        </a:rPr>
                        <a:t>O(n^2)</a:t>
                      </a:r>
                    </a:p>
                  </a:txBody>
                  <a:tcPr marL="1634" marR="1634" marT="1089" marB="1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0941749"/>
                  </a:ext>
                </a:extLst>
              </a:tr>
              <a:tr h="358382">
                <a:tc>
                  <a:txBody>
                    <a:bodyPr/>
                    <a:lstStyle/>
                    <a:p>
                      <a:pPr rtl="0" fontAlgn="b"/>
                      <a:endParaRPr lang="zh-CN" altLang="en-US" sz="1000">
                        <a:effectLst/>
                      </a:endParaRPr>
                    </a:p>
                  </a:txBody>
                  <a:tcPr marL="1634" marR="1634" marT="1089" marB="1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GB" sz="1000" dirty="0" err="1">
                          <a:effectLst/>
                        </a:rPr>
                        <a:t>InsertionSortList</a:t>
                      </a:r>
                      <a:r>
                        <a:rPr lang="en-GB" sz="1000" dirty="0">
                          <a:effectLst/>
                        </a:rPr>
                        <a:t> (get/set</a:t>
                      </a:r>
                      <a:r>
                        <a:rPr lang="en-US" altLang="zh-CN" sz="1000" dirty="0">
                          <a:effectLst/>
                        </a:rPr>
                        <a:t>)</a:t>
                      </a:r>
                    </a:p>
                  </a:txBody>
                  <a:tcPr marL="1634" marR="1634" marT="1089" marB="1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GB" sz="1000">
                          <a:effectLst/>
                        </a:rPr>
                        <a:t>ArrayList&lt;String&gt;</a:t>
                      </a:r>
                    </a:p>
                  </a:txBody>
                  <a:tcPr marL="1634" marR="1634" marT="1089" marB="1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GB" sz="1000" dirty="0">
                          <a:effectLst/>
                        </a:rPr>
                        <a:t>Sorted</a:t>
                      </a:r>
                    </a:p>
                  </a:txBody>
                  <a:tcPr marL="1634" marR="1634" marT="1089" marB="1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GB" sz="1000" dirty="0">
                          <a:effectLst/>
                        </a:rPr>
                        <a:t>O(n)</a:t>
                      </a:r>
                    </a:p>
                  </a:txBody>
                  <a:tcPr marL="1634" marR="1634" marT="1089" marB="1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9588857"/>
                  </a:ext>
                </a:extLst>
              </a:tr>
              <a:tr h="358382">
                <a:tc>
                  <a:txBody>
                    <a:bodyPr/>
                    <a:lstStyle/>
                    <a:p>
                      <a:pPr rtl="0" fontAlgn="b"/>
                      <a:endParaRPr lang="zh-CN" altLang="en-US" sz="1000">
                        <a:effectLst/>
                      </a:endParaRPr>
                    </a:p>
                  </a:txBody>
                  <a:tcPr marL="1634" marR="1634" marT="1089" marB="1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GB" sz="1000" dirty="0" err="1">
                          <a:effectLst/>
                        </a:rPr>
                        <a:t>InsertionSortList</a:t>
                      </a:r>
                      <a:r>
                        <a:rPr lang="en-GB" sz="1000" dirty="0">
                          <a:effectLst/>
                        </a:rPr>
                        <a:t> (get/set</a:t>
                      </a:r>
                      <a:r>
                        <a:rPr lang="en-US" altLang="zh-CN" sz="1000" dirty="0">
                          <a:effectLst/>
                        </a:rPr>
                        <a:t>)</a:t>
                      </a:r>
                    </a:p>
                  </a:txBody>
                  <a:tcPr marL="1634" marR="1634" marT="1089" marB="1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GB" sz="1000">
                          <a:effectLst/>
                        </a:rPr>
                        <a:t>ArrayList&lt;String&gt;</a:t>
                      </a:r>
                    </a:p>
                  </a:txBody>
                  <a:tcPr marL="1634" marR="1634" marT="1089" marB="1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GB" sz="1000" dirty="0">
                          <a:effectLst/>
                        </a:rPr>
                        <a:t>Random</a:t>
                      </a:r>
                    </a:p>
                  </a:txBody>
                  <a:tcPr marL="1634" marR="1634" marT="1089" marB="1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GB" sz="1000">
                          <a:effectLst/>
                        </a:rPr>
                        <a:t>O(n^2)</a:t>
                      </a:r>
                    </a:p>
                  </a:txBody>
                  <a:tcPr marL="1634" marR="1634" marT="1089" marB="1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6709294"/>
                  </a:ext>
                </a:extLst>
              </a:tr>
              <a:tr h="536300">
                <a:tc>
                  <a:txBody>
                    <a:bodyPr/>
                    <a:lstStyle/>
                    <a:p>
                      <a:pPr rtl="0" fontAlgn="b"/>
                      <a:endParaRPr lang="zh-CN" altLang="en-US" sz="1000">
                        <a:effectLst/>
                      </a:endParaRPr>
                    </a:p>
                  </a:txBody>
                  <a:tcPr marL="1634" marR="1634" marT="1089" marB="1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GB" sz="1000" dirty="0" err="1">
                          <a:effectLst/>
                        </a:rPr>
                        <a:t>InsertionSortList</a:t>
                      </a:r>
                      <a:r>
                        <a:rPr lang="en-GB" sz="1000" dirty="0">
                          <a:effectLst/>
                        </a:rPr>
                        <a:t> (</a:t>
                      </a:r>
                      <a:r>
                        <a:rPr lang="en-GB" sz="1000" dirty="0" err="1">
                          <a:effectLst/>
                        </a:rPr>
                        <a:t>ListIterator</a:t>
                      </a:r>
                      <a:r>
                        <a:rPr lang="en-US" altLang="zh-CN" sz="1000" dirty="0">
                          <a:effectLst/>
                        </a:rPr>
                        <a:t>)</a:t>
                      </a:r>
                    </a:p>
                  </a:txBody>
                  <a:tcPr marL="1634" marR="1634" marT="1089" marB="1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GB" sz="1000">
                          <a:effectLst/>
                        </a:rPr>
                        <a:t>LinkedList&lt;String&gt;</a:t>
                      </a:r>
                    </a:p>
                  </a:txBody>
                  <a:tcPr marL="1634" marR="1634" marT="1089" marB="1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000" dirty="0">
                          <a:effectLst/>
                        </a:rPr>
                        <a:t>S</a:t>
                      </a:r>
                      <a:r>
                        <a:rPr lang="en-GB" sz="1000" dirty="0" err="1">
                          <a:effectLst/>
                        </a:rPr>
                        <a:t>orted</a:t>
                      </a:r>
                      <a:endParaRPr lang="en-GB" sz="1000" dirty="0">
                        <a:effectLst/>
                      </a:endParaRPr>
                    </a:p>
                  </a:txBody>
                  <a:tcPr marL="1634" marR="1634" marT="1089" marB="1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GB" sz="1000">
                          <a:effectLst/>
                        </a:rPr>
                        <a:t>O(n^2)</a:t>
                      </a:r>
                    </a:p>
                  </a:txBody>
                  <a:tcPr marL="1634" marR="1634" marT="1089" marB="1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1185947"/>
                  </a:ext>
                </a:extLst>
              </a:tr>
              <a:tr h="536300">
                <a:tc>
                  <a:txBody>
                    <a:bodyPr/>
                    <a:lstStyle/>
                    <a:p>
                      <a:pPr rtl="0" fontAlgn="b"/>
                      <a:endParaRPr lang="zh-CN" altLang="en-US" sz="1000">
                        <a:effectLst/>
                      </a:endParaRPr>
                    </a:p>
                  </a:txBody>
                  <a:tcPr marL="1634" marR="1634" marT="1089" marB="1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GB" sz="1000" dirty="0" err="1">
                          <a:effectLst/>
                        </a:rPr>
                        <a:t>InsertionSortList</a:t>
                      </a:r>
                      <a:r>
                        <a:rPr lang="en-GB" sz="1000" dirty="0">
                          <a:effectLst/>
                        </a:rPr>
                        <a:t> (</a:t>
                      </a:r>
                      <a:r>
                        <a:rPr lang="en-GB" sz="1000" dirty="0" err="1">
                          <a:effectLst/>
                        </a:rPr>
                        <a:t>ListIterator</a:t>
                      </a:r>
                      <a:r>
                        <a:rPr lang="en-US" altLang="zh-CN" sz="1000" dirty="0">
                          <a:effectLst/>
                        </a:rPr>
                        <a:t>)</a:t>
                      </a:r>
                    </a:p>
                  </a:txBody>
                  <a:tcPr marL="1634" marR="1634" marT="1089" marB="1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GB" sz="1000">
                          <a:effectLst/>
                        </a:rPr>
                        <a:t>LinkedList&lt;String&gt;</a:t>
                      </a:r>
                    </a:p>
                  </a:txBody>
                  <a:tcPr marL="1634" marR="1634" marT="1089" marB="1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GB" sz="1000" dirty="0">
                          <a:effectLst/>
                        </a:rPr>
                        <a:t>Random</a:t>
                      </a:r>
                    </a:p>
                  </a:txBody>
                  <a:tcPr marL="1634" marR="1634" marT="1089" marB="1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GB" sz="1000">
                          <a:effectLst/>
                        </a:rPr>
                        <a:t>O(n^2)</a:t>
                      </a:r>
                    </a:p>
                  </a:txBody>
                  <a:tcPr marL="1634" marR="1634" marT="1089" marB="1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4290809"/>
                  </a:ext>
                </a:extLst>
              </a:tr>
              <a:tr h="551166">
                <a:tc>
                  <a:txBody>
                    <a:bodyPr/>
                    <a:lstStyle/>
                    <a:p>
                      <a:pPr rtl="0" fontAlgn="b"/>
                      <a:r>
                        <a:rPr lang="en-GB" sz="1000" dirty="0">
                          <a:effectLst/>
                        </a:rPr>
                        <a:t>Quick Sort</a:t>
                      </a:r>
                    </a:p>
                  </a:txBody>
                  <a:tcPr marL="1634" marR="1634" marT="1089" marB="1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GB" sz="1000">
                          <a:effectLst/>
                        </a:rPr>
                        <a:t>QuickSortArray (PivotStrategy.LAST_ELEMENT)</a:t>
                      </a:r>
                    </a:p>
                  </a:txBody>
                  <a:tcPr marL="1634" marR="1634" marT="1089" marB="1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GB" sz="1000">
                          <a:effectLst/>
                        </a:rPr>
                        <a:t>String[]</a:t>
                      </a:r>
                    </a:p>
                  </a:txBody>
                  <a:tcPr marL="1634" marR="1634" marT="1089" marB="1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GB" sz="1000" dirty="0">
                          <a:effectLst/>
                        </a:rPr>
                        <a:t>Sorted</a:t>
                      </a:r>
                    </a:p>
                  </a:txBody>
                  <a:tcPr marL="1634" marR="1634" marT="1089" marB="1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GB" sz="1000">
                          <a:effectLst/>
                        </a:rPr>
                        <a:t>O(n^2)</a:t>
                      </a:r>
                    </a:p>
                  </a:txBody>
                  <a:tcPr marL="1634" marR="1634" marT="1089" marB="1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769681"/>
                  </a:ext>
                </a:extLst>
              </a:tr>
              <a:tr h="551166">
                <a:tc>
                  <a:txBody>
                    <a:bodyPr/>
                    <a:lstStyle/>
                    <a:p>
                      <a:pPr rtl="0" fontAlgn="b"/>
                      <a:endParaRPr lang="zh-CN" altLang="en-US" sz="1000">
                        <a:effectLst/>
                      </a:endParaRPr>
                    </a:p>
                  </a:txBody>
                  <a:tcPr marL="1634" marR="1634" marT="1089" marB="1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GB" sz="1000">
                          <a:effectLst/>
                        </a:rPr>
                        <a:t>QuickSortArray (PivotStrategy.LAST_ELEMENT)</a:t>
                      </a:r>
                    </a:p>
                  </a:txBody>
                  <a:tcPr marL="1634" marR="1634" marT="1089" marB="1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GB" sz="1000">
                          <a:effectLst/>
                        </a:rPr>
                        <a:t>String[]</a:t>
                      </a:r>
                    </a:p>
                  </a:txBody>
                  <a:tcPr marL="1634" marR="1634" marT="1089" marB="1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GB" sz="1000" dirty="0">
                          <a:effectLst/>
                        </a:rPr>
                        <a:t>Random</a:t>
                      </a:r>
                    </a:p>
                  </a:txBody>
                  <a:tcPr marL="1634" marR="1634" marT="1089" marB="1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GB" sz="1000">
                          <a:effectLst/>
                        </a:rPr>
                        <a:t>O(n log n)</a:t>
                      </a:r>
                    </a:p>
                  </a:txBody>
                  <a:tcPr marL="1634" marR="1634" marT="1089" marB="1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1308910"/>
                  </a:ext>
                </a:extLst>
              </a:tr>
              <a:tr h="551166">
                <a:tc>
                  <a:txBody>
                    <a:bodyPr/>
                    <a:lstStyle/>
                    <a:p>
                      <a:pPr rtl="0" fontAlgn="b"/>
                      <a:endParaRPr lang="zh-CN" altLang="en-US" sz="1000">
                        <a:effectLst/>
                      </a:endParaRPr>
                    </a:p>
                  </a:txBody>
                  <a:tcPr marL="1634" marR="1634" marT="1089" marB="1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000">
                          <a:effectLst/>
                        </a:rPr>
                        <a:t>QuickSortArray (PivotStrategy.MEDIAN_OF_THREE)</a:t>
                      </a:r>
                    </a:p>
                  </a:txBody>
                  <a:tcPr marL="1634" marR="1634" marT="1089" marB="1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GB" sz="1000">
                          <a:effectLst/>
                        </a:rPr>
                        <a:t>String[]</a:t>
                      </a:r>
                    </a:p>
                  </a:txBody>
                  <a:tcPr marL="1634" marR="1634" marT="1089" marB="1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000" dirty="0">
                          <a:effectLst/>
                        </a:rPr>
                        <a:t>S</a:t>
                      </a:r>
                      <a:r>
                        <a:rPr lang="en-GB" sz="1000" dirty="0" err="1">
                          <a:effectLst/>
                        </a:rPr>
                        <a:t>orted</a:t>
                      </a:r>
                      <a:endParaRPr lang="en-GB" sz="1000" dirty="0">
                        <a:effectLst/>
                      </a:endParaRPr>
                    </a:p>
                  </a:txBody>
                  <a:tcPr marL="1634" marR="1634" marT="1089" marB="1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GB" sz="1000">
                          <a:effectLst/>
                        </a:rPr>
                        <a:t>O(n log n)</a:t>
                      </a:r>
                    </a:p>
                  </a:txBody>
                  <a:tcPr marL="1634" marR="1634" marT="1089" marB="1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9487479"/>
                  </a:ext>
                </a:extLst>
              </a:tr>
              <a:tr h="551166">
                <a:tc>
                  <a:txBody>
                    <a:bodyPr/>
                    <a:lstStyle/>
                    <a:p>
                      <a:pPr rtl="0" fontAlgn="b"/>
                      <a:endParaRPr lang="zh-CN" altLang="en-US" sz="1000">
                        <a:effectLst/>
                      </a:endParaRPr>
                    </a:p>
                  </a:txBody>
                  <a:tcPr marL="1634" marR="1634" marT="1089" marB="1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000">
                          <a:effectLst/>
                        </a:rPr>
                        <a:t>QuickSortArray (PivotStrategy.MEDIAN_OF_THREE)</a:t>
                      </a:r>
                    </a:p>
                  </a:txBody>
                  <a:tcPr marL="1634" marR="1634" marT="1089" marB="1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GB" sz="1000">
                          <a:effectLst/>
                        </a:rPr>
                        <a:t>String[]</a:t>
                      </a:r>
                    </a:p>
                  </a:txBody>
                  <a:tcPr marL="1634" marR="1634" marT="1089" marB="1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GB" sz="1000" dirty="0">
                          <a:effectLst/>
                        </a:rPr>
                        <a:t>Random</a:t>
                      </a:r>
                    </a:p>
                  </a:txBody>
                  <a:tcPr marL="1634" marR="1634" marT="1089" marB="1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GB" sz="1000">
                          <a:effectLst/>
                        </a:rPr>
                        <a:t>O(n log n)</a:t>
                      </a:r>
                    </a:p>
                  </a:txBody>
                  <a:tcPr marL="1634" marR="1634" marT="1089" marB="1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5667446"/>
                  </a:ext>
                </a:extLst>
              </a:tr>
              <a:tr h="368315">
                <a:tc>
                  <a:txBody>
                    <a:bodyPr/>
                    <a:lstStyle/>
                    <a:p>
                      <a:pPr rtl="0" fontAlgn="b"/>
                      <a:endParaRPr lang="zh-CN" altLang="en-US" sz="1000">
                        <a:effectLst/>
                      </a:endParaRPr>
                    </a:p>
                  </a:txBody>
                  <a:tcPr marL="1634" marR="1634" marT="1089" marB="1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GB" sz="1000">
                          <a:effectLst/>
                        </a:rPr>
                        <a:t>QuickSortArray (PivotStrategy.RANDOM)</a:t>
                      </a:r>
                    </a:p>
                  </a:txBody>
                  <a:tcPr marL="1634" marR="1634" marT="1089" marB="1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GB" sz="1000">
                          <a:effectLst/>
                        </a:rPr>
                        <a:t>String[]</a:t>
                      </a:r>
                    </a:p>
                  </a:txBody>
                  <a:tcPr marL="1634" marR="1634" marT="1089" marB="1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GB" sz="1000" dirty="0">
                          <a:effectLst/>
                        </a:rPr>
                        <a:t>Sorted</a:t>
                      </a:r>
                    </a:p>
                  </a:txBody>
                  <a:tcPr marL="1634" marR="1634" marT="1089" marB="1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GB" sz="1000">
                          <a:effectLst/>
                        </a:rPr>
                        <a:t>O(n log n)</a:t>
                      </a:r>
                    </a:p>
                  </a:txBody>
                  <a:tcPr marL="1634" marR="1634" marT="1089" marB="1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7512155"/>
                  </a:ext>
                </a:extLst>
              </a:tr>
              <a:tr h="368315">
                <a:tc>
                  <a:txBody>
                    <a:bodyPr/>
                    <a:lstStyle/>
                    <a:p>
                      <a:pPr rtl="0" fontAlgn="b"/>
                      <a:endParaRPr lang="zh-CN" altLang="en-US" sz="1000">
                        <a:effectLst/>
                      </a:endParaRPr>
                    </a:p>
                  </a:txBody>
                  <a:tcPr marL="1634" marR="1634" marT="1089" marB="1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GB" sz="1000">
                          <a:effectLst/>
                        </a:rPr>
                        <a:t>QuickSortArray (PivotStrategy.RANDOM)</a:t>
                      </a:r>
                    </a:p>
                  </a:txBody>
                  <a:tcPr marL="1634" marR="1634" marT="1089" marB="1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GB" sz="1000">
                          <a:effectLst/>
                        </a:rPr>
                        <a:t>String[]</a:t>
                      </a:r>
                    </a:p>
                  </a:txBody>
                  <a:tcPr marL="1634" marR="1634" marT="1089" marB="1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GB" sz="1000" dirty="0">
                          <a:effectLst/>
                        </a:rPr>
                        <a:t>Random</a:t>
                      </a:r>
                    </a:p>
                  </a:txBody>
                  <a:tcPr marL="1634" marR="1634" marT="1089" marB="1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GB" sz="1000">
                          <a:effectLst/>
                        </a:rPr>
                        <a:t>O(n log n)</a:t>
                      </a:r>
                    </a:p>
                  </a:txBody>
                  <a:tcPr marL="1634" marR="1634" marT="1089" marB="1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4451534"/>
                  </a:ext>
                </a:extLst>
              </a:tr>
              <a:tr h="551166">
                <a:tc>
                  <a:txBody>
                    <a:bodyPr/>
                    <a:lstStyle/>
                    <a:p>
                      <a:pPr rtl="0" fontAlgn="b"/>
                      <a:endParaRPr lang="zh-CN" altLang="en-US" sz="1000">
                        <a:effectLst/>
                      </a:endParaRPr>
                    </a:p>
                  </a:txBody>
                  <a:tcPr marL="1634" marR="1634" marT="1089" marB="1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GB" sz="1000">
                          <a:effectLst/>
                        </a:rPr>
                        <a:t>QuickSortList (PivotStrategy.LAST_ELEMENT)</a:t>
                      </a:r>
                    </a:p>
                  </a:txBody>
                  <a:tcPr marL="1634" marR="1634" marT="1089" marB="1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GB" sz="1000" dirty="0" err="1">
                          <a:effectLst/>
                        </a:rPr>
                        <a:t>ArrayList</a:t>
                      </a:r>
                      <a:r>
                        <a:rPr lang="en-GB" sz="1000" dirty="0">
                          <a:effectLst/>
                        </a:rPr>
                        <a:t>&lt;String&gt;</a:t>
                      </a:r>
                    </a:p>
                  </a:txBody>
                  <a:tcPr marL="1634" marR="1634" marT="1089" marB="1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GB" sz="1000" dirty="0">
                          <a:effectLst/>
                        </a:rPr>
                        <a:t>Sorted</a:t>
                      </a:r>
                    </a:p>
                  </a:txBody>
                  <a:tcPr marL="1634" marR="1634" marT="1089" marB="1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GB" sz="1000">
                          <a:effectLst/>
                        </a:rPr>
                        <a:t>O(n^2)</a:t>
                      </a:r>
                    </a:p>
                  </a:txBody>
                  <a:tcPr marL="1634" marR="1634" marT="1089" marB="1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8728699"/>
                  </a:ext>
                </a:extLst>
              </a:tr>
              <a:tr h="551166">
                <a:tc>
                  <a:txBody>
                    <a:bodyPr/>
                    <a:lstStyle/>
                    <a:p>
                      <a:pPr rtl="0" fontAlgn="b"/>
                      <a:endParaRPr lang="zh-CN" altLang="en-US" sz="1000">
                        <a:effectLst/>
                      </a:endParaRPr>
                    </a:p>
                  </a:txBody>
                  <a:tcPr marL="1634" marR="1634" marT="1089" marB="1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GB" sz="1000">
                          <a:effectLst/>
                        </a:rPr>
                        <a:t>QuickSortList (PivotStrategy.LAST_ELEMENT)</a:t>
                      </a:r>
                    </a:p>
                  </a:txBody>
                  <a:tcPr marL="1634" marR="1634" marT="1089" marB="1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GB" sz="1000" dirty="0" err="1">
                          <a:effectLst/>
                        </a:rPr>
                        <a:t>ArrayList</a:t>
                      </a:r>
                      <a:r>
                        <a:rPr lang="en-GB" sz="1000" dirty="0">
                          <a:effectLst/>
                        </a:rPr>
                        <a:t>&lt;String&gt;</a:t>
                      </a:r>
                    </a:p>
                  </a:txBody>
                  <a:tcPr marL="1634" marR="1634" marT="1089" marB="1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GB" sz="1000" dirty="0">
                          <a:effectLst/>
                        </a:rPr>
                        <a:t>Random</a:t>
                      </a:r>
                    </a:p>
                  </a:txBody>
                  <a:tcPr marL="1634" marR="1634" marT="1089" marB="1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GB" sz="1000">
                          <a:effectLst/>
                        </a:rPr>
                        <a:t>O(n log n)</a:t>
                      </a:r>
                    </a:p>
                  </a:txBody>
                  <a:tcPr marL="1634" marR="1634" marT="1089" marB="1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3131393"/>
                  </a:ext>
                </a:extLst>
              </a:tr>
              <a:tr h="551166">
                <a:tc>
                  <a:txBody>
                    <a:bodyPr/>
                    <a:lstStyle/>
                    <a:p>
                      <a:pPr rtl="0" fontAlgn="b"/>
                      <a:endParaRPr lang="zh-CN" altLang="en-US" sz="1000">
                        <a:effectLst/>
                      </a:endParaRPr>
                    </a:p>
                  </a:txBody>
                  <a:tcPr marL="1634" marR="1634" marT="1089" marB="1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000">
                          <a:effectLst/>
                        </a:rPr>
                        <a:t>QuickSortList (PivotStrategy.MEDIAN_OF_THREE)</a:t>
                      </a:r>
                    </a:p>
                  </a:txBody>
                  <a:tcPr marL="1634" marR="1634" marT="1089" marB="1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GB" sz="1000">
                          <a:effectLst/>
                        </a:rPr>
                        <a:t>ArrayList&lt;String&gt;</a:t>
                      </a:r>
                    </a:p>
                  </a:txBody>
                  <a:tcPr marL="1634" marR="1634" marT="1089" marB="1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GB" sz="1000" dirty="0">
                          <a:effectLst/>
                        </a:rPr>
                        <a:t>Sorted</a:t>
                      </a:r>
                    </a:p>
                  </a:txBody>
                  <a:tcPr marL="1634" marR="1634" marT="1089" marB="1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GB" sz="1000" dirty="0">
                          <a:effectLst/>
                        </a:rPr>
                        <a:t>O(n log n)</a:t>
                      </a:r>
                    </a:p>
                  </a:txBody>
                  <a:tcPr marL="1634" marR="1634" marT="1089" marB="1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6251201"/>
                  </a:ext>
                </a:extLst>
              </a:tr>
              <a:tr h="551166">
                <a:tc>
                  <a:txBody>
                    <a:bodyPr/>
                    <a:lstStyle/>
                    <a:p>
                      <a:pPr rtl="0" fontAlgn="b"/>
                      <a:endParaRPr lang="zh-CN" altLang="en-US" sz="1000">
                        <a:effectLst/>
                      </a:endParaRPr>
                    </a:p>
                  </a:txBody>
                  <a:tcPr marL="1634" marR="1634" marT="1089" marB="1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000">
                          <a:effectLst/>
                        </a:rPr>
                        <a:t>QuickSortList (PivotStrategy.MEDIAN_OF_THREE)</a:t>
                      </a:r>
                    </a:p>
                  </a:txBody>
                  <a:tcPr marL="1634" marR="1634" marT="1089" marB="1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GB" sz="1000" dirty="0" err="1">
                          <a:effectLst/>
                        </a:rPr>
                        <a:t>ArrayList</a:t>
                      </a:r>
                      <a:r>
                        <a:rPr lang="en-GB" sz="1000" dirty="0">
                          <a:effectLst/>
                        </a:rPr>
                        <a:t>&lt;String&gt;</a:t>
                      </a:r>
                    </a:p>
                  </a:txBody>
                  <a:tcPr marL="1634" marR="1634" marT="1089" marB="1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GB" sz="1000" dirty="0">
                          <a:effectLst/>
                        </a:rPr>
                        <a:t>Random</a:t>
                      </a:r>
                    </a:p>
                  </a:txBody>
                  <a:tcPr marL="1634" marR="1634" marT="1089" marB="1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GB" sz="1000">
                          <a:effectLst/>
                        </a:rPr>
                        <a:t>O(n log n)</a:t>
                      </a:r>
                    </a:p>
                  </a:txBody>
                  <a:tcPr marL="1634" marR="1634" marT="1089" marB="1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4685234"/>
                  </a:ext>
                </a:extLst>
              </a:tr>
              <a:tr h="368315">
                <a:tc>
                  <a:txBody>
                    <a:bodyPr/>
                    <a:lstStyle/>
                    <a:p>
                      <a:pPr rtl="0" fontAlgn="b"/>
                      <a:endParaRPr lang="zh-CN" altLang="en-US" sz="1000">
                        <a:effectLst/>
                      </a:endParaRPr>
                    </a:p>
                  </a:txBody>
                  <a:tcPr marL="1634" marR="1634" marT="1089" marB="1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GB" sz="1000">
                          <a:effectLst/>
                        </a:rPr>
                        <a:t>QuickSortList (PivotStrategy.RANDOM)</a:t>
                      </a:r>
                    </a:p>
                  </a:txBody>
                  <a:tcPr marL="1634" marR="1634" marT="1089" marB="1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GB" sz="1000">
                          <a:effectLst/>
                        </a:rPr>
                        <a:t>ArrayList&lt;String&gt;</a:t>
                      </a:r>
                    </a:p>
                  </a:txBody>
                  <a:tcPr marL="1634" marR="1634" marT="1089" marB="1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GB" sz="1000" dirty="0">
                          <a:effectLst/>
                        </a:rPr>
                        <a:t>Sorted</a:t>
                      </a:r>
                    </a:p>
                  </a:txBody>
                  <a:tcPr marL="1634" marR="1634" marT="1089" marB="1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GB" sz="1000">
                          <a:effectLst/>
                        </a:rPr>
                        <a:t>O(n log n)</a:t>
                      </a:r>
                    </a:p>
                  </a:txBody>
                  <a:tcPr marL="1634" marR="1634" marT="1089" marB="1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7308487"/>
                  </a:ext>
                </a:extLst>
              </a:tr>
              <a:tr h="368315">
                <a:tc>
                  <a:txBody>
                    <a:bodyPr/>
                    <a:lstStyle/>
                    <a:p>
                      <a:pPr rtl="0" fontAlgn="b"/>
                      <a:endParaRPr lang="zh-CN" altLang="en-US" sz="1000">
                        <a:effectLst/>
                      </a:endParaRPr>
                    </a:p>
                  </a:txBody>
                  <a:tcPr marL="1634" marR="1634" marT="1089" marB="1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GB" sz="1000">
                          <a:effectLst/>
                        </a:rPr>
                        <a:t>QuickSortList (PivotStrategy.RANDOM)</a:t>
                      </a:r>
                    </a:p>
                  </a:txBody>
                  <a:tcPr marL="1634" marR="1634" marT="1089" marB="1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GB" sz="1000">
                          <a:effectLst/>
                        </a:rPr>
                        <a:t>ArrayList&lt;String&gt;</a:t>
                      </a:r>
                    </a:p>
                  </a:txBody>
                  <a:tcPr marL="1634" marR="1634" marT="1089" marB="1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GB" sz="1000" dirty="0">
                          <a:effectLst/>
                        </a:rPr>
                        <a:t>Random</a:t>
                      </a:r>
                    </a:p>
                  </a:txBody>
                  <a:tcPr marL="1634" marR="1634" marT="1089" marB="1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GB" sz="1000" dirty="0">
                          <a:effectLst/>
                        </a:rPr>
                        <a:t>O(n log n)</a:t>
                      </a:r>
                    </a:p>
                  </a:txBody>
                  <a:tcPr marL="1634" marR="1634" marT="1089" marB="1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9696573"/>
                  </a:ext>
                </a:extLst>
              </a:tr>
              <a:tr h="358382">
                <a:tc>
                  <a:txBody>
                    <a:bodyPr/>
                    <a:lstStyle/>
                    <a:p>
                      <a:pPr rtl="0" fontAlgn="b"/>
                      <a:endParaRPr lang="zh-CN" altLang="en-US" sz="1000">
                        <a:effectLst/>
                      </a:endParaRPr>
                    </a:p>
                  </a:txBody>
                  <a:tcPr marL="1634" marR="1634" marT="1089" marB="1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GB" sz="1000">
                          <a:effectLst/>
                        </a:rPr>
                        <a:t>QuickSortLinkedListStub</a:t>
                      </a:r>
                    </a:p>
                  </a:txBody>
                  <a:tcPr marL="1634" marR="1634" marT="1089" marB="1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GB" sz="1000">
                          <a:effectLst/>
                        </a:rPr>
                        <a:t>LinkedList&lt;String&gt;</a:t>
                      </a:r>
                    </a:p>
                  </a:txBody>
                  <a:tcPr marL="1634" marR="1634" marT="1089" marB="1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GB" sz="1000" dirty="0">
                          <a:effectLst/>
                        </a:rPr>
                        <a:t>Any</a:t>
                      </a:r>
                    </a:p>
                  </a:txBody>
                  <a:tcPr marL="1634" marR="1634" marT="1089" marB="1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pt-BR" sz="1000" dirty="0">
                          <a:effectLst/>
                        </a:rPr>
                        <a:t>N/A - Stub, No Sort</a:t>
                      </a:r>
                    </a:p>
                  </a:txBody>
                  <a:tcPr marL="0" marR="0" marT="1089" marB="1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4768314"/>
                  </a:ext>
                </a:extLst>
              </a:tr>
              <a:tr h="185464">
                <a:tc>
                  <a:txBody>
                    <a:bodyPr/>
                    <a:lstStyle/>
                    <a:p>
                      <a:pPr rtl="0" fontAlgn="b"/>
                      <a:r>
                        <a:rPr lang="en-GB" sz="1000" dirty="0">
                          <a:effectLst/>
                        </a:rPr>
                        <a:t>Merge Sort</a:t>
                      </a:r>
                    </a:p>
                  </a:txBody>
                  <a:tcPr marL="1634" marR="1634" marT="1089" marB="1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GB" sz="1000">
                          <a:effectLst/>
                        </a:rPr>
                        <a:t>MergeSortArray</a:t>
                      </a:r>
                    </a:p>
                  </a:txBody>
                  <a:tcPr marL="1634" marR="1634" marT="1089" marB="1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GB" sz="1000" dirty="0">
                          <a:effectLst/>
                        </a:rPr>
                        <a:t>String[]</a:t>
                      </a:r>
                    </a:p>
                  </a:txBody>
                  <a:tcPr marL="1634" marR="1634" marT="1089" marB="1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GB" sz="1000" dirty="0">
                          <a:effectLst/>
                        </a:rPr>
                        <a:t>Sorted</a:t>
                      </a:r>
                    </a:p>
                  </a:txBody>
                  <a:tcPr marL="1634" marR="1634" marT="1089" marB="1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GB" sz="1000">
                          <a:effectLst/>
                        </a:rPr>
                        <a:t>O(n log n)</a:t>
                      </a:r>
                    </a:p>
                  </a:txBody>
                  <a:tcPr marL="1634" marR="1634" marT="1089" marB="1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9353310"/>
                  </a:ext>
                </a:extLst>
              </a:tr>
              <a:tr h="185464">
                <a:tc>
                  <a:txBody>
                    <a:bodyPr/>
                    <a:lstStyle/>
                    <a:p>
                      <a:pPr rtl="0" fontAlgn="b"/>
                      <a:endParaRPr lang="zh-CN" altLang="en-US" sz="1000">
                        <a:effectLst/>
                      </a:endParaRPr>
                    </a:p>
                  </a:txBody>
                  <a:tcPr marL="1634" marR="1634" marT="1089" marB="1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GB" sz="1000">
                          <a:effectLst/>
                        </a:rPr>
                        <a:t>MergeSortArray</a:t>
                      </a:r>
                    </a:p>
                  </a:txBody>
                  <a:tcPr marL="1634" marR="1634" marT="1089" marB="1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GB" sz="1000">
                          <a:effectLst/>
                        </a:rPr>
                        <a:t>String[]</a:t>
                      </a:r>
                    </a:p>
                  </a:txBody>
                  <a:tcPr marL="1634" marR="1634" marT="1089" marB="1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GB" sz="1000" dirty="0">
                          <a:effectLst/>
                        </a:rPr>
                        <a:t>Random</a:t>
                      </a:r>
                    </a:p>
                  </a:txBody>
                  <a:tcPr marL="1634" marR="1634" marT="1089" marB="1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GB" sz="1000">
                          <a:effectLst/>
                        </a:rPr>
                        <a:t>O(n log n)</a:t>
                      </a:r>
                    </a:p>
                  </a:txBody>
                  <a:tcPr marL="1634" marR="1634" marT="1089" marB="1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1414039"/>
                  </a:ext>
                </a:extLst>
              </a:tr>
              <a:tr h="185464">
                <a:tc>
                  <a:txBody>
                    <a:bodyPr/>
                    <a:lstStyle/>
                    <a:p>
                      <a:pPr rtl="0" fontAlgn="b"/>
                      <a:endParaRPr lang="zh-CN" altLang="en-US" sz="1000">
                        <a:effectLst/>
                      </a:endParaRPr>
                    </a:p>
                  </a:txBody>
                  <a:tcPr marL="1634" marR="1634" marT="1089" marB="1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GB" sz="1000">
                          <a:effectLst/>
                        </a:rPr>
                        <a:t>MergeSortArrayList</a:t>
                      </a:r>
                    </a:p>
                  </a:txBody>
                  <a:tcPr marL="1634" marR="1634" marT="1089" marB="1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GB" sz="1000">
                          <a:effectLst/>
                        </a:rPr>
                        <a:t>ArrayList&lt;String&gt;</a:t>
                      </a:r>
                    </a:p>
                  </a:txBody>
                  <a:tcPr marL="1634" marR="1634" marT="1089" marB="1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GB" sz="1000" dirty="0">
                          <a:effectLst/>
                        </a:rPr>
                        <a:t>Sorted</a:t>
                      </a:r>
                    </a:p>
                  </a:txBody>
                  <a:tcPr marL="1634" marR="1634" marT="1089" marB="1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GB" sz="1000">
                          <a:effectLst/>
                        </a:rPr>
                        <a:t>O(n log n)</a:t>
                      </a:r>
                    </a:p>
                  </a:txBody>
                  <a:tcPr marL="1634" marR="1634" marT="1089" marB="1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2691124"/>
                  </a:ext>
                </a:extLst>
              </a:tr>
              <a:tr h="185464">
                <a:tc>
                  <a:txBody>
                    <a:bodyPr/>
                    <a:lstStyle/>
                    <a:p>
                      <a:pPr rtl="0" fontAlgn="b"/>
                      <a:endParaRPr lang="zh-CN" altLang="en-US" sz="1000">
                        <a:effectLst/>
                      </a:endParaRPr>
                    </a:p>
                  </a:txBody>
                  <a:tcPr marL="1634" marR="1634" marT="1089" marB="1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GB" sz="1000">
                          <a:effectLst/>
                        </a:rPr>
                        <a:t>MergeSortArrayList</a:t>
                      </a:r>
                    </a:p>
                  </a:txBody>
                  <a:tcPr marL="1634" marR="1634" marT="1089" marB="1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GB" sz="1000">
                          <a:effectLst/>
                        </a:rPr>
                        <a:t>ArrayList&lt;String&gt;</a:t>
                      </a:r>
                    </a:p>
                  </a:txBody>
                  <a:tcPr marL="1634" marR="1634" marT="1089" marB="1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GB" sz="1000" dirty="0">
                          <a:effectLst/>
                        </a:rPr>
                        <a:t>Random</a:t>
                      </a:r>
                    </a:p>
                  </a:txBody>
                  <a:tcPr marL="1634" marR="1634" marT="1089" marB="1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GB" sz="1000" dirty="0">
                          <a:effectLst/>
                        </a:rPr>
                        <a:t>O(n log n)</a:t>
                      </a:r>
                    </a:p>
                  </a:txBody>
                  <a:tcPr marL="1634" marR="1634" marT="1089" marB="1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983418"/>
                  </a:ext>
                </a:extLst>
              </a:tr>
              <a:tr h="185464">
                <a:tc>
                  <a:txBody>
                    <a:bodyPr/>
                    <a:lstStyle/>
                    <a:p>
                      <a:pPr rtl="0" fontAlgn="b"/>
                      <a:endParaRPr lang="zh-CN" altLang="en-US" sz="1000">
                        <a:effectLst/>
                      </a:endParaRPr>
                    </a:p>
                  </a:txBody>
                  <a:tcPr marL="1634" marR="1634" marT="1089" marB="1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GB" sz="1000">
                          <a:effectLst/>
                        </a:rPr>
                        <a:t>MergeSortLinkedList</a:t>
                      </a:r>
                    </a:p>
                  </a:txBody>
                  <a:tcPr marL="1634" marR="1634" marT="1089" marB="1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GB" sz="1000">
                          <a:effectLst/>
                        </a:rPr>
                        <a:t>LinkedList&lt;String&gt;</a:t>
                      </a:r>
                    </a:p>
                  </a:txBody>
                  <a:tcPr marL="1634" marR="1634" marT="1089" marB="1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GB" sz="1000" dirty="0">
                          <a:effectLst/>
                        </a:rPr>
                        <a:t>Sorted</a:t>
                      </a:r>
                    </a:p>
                  </a:txBody>
                  <a:tcPr marL="1634" marR="1634" marT="1089" marB="1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GB" sz="1000">
                          <a:effectLst/>
                        </a:rPr>
                        <a:t>O(n log n)</a:t>
                      </a:r>
                    </a:p>
                  </a:txBody>
                  <a:tcPr marL="1634" marR="1634" marT="1089" marB="1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0612577"/>
                  </a:ext>
                </a:extLst>
              </a:tr>
              <a:tr h="185464">
                <a:tc>
                  <a:txBody>
                    <a:bodyPr/>
                    <a:lstStyle/>
                    <a:p>
                      <a:pPr rtl="0" fontAlgn="b"/>
                      <a:endParaRPr lang="zh-CN" altLang="en-US" sz="1000">
                        <a:effectLst/>
                      </a:endParaRPr>
                    </a:p>
                  </a:txBody>
                  <a:tcPr marL="1634" marR="1634" marT="1089" marB="1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GB" sz="1000">
                          <a:effectLst/>
                        </a:rPr>
                        <a:t>MergeSortLinkedList</a:t>
                      </a:r>
                    </a:p>
                  </a:txBody>
                  <a:tcPr marL="1634" marR="1634" marT="1089" marB="1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GB" sz="1000">
                          <a:effectLst/>
                        </a:rPr>
                        <a:t>LinkedList&lt;String&gt;</a:t>
                      </a:r>
                    </a:p>
                  </a:txBody>
                  <a:tcPr marL="1634" marR="1634" marT="1089" marB="1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GB" sz="1000" dirty="0">
                          <a:effectLst/>
                        </a:rPr>
                        <a:t>Random</a:t>
                      </a:r>
                    </a:p>
                  </a:txBody>
                  <a:tcPr marL="1634" marR="1634" marT="1089" marB="1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GB" sz="1000" dirty="0">
                          <a:effectLst/>
                        </a:rPr>
                        <a:t>O(n log n)</a:t>
                      </a:r>
                    </a:p>
                  </a:txBody>
                  <a:tcPr marL="1634" marR="1634" marT="1089" marB="10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9695056"/>
                  </a:ext>
                </a:extLst>
              </a:tr>
            </a:tbl>
          </a:graphicData>
        </a:graphic>
      </p:graphicFrame>
      <p:sp>
        <p:nvSpPr>
          <p:cNvPr id="6" name="Freeform 5">
            <a:extLst>
              <a:ext uri="{FF2B5EF4-FFF2-40B4-BE49-F238E27FC236}">
                <a16:creationId xmlns:a16="http://schemas.microsoft.com/office/drawing/2014/main" id="{BB72FC4D-DDF1-E954-69BD-F51252E857B3}"/>
              </a:ext>
            </a:extLst>
          </p:cNvPr>
          <p:cNvSpPr/>
          <p:nvPr/>
        </p:nvSpPr>
        <p:spPr>
          <a:xfrm>
            <a:off x="228600" y="495300"/>
            <a:ext cx="1524000" cy="1457826"/>
          </a:xfrm>
          <a:custGeom>
            <a:avLst/>
            <a:gdLst/>
            <a:ahLst/>
            <a:cxnLst/>
            <a:rect l="l" t="t" r="r" b="b"/>
            <a:pathLst>
              <a:path w="3493612" h="3493612">
                <a:moveTo>
                  <a:pt x="0" y="0"/>
                </a:moveTo>
                <a:lnTo>
                  <a:pt x="3493612" y="0"/>
                </a:lnTo>
                <a:lnTo>
                  <a:pt x="3493612" y="3493612"/>
                </a:lnTo>
                <a:lnTo>
                  <a:pt x="0" y="34936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0093CBB2-5900-5527-1422-5102E773C8EA}"/>
              </a:ext>
            </a:extLst>
          </p:cNvPr>
          <p:cNvSpPr txBox="1"/>
          <p:nvPr/>
        </p:nvSpPr>
        <p:spPr>
          <a:xfrm>
            <a:off x="1981200" y="1028700"/>
            <a:ext cx="4114800" cy="6622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530"/>
              </a:lnSpc>
            </a:pPr>
            <a:r>
              <a:rPr lang="en-US" sz="5808" dirty="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Appendix</a:t>
            </a:r>
          </a:p>
        </p:txBody>
      </p:sp>
    </p:spTree>
    <p:extLst>
      <p:ext uri="{BB962C8B-B14F-4D97-AF65-F5344CB8AC3E}">
        <p14:creationId xmlns:p14="http://schemas.microsoft.com/office/powerpoint/2010/main" val="12912383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橙色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2709</TotalTime>
  <Words>3712</Words>
  <Application>Microsoft Office PowerPoint</Application>
  <PresentationFormat>自定义</PresentationFormat>
  <Paragraphs>447</Paragraphs>
  <Slides>36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36</vt:i4>
      </vt:variant>
    </vt:vector>
  </HeadingPairs>
  <TitlesOfParts>
    <vt:vector size="47" baseType="lpstr">
      <vt:lpstr>Archivo Black</vt:lpstr>
      <vt:lpstr>Calibri</vt:lpstr>
      <vt:lpstr>DM Serif Text</vt:lpstr>
      <vt:lpstr>Times New Roman</vt:lpstr>
      <vt:lpstr>Garet</vt:lpstr>
      <vt:lpstr>微软雅黑</vt:lpstr>
      <vt:lpstr>等线</vt:lpstr>
      <vt:lpstr>Arial</vt:lpstr>
      <vt:lpstr>Garet Bold</vt:lpstr>
      <vt:lpstr>Wingdings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Beige and Black Minimalist Project Deck Presentation</dc:title>
  <cp:lastModifiedBy>ruiyang wu</cp:lastModifiedBy>
  <cp:revision>31</cp:revision>
  <dcterms:created xsi:type="dcterms:W3CDTF">2006-08-16T00:00:00Z</dcterms:created>
  <dcterms:modified xsi:type="dcterms:W3CDTF">2025-05-18T15:50:37Z</dcterms:modified>
  <dc:identifier>DAGnlUeVkdI</dc:identifier>
</cp:coreProperties>
</file>